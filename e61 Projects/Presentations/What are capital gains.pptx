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309" r:id="rId5"/>
    <p:sldId id="2147140457" r:id="rId6"/>
    <p:sldId id="2147140458" r:id="rId7"/>
    <p:sldId id="2147140459" r:id="rId8"/>
    <p:sldId id="2147140460" r:id="rId9"/>
    <p:sldId id="2147140461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309"/>
            <p14:sldId id="2147140457"/>
            <p14:sldId id="2147140458"/>
            <p14:sldId id="2147140459"/>
            <p14:sldId id="2147140460"/>
            <p14:sldId id="21471404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B11BB3D2-AFEC-847B-6D75-BD537A3954BD}" name="Matt" initials="M" userId="S::matt.nolan@ird.govt.nz::2249c379-4c9b-4d23-b773-ea1316f9866d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94"/>
  </p:normalViewPr>
  <p:slideViewPr>
    <p:cSldViewPr snapToGrid="0">
      <p:cViewPr varScale="1">
        <p:scale>
          <a:sx n="153" d="100"/>
          <a:sy n="153" d="100"/>
        </p:scale>
        <p:origin x="6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2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3970736"/>
            <a:ext cx="6884562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>
                    <a:lumMod val="95000"/>
                  </a:schemeClr>
                </a:solidFill>
                <a:latin typeface="GT Sectra Fine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pPr marL="0" lvl="0" indent="0" algn="l" defTabSz="9144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8" cy="530687"/>
          </a:xfrm>
        </p:spPr>
        <p:txBody>
          <a:bodyPr/>
          <a:lstStyle>
            <a:lvl1pPr marL="0" indent="0" algn="l" defTabSz="914411" rtl="0" eaLnBrk="1" latinLnBrk="0" hangingPunct="1">
              <a:spcAft>
                <a:spcPts val="0"/>
              </a:spcAft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(DD MMMM YYYY)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5A68FC7-26B5-D447-0F4F-4539456AF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1" y="4788067"/>
            <a:ext cx="1965317" cy="1298408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F6C5752-FCAA-86D8-96A8-435178EF8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092" y="5004444"/>
            <a:ext cx="4114800" cy="348141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dirty="0" smtClean="0">
                <a:solidFill>
                  <a:schemeClr val="tx1">
                    <a:lumMod val="95000"/>
                  </a:schemeClr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09148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720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4" progId="TCLayout.ActiveDocument.1">
                  <p:embed/>
                </p:oleObj>
              </mc:Choice>
              <mc:Fallback>
                <p:oleObj name="think-cell Slide" r:id="rId3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12" r:id="rId24"/>
    <p:sldLayoutId id="2147483707" r:id="rId25"/>
    <p:sldLayoutId id="2147483708" r:id="rId26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29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0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1.emf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1.emf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507B959-9E35-3EC1-53CB-968CEE0AEF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07B959-9E35-3EC1-53CB-968CEE0AE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6DFE691-484D-0A62-B4FF-81300FDD9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Capital gains tax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F4955A-2927-2A7F-F09E-0AAD319A9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 dirty="0"/>
              <a:t>13/01/2025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8EA512-8EB5-AB46-84BC-685DB8D24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/>
              <a:t>e61</a:t>
            </a:r>
          </a:p>
        </p:txBody>
      </p:sp>
    </p:spTree>
    <p:extLst>
      <p:ext uri="{BB962C8B-B14F-4D97-AF65-F5344CB8AC3E}">
        <p14:creationId xmlns:p14="http://schemas.microsoft.com/office/powerpoint/2010/main" val="153737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BF4F-F161-684A-63CF-20CD19ACA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0E001E93-A852-3916-0167-EDA7C34BA1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E1A66-3A73-AC35-44F6-1494C9F72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9070402A-001F-48B8-B11E-7ED12C21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capital gains tax?</a:t>
            </a: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0BA531D3-3B41-DAAD-2876-CBFE39318F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sp>
        <p:nvSpPr>
          <p:cNvPr id="28" name="SmartArt Placeholder 95">
            <a:extLst>
              <a:ext uri="{FF2B5EF4-FFF2-40B4-BE49-F238E27FC236}">
                <a16:creationId xmlns:a16="http://schemas.microsoft.com/office/drawing/2014/main" id="{542BDFEE-C22F-7C6C-6535-B59A019A225D}"/>
              </a:ext>
            </a:extLst>
          </p:cNvPr>
          <p:cNvSpPr txBox="1">
            <a:spLocks/>
          </p:cNvSpPr>
          <p:nvPr/>
        </p:nvSpPr>
        <p:spPr>
          <a:xfrm>
            <a:off x="4629150" y="2837395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9" name="SmartArt Placeholder 95">
            <a:extLst>
              <a:ext uri="{FF2B5EF4-FFF2-40B4-BE49-F238E27FC236}">
                <a16:creationId xmlns:a16="http://schemas.microsoft.com/office/drawing/2014/main" id="{14D0EEFB-D303-7C23-1CB3-81B097456C77}"/>
              </a:ext>
            </a:extLst>
          </p:cNvPr>
          <p:cNvSpPr txBox="1">
            <a:spLocks/>
          </p:cNvSpPr>
          <p:nvPr/>
        </p:nvSpPr>
        <p:spPr>
          <a:xfrm>
            <a:off x="4629150" y="3936769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1" name="SmartArt Placeholder 95">
            <a:extLst>
              <a:ext uri="{FF2B5EF4-FFF2-40B4-BE49-F238E27FC236}">
                <a16:creationId xmlns:a16="http://schemas.microsoft.com/office/drawing/2014/main" id="{16228EFB-5026-E3CC-8631-9366C6ECE5A5}"/>
              </a:ext>
            </a:extLst>
          </p:cNvPr>
          <p:cNvSpPr txBox="1">
            <a:spLocks/>
          </p:cNvSpPr>
          <p:nvPr/>
        </p:nvSpPr>
        <p:spPr>
          <a:xfrm>
            <a:off x="8297544" y="283679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2" name="SmartArt Placeholder 95">
            <a:extLst>
              <a:ext uri="{FF2B5EF4-FFF2-40B4-BE49-F238E27FC236}">
                <a16:creationId xmlns:a16="http://schemas.microsoft.com/office/drawing/2014/main" id="{77334F9F-05D5-3343-2D6A-50106ADD5511}"/>
              </a:ext>
            </a:extLst>
          </p:cNvPr>
          <p:cNvSpPr txBox="1">
            <a:spLocks/>
          </p:cNvSpPr>
          <p:nvPr/>
        </p:nvSpPr>
        <p:spPr>
          <a:xfrm>
            <a:off x="8297544" y="393676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3" name="SmartArt Placeholder 95">
            <a:extLst>
              <a:ext uri="{FF2B5EF4-FFF2-40B4-BE49-F238E27FC236}">
                <a16:creationId xmlns:a16="http://schemas.microsoft.com/office/drawing/2014/main" id="{A66AEF72-EBE8-0762-D822-FB813009619D}"/>
              </a:ext>
            </a:extLst>
          </p:cNvPr>
          <p:cNvSpPr txBox="1">
            <a:spLocks/>
          </p:cNvSpPr>
          <p:nvPr/>
        </p:nvSpPr>
        <p:spPr>
          <a:xfrm>
            <a:off x="8297544" y="5037080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19F17D9D-6E4D-9647-12C3-78D530F71B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4212837"/>
            <a:ext cx="306146" cy="3061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A84EED4-672B-0B6B-8CE6-6F0593B545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3113426"/>
            <a:ext cx="306146" cy="30614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53002B7-D127-F15D-EE65-A514ED2492B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5313148"/>
            <a:ext cx="306146" cy="30614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C1F3073-25ED-3EA7-3C1D-19F87F1E92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7D816DD4-8877-5457-74A3-A358682811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AC1796E5-0720-CB29-A180-FFF86A5871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3113426"/>
            <a:ext cx="306146" cy="30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9BD1AE-23AD-7547-E20F-6D1EC66C5A5B}"/>
              </a:ext>
            </a:extLst>
          </p:cNvPr>
          <p:cNvSpPr txBox="1"/>
          <p:nvPr/>
        </p:nvSpPr>
        <p:spPr>
          <a:xfrm>
            <a:off x="378797" y="1238706"/>
            <a:ext cx="10487436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 gains are part of income – as a result a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coherent 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of a “capital gains tax” is to view it as part of an income tax.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54ACF-2E1A-5E78-E549-156B40C6DAF4}"/>
              </a:ext>
            </a:extLst>
          </p:cNvPr>
          <p:cNvSpPr txBox="1"/>
          <p:nvPr/>
        </p:nvSpPr>
        <p:spPr>
          <a:xfrm>
            <a:off x="378797" y="2158878"/>
            <a:ext cx="10487436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 of a tax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To raise government revenue at the lowest cost – efficiency, equity, compliance, and administration. An “income tax” is one tool used to do this, based on a legal principle of what constitutes income and the Governments right to tax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730C3-ED92-4B17-FF4E-DF665A48FDD8}"/>
              </a:ext>
            </a:extLst>
          </p:cNvPr>
          <p:cNvSpPr txBox="1"/>
          <p:nvPr/>
        </p:nvSpPr>
        <p:spPr>
          <a:xfrm>
            <a:off x="329391" y="3375413"/>
            <a:ext cx="11366615" cy="216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Principle of coherence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tax system taxes a “dollar as a dollar” irrespective of how it is earned (comprehensive income tax).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Ramsey vs </a:t>
            </a:r>
            <a:r>
              <a:rPr lang="en-AU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Mirrlees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Atkinson-Stiglitz.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BBLR</a:t>
            </a:r>
            <a:r>
              <a:rPr lang="en-AU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Horizontal equity + concerns about income reclassification 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led to acceptance of this as the ideal. Atkinson-Stiglitz made this accepted wisdom.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revenue raising tools are legitimate but outside of the income tax (i.e. resource rent tax, land tax).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60190-BAA5-683E-20AB-42E8DD3F8362}"/>
              </a:ext>
            </a:extLst>
          </p:cNvPr>
          <p:cNvSpPr txBox="1"/>
          <p:nvPr/>
        </p:nvSpPr>
        <p:spPr>
          <a:xfrm>
            <a:off x="397597" y="5870324"/>
            <a:ext cx="609530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what is income?</a:t>
            </a:r>
          </a:p>
        </p:txBody>
      </p:sp>
    </p:spTree>
    <p:extLst>
      <p:ext uri="{BB962C8B-B14F-4D97-AF65-F5344CB8AC3E}">
        <p14:creationId xmlns:p14="http://schemas.microsoft.com/office/powerpoint/2010/main" val="98592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B637-7ABB-1F8A-90A6-FBFAFF78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379697B3-3272-08E6-E366-5D94D84885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0E001E93-A852-3916-0167-EDA7C34BA1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F8C5B-2134-5213-5C0B-FF3F136E1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788E83A3-A80F-B77F-CC31-48C3C72F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Concept of income</a:t>
            </a: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8292D237-F1B4-0FE6-50B2-5AD46AB56C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sp>
        <p:nvSpPr>
          <p:cNvPr id="28" name="SmartArt Placeholder 95">
            <a:extLst>
              <a:ext uri="{FF2B5EF4-FFF2-40B4-BE49-F238E27FC236}">
                <a16:creationId xmlns:a16="http://schemas.microsoft.com/office/drawing/2014/main" id="{D95B1EFD-ADF5-213A-B174-FEA014C201C2}"/>
              </a:ext>
            </a:extLst>
          </p:cNvPr>
          <p:cNvSpPr txBox="1">
            <a:spLocks/>
          </p:cNvSpPr>
          <p:nvPr/>
        </p:nvSpPr>
        <p:spPr>
          <a:xfrm>
            <a:off x="4629150" y="2837395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9" name="SmartArt Placeholder 95">
            <a:extLst>
              <a:ext uri="{FF2B5EF4-FFF2-40B4-BE49-F238E27FC236}">
                <a16:creationId xmlns:a16="http://schemas.microsoft.com/office/drawing/2014/main" id="{89231B12-EF84-5E54-C18C-F2108D85E2A9}"/>
              </a:ext>
            </a:extLst>
          </p:cNvPr>
          <p:cNvSpPr txBox="1">
            <a:spLocks/>
          </p:cNvSpPr>
          <p:nvPr/>
        </p:nvSpPr>
        <p:spPr>
          <a:xfrm>
            <a:off x="4629150" y="3936769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1" name="SmartArt Placeholder 95">
            <a:extLst>
              <a:ext uri="{FF2B5EF4-FFF2-40B4-BE49-F238E27FC236}">
                <a16:creationId xmlns:a16="http://schemas.microsoft.com/office/drawing/2014/main" id="{E1D0478B-190B-85E5-D06C-985CADCCFC85}"/>
              </a:ext>
            </a:extLst>
          </p:cNvPr>
          <p:cNvSpPr txBox="1">
            <a:spLocks/>
          </p:cNvSpPr>
          <p:nvPr/>
        </p:nvSpPr>
        <p:spPr>
          <a:xfrm>
            <a:off x="8297544" y="283679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2" name="SmartArt Placeholder 95">
            <a:extLst>
              <a:ext uri="{FF2B5EF4-FFF2-40B4-BE49-F238E27FC236}">
                <a16:creationId xmlns:a16="http://schemas.microsoft.com/office/drawing/2014/main" id="{11A24613-BA69-79B7-33C5-33DD6CB33836}"/>
              </a:ext>
            </a:extLst>
          </p:cNvPr>
          <p:cNvSpPr txBox="1">
            <a:spLocks/>
          </p:cNvSpPr>
          <p:nvPr/>
        </p:nvSpPr>
        <p:spPr>
          <a:xfrm>
            <a:off x="8297544" y="393676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3" name="SmartArt Placeholder 95">
            <a:extLst>
              <a:ext uri="{FF2B5EF4-FFF2-40B4-BE49-F238E27FC236}">
                <a16:creationId xmlns:a16="http://schemas.microsoft.com/office/drawing/2014/main" id="{6A70ECCC-FFC9-F1E8-8ED4-1F0D418B1191}"/>
              </a:ext>
            </a:extLst>
          </p:cNvPr>
          <p:cNvSpPr txBox="1">
            <a:spLocks/>
          </p:cNvSpPr>
          <p:nvPr/>
        </p:nvSpPr>
        <p:spPr>
          <a:xfrm>
            <a:off x="8297544" y="5037080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F2DCA8A9-05A4-1394-D2DA-691FB7DF22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4212837"/>
            <a:ext cx="306146" cy="3061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47CEB77-774A-4970-6738-7E1760D6D15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3113426"/>
            <a:ext cx="306146" cy="30614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71978A99-0C5E-0B04-1E1F-D8F742B68F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5313148"/>
            <a:ext cx="306146" cy="30614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E3740EE-5834-EB2F-DD26-6368CC9BD2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11E6ACBC-77AD-BD81-DD6E-6C52028B1B2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C1AD3CC6-7E3B-82D2-76D5-8DBCD28311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3113426"/>
            <a:ext cx="306146" cy="30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449476-32BF-8065-6C08-26A00418FF27}"/>
              </a:ext>
            </a:extLst>
          </p:cNvPr>
          <p:cNvSpPr txBox="1"/>
          <p:nvPr/>
        </p:nvSpPr>
        <p:spPr>
          <a:xfrm>
            <a:off x="378797" y="1182642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Economists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Haig-Simon – income is your real potential to consume in a period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85135F-183C-BB02-47DA-B36E67A0CA92}"/>
                  </a:ext>
                </a:extLst>
              </p:cNvPr>
              <p:cNvSpPr txBox="1"/>
              <p:nvPr/>
            </p:nvSpPr>
            <p:spPr>
              <a:xfrm>
                <a:off x="2944783" y="1781998"/>
                <a:ext cx="15284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+ ∆</m:t>
                      </m:r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𝑁𝑊</m:t>
                      </m:r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85135F-183C-BB02-47DA-B36E67A0C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783" y="1781998"/>
                <a:ext cx="1528432" cy="276999"/>
              </a:xfrm>
              <a:prstGeom prst="rect">
                <a:avLst/>
              </a:prstGeom>
              <a:blipFill>
                <a:blip r:embed="rId9"/>
                <a:stretch>
                  <a:fillRect l="-2390" r="-2390" b="-1087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E50F2EE-D8DD-8D45-866B-FDA21C3962FA}"/>
              </a:ext>
            </a:extLst>
          </p:cNvPr>
          <p:cNvSpPr txBox="1"/>
          <p:nvPr/>
        </p:nvSpPr>
        <p:spPr>
          <a:xfrm>
            <a:off x="378797" y="2871952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Accountants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Money Tree – income is fruit, assets are a 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870A2-E44C-EA9B-F5DD-4A327D1E9856}"/>
              </a:ext>
            </a:extLst>
          </p:cNvPr>
          <p:cNvSpPr txBox="1"/>
          <p:nvPr/>
        </p:nvSpPr>
        <p:spPr>
          <a:xfrm>
            <a:off x="370417" y="2299534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 gain is an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accrual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concept associated with a change in the value of initial assets in a period.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8488DC-BEF0-3823-D27B-2A5A0FB9F9A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0" y="3450865"/>
            <a:ext cx="1909157" cy="28637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0ADF8B-37F8-5769-DBDA-481021A3D420}"/>
              </a:ext>
            </a:extLst>
          </p:cNvPr>
          <p:cNvSpPr txBox="1"/>
          <p:nvPr/>
        </p:nvSpPr>
        <p:spPr>
          <a:xfrm>
            <a:off x="3894455" y="3488887"/>
            <a:ext cx="6205895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Gross cash income – capital gain is a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realisation concept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when someone sells the tree.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F1C55-BD02-989F-7D04-F87F98E73890}"/>
              </a:ext>
            </a:extLst>
          </p:cNvPr>
          <p:cNvSpPr txBox="1"/>
          <p:nvPr/>
        </p:nvSpPr>
        <p:spPr>
          <a:xfrm>
            <a:off x="3936019" y="4348403"/>
            <a:ext cx="6205895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Aguiar, Moll, and Scheuer (2024) found this concept was closer to our concept of welfare than the standard economist concept.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1DEC4-BD72-A89A-3DDC-B306E6BE9CB9}"/>
              </a:ext>
            </a:extLst>
          </p:cNvPr>
          <p:cNvSpPr txBox="1"/>
          <p:nvPr/>
        </p:nvSpPr>
        <p:spPr>
          <a:xfrm>
            <a:off x="3936018" y="5309501"/>
            <a:ext cx="6205895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Note: Capital gains are not income in a “national accounts” sense – as they involve a transfer of this tree without additional production. </a:t>
            </a:r>
          </a:p>
        </p:txBody>
      </p:sp>
    </p:spTree>
    <p:extLst>
      <p:ext uri="{BB962C8B-B14F-4D97-AF65-F5344CB8AC3E}">
        <p14:creationId xmlns:p14="http://schemas.microsoft.com/office/powerpoint/2010/main" val="401342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FD93-D0C3-A66F-9DF3-B24A6E75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91251579-A1F8-B6F2-62C9-1CF95B9FA8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379697B3-3272-08E6-E366-5D94D84885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860BC0-834F-A764-9BAF-803D527D4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8E9DD52A-496F-A2D0-272F-43E64CAC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97" y="343470"/>
            <a:ext cx="11459365" cy="700597"/>
          </a:xfrm>
        </p:spPr>
        <p:txBody>
          <a:bodyPr/>
          <a:lstStyle/>
          <a:p>
            <a:r>
              <a:rPr lang="en-AU" dirty="0"/>
              <a:t>So just tax capital gains like other income?</a:t>
            </a: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41C9211C-F456-BB02-C3A3-73F47B15EC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sp>
        <p:nvSpPr>
          <p:cNvPr id="28" name="SmartArt Placeholder 95">
            <a:extLst>
              <a:ext uri="{FF2B5EF4-FFF2-40B4-BE49-F238E27FC236}">
                <a16:creationId xmlns:a16="http://schemas.microsoft.com/office/drawing/2014/main" id="{5FEBE23A-A965-84E6-8AA8-CD4FDBA4BC19}"/>
              </a:ext>
            </a:extLst>
          </p:cNvPr>
          <p:cNvSpPr txBox="1">
            <a:spLocks/>
          </p:cNvSpPr>
          <p:nvPr/>
        </p:nvSpPr>
        <p:spPr>
          <a:xfrm>
            <a:off x="4629150" y="2837395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9" name="SmartArt Placeholder 95">
            <a:extLst>
              <a:ext uri="{FF2B5EF4-FFF2-40B4-BE49-F238E27FC236}">
                <a16:creationId xmlns:a16="http://schemas.microsoft.com/office/drawing/2014/main" id="{56F9574C-76D5-980B-2602-1C186045A610}"/>
              </a:ext>
            </a:extLst>
          </p:cNvPr>
          <p:cNvSpPr txBox="1">
            <a:spLocks/>
          </p:cNvSpPr>
          <p:nvPr/>
        </p:nvSpPr>
        <p:spPr>
          <a:xfrm>
            <a:off x="4629150" y="3936769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1" name="SmartArt Placeholder 95">
            <a:extLst>
              <a:ext uri="{FF2B5EF4-FFF2-40B4-BE49-F238E27FC236}">
                <a16:creationId xmlns:a16="http://schemas.microsoft.com/office/drawing/2014/main" id="{4782DC07-E26B-0617-AF57-C43468D5C7A6}"/>
              </a:ext>
            </a:extLst>
          </p:cNvPr>
          <p:cNvSpPr txBox="1">
            <a:spLocks/>
          </p:cNvSpPr>
          <p:nvPr/>
        </p:nvSpPr>
        <p:spPr>
          <a:xfrm>
            <a:off x="8297544" y="283679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2" name="SmartArt Placeholder 95">
            <a:extLst>
              <a:ext uri="{FF2B5EF4-FFF2-40B4-BE49-F238E27FC236}">
                <a16:creationId xmlns:a16="http://schemas.microsoft.com/office/drawing/2014/main" id="{871C903C-A92B-FE90-7686-AF4913C3C6B0}"/>
              </a:ext>
            </a:extLst>
          </p:cNvPr>
          <p:cNvSpPr txBox="1">
            <a:spLocks/>
          </p:cNvSpPr>
          <p:nvPr/>
        </p:nvSpPr>
        <p:spPr>
          <a:xfrm>
            <a:off x="8297544" y="393676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3" name="SmartArt Placeholder 95">
            <a:extLst>
              <a:ext uri="{FF2B5EF4-FFF2-40B4-BE49-F238E27FC236}">
                <a16:creationId xmlns:a16="http://schemas.microsoft.com/office/drawing/2014/main" id="{E0EDB608-E8A6-6C14-C5C8-7878E5BA1055}"/>
              </a:ext>
            </a:extLst>
          </p:cNvPr>
          <p:cNvSpPr txBox="1">
            <a:spLocks/>
          </p:cNvSpPr>
          <p:nvPr/>
        </p:nvSpPr>
        <p:spPr>
          <a:xfrm>
            <a:off x="8297544" y="5037080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FCC28610-A304-5AB5-EE15-2AF361F1E75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4212837"/>
            <a:ext cx="306146" cy="3061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DD0FEF6-7B42-786E-C2AC-EA342D9A56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3113426"/>
            <a:ext cx="306146" cy="30614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AFA896DB-4ED4-850B-9C9B-BCD509DC58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5313148"/>
            <a:ext cx="306146" cy="30614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C2D382F-3C52-94EA-41E8-6695806923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7C5901CD-31B8-EB09-7F3A-27FF33E4E25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FDBADB98-8D1B-367F-D280-25B2690984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3113426"/>
            <a:ext cx="306146" cy="30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4AD25B-D9C0-23BC-5D84-990E4B85954A}"/>
              </a:ext>
            </a:extLst>
          </p:cNvPr>
          <p:cNvSpPr txBox="1"/>
          <p:nvPr/>
        </p:nvSpPr>
        <p:spPr>
          <a:xfrm>
            <a:off x="378797" y="2512995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0E0DD-0AB5-318A-6DA4-C4F80745DE46}"/>
              </a:ext>
            </a:extLst>
          </p:cNvPr>
          <p:cNvSpPr txBox="1"/>
          <p:nvPr/>
        </p:nvSpPr>
        <p:spPr>
          <a:xfrm>
            <a:off x="378797" y="2917712"/>
            <a:ext cx="10487436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Taxing at accrual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this involves valuing the asset each year. Countries that do this use “deeming provisions” where you instead pay some % of your original cost base and then square up – but what happens if the cost base was zero, or the asset price rose quickly?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3BE8C-E377-0B5A-934F-4646AEE97B8E}"/>
              </a:ext>
            </a:extLst>
          </p:cNvPr>
          <p:cNvSpPr txBox="1"/>
          <p:nvPr/>
        </p:nvSpPr>
        <p:spPr>
          <a:xfrm>
            <a:off x="333077" y="3989262"/>
            <a:ext cx="10487436" cy="216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Taxing at realisation: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several years of holding an asset the price will go up due to inflation – is that income? No.</a:t>
            </a:r>
          </a:p>
          <a:p>
            <a:pPr marL="285750" marR="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progressive taxes, as a capital gain occurs all at once this leads to a higher tax rate than if it was taxed at accrual.</a:t>
            </a:r>
          </a:p>
          <a:p>
            <a:pPr marL="285750" marR="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 gains are savings – and the opportunity cost of these savings is the normal rate of return (inflation + time preference). Taxing this distorts savings-consumption choices.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C2C465-32B6-3F46-A2A0-D639224F1705}"/>
              </a:ext>
            </a:extLst>
          </p:cNvPr>
          <p:cNvSpPr txBox="1"/>
          <p:nvPr/>
        </p:nvSpPr>
        <p:spPr>
          <a:xfrm>
            <a:off x="378797" y="6296397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result, a lower tax rate can make sense.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D1EB15-37D7-FED3-B485-1407BAFC1F3A}"/>
              </a:ext>
            </a:extLst>
          </p:cNvPr>
          <p:cNvSpPr txBox="1"/>
          <p:nvPr/>
        </p:nvSpPr>
        <p:spPr>
          <a:xfrm>
            <a:off x="378797" y="747366"/>
            <a:ext cx="10487436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Rationales: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a way to consume and generate welfare, so forms part of </a:t>
            </a:r>
            <a:r>
              <a:rPr lang="en-AU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ability to pay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unanticipated it is a windfall and efficient to tax.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anti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cipated differential treatment will lead to biases in savings and investment.</a:t>
            </a:r>
            <a:endParaRPr lang="en-A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53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4A30C-E0B7-3239-C978-D119F174C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01FB8326-EE70-2BF4-E211-1E11DB6A12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91251579-A1F8-B6F2-62C9-1CF95B9FA8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7CE7E9-4291-C089-0745-B0C33A9E7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739444A6-A43D-81C3-ABD1-5FB9F86C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97" y="343470"/>
            <a:ext cx="11459365" cy="700597"/>
          </a:xfrm>
        </p:spPr>
        <p:txBody>
          <a:bodyPr/>
          <a:lstStyle/>
          <a:p>
            <a:r>
              <a:rPr lang="en-AU" dirty="0"/>
              <a:t>So just tax capital gains at a lower rate?</a:t>
            </a: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FC0063C0-4A49-9EEF-5F7F-D8573FAD31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sp>
        <p:nvSpPr>
          <p:cNvPr id="28" name="SmartArt Placeholder 95">
            <a:extLst>
              <a:ext uri="{FF2B5EF4-FFF2-40B4-BE49-F238E27FC236}">
                <a16:creationId xmlns:a16="http://schemas.microsoft.com/office/drawing/2014/main" id="{883C6A9E-BED7-FC91-D8DB-83B8D8209F73}"/>
              </a:ext>
            </a:extLst>
          </p:cNvPr>
          <p:cNvSpPr txBox="1">
            <a:spLocks/>
          </p:cNvSpPr>
          <p:nvPr/>
        </p:nvSpPr>
        <p:spPr>
          <a:xfrm>
            <a:off x="4629150" y="2837395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9" name="SmartArt Placeholder 95">
            <a:extLst>
              <a:ext uri="{FF2B5EF4-FFF2-40B4-BE49-F238E27FC236}">
                <a16:creationId xmlns:a16="http://schemas.microsoft.com/office/drawing/2014/main" id="{30E81DC0-94CF-F4EF-3BB3-DE77BA91903E}"/>
              </a:ext>
            </a:extLst>
          </p:cNvPr>
          <p:cNvSpPr txBox="1">
            <a:spLocks/>
          </p:cNvSpPr>
          <p:nvPr/>
        </p:nvSpPr>
        <p:spPr>
          <a:xfrm>
            <a:off x="4629150" y="3936769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1" name="SmartArt Placeholder 95">
            <a:extLst>
              <a:ext uri="{FF2B5EF4-FFF2-40B4-BE49-F238E27FC236}">
                <a16:creationId xmlns:a16="http://schemas.microsoft.com/office/drawing/2014/main" id="{76D25B58-B4E2-08E9-ABAB-57516FDE85DD}"/>
              </a:ext>
            </a:extLst>
          </p:cNvPr>
          <p:cNvSpPr txBox="1">
            <a:spLocks/>
          </p:cNvSpPr>
          <p:nvPr/>
        </p:nvSpPr>
        <p:spPr>
          <a:xfrm>
            <a:off x="8297544" y="283679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2" name="SmartArt Placeholder 95">
            <a:extLst>
              <a:ext uri="{FF2B5EF4-FFF2-40B4-BE49-F238E27FC236}">
                <a16:creationId xmlns:a16="http://schemas.microsoft.com/office/drawing/2014/main" id="{B4432260-EDD6-E90A-DE55-F3CE5FF158FC}"/>
              </a:ext>
            </a:extLst>
          </p:cNvPr>
          <p:cNvSpPr txBox="1">
            <a:spLocks/>
          </p:cNvSpPr>
          <p:nvPr/>
        </p:nvSpPr>
        <p:spPr>
          <a:xfrm>
            <a:off x="8297544" y="393676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3" name="SmartArt Placeholder 95">
            <a:extLst>
              <a:ext uri="{FF2B5EF4-FFF2-40B4-BE49-F238E27FC236}">
                <a16:creationId xmlns:a16="http://schemas.microsoft.com/office/drawing/2014/main" id="{74806F90-0C0C-1F2A-B96E-9E7E42058293}"/>
              </a:ext>
            </a:extLst>
          </p:cNvPr>
          <p:cNvSpPr txBox="1">
            <a:spLocks/>
          </p:cNvSpPr>
          <p:nvPr/>
        </p:nvSpPr>
        <p:spPr>
          <a:xfrm>
            <a:off x="8297544" y="5037080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9C9380B-CBC1-B22D-59C5-F6C70CC9F2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4212837"/>
            <a:ext cx="306146" cy="3061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8E30871-7876-E38A-AE41-DDC3F591DBE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3113426"/>
            <a:ext cx="306146" cy="30614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96DC69F4-46D9-C9AC-1A59-D982095212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5313148"/>
            <a:ext cx="306146" cy="30614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BFABA87-F2A1-7207-7C4C-3062A458B9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A22E31DE-5AFF-23B3-A3DE-BA01323771C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A1536E0A-5473-91F5-9CD2-157EBEF55F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3113426"/>
            <a:ext cx="306146" cy="30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AD426-02CF-5CF8-0FF8-48BD74F9BAC3}"/>
              </a:ext>
            </a:extLst>
          </p:cNvPr>
          <p:cNvSpPr txBox="1"/>
          <p:nvPr/>
        </p:nvSpPr>
        <p:spPr>
          <a:xfrm>
            <a:off x="378797" y="1003013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7DDB8-7942-1AAB-9E7D-5E1996CDB6B4}"/>
              </a:ext>
            </a:extLst>
          </p:cNvPr>
          <p:cNvSpPr txBox="1"/>
          <p:nvPr/>
        </p:nvSpPr>
        <p:spPr>
          <a:xfrm>
            <a:off x="378797" y="1549075"/>
            <a:ext cx="10487436" cy="266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 gains discount (current policy, and most of the suggestions):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Encourages people to reclassify othe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 income as capital gains.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Gives the same discount to high income individuals who don’t suffer from lumpiness at low income individuals.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Gives the same discount to all holding periods.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overtax assets with low real yields and </a:t>
            </a:r>
            <a:r>
              <a:rPr lang="en-AU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undertax</a:t>
            </a: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assets with high real yields.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Encourages excessive leverage.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F5CEA-0232-9A54-0798-F06BB94E25DF}"/>
              </a:ext>
            </a:extLst>
          </p:cNvPr>
          <p:cNvSpPr txBox="1"/>
          <p:nvPr/>
        </p:nvSpPr>
        <p:spPr>
          <a:xfrm>
            <a:off x="338971" y="4626394"/>
            <a:ext cx="10487436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Lots of other suggestions.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Dual income tax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Income averaging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 rate taxes with adjustments for the cost base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capital allowance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discount schedule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Disallowing negative gearing/interest expenses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847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E542-44A6-91ED-2636-FC35E203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12C029C3-413B-EBB6-814B-6B85CCFE3C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01FB8326-EE70-2BF4-E211-1E11DB6A1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81EA0-3F2A-A18E-A633-B21D2D5F8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21214A82-4D48-363D-8629-E571C84E0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97" y="343470"/>
            <a:ext cx="11459365" cy="700597"/>
          </a:xfrm>
        </p:spPr>
        <p:txBody>
          <a:bodyPr/>
          <a:lstStyle/>
          <a:p>
            <a:r>
              <a:rPr lang="en-AU" dirty="0"/>
              <a:t>Is this a way to fill a revenue hole?</a:t>
            </a: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96695459-DBBD-EEEF-0B07-54C5B3D84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sp>
        <p:nvSpPr>
          <p:cNvPr id="28" name="SmartArt Placeholder 95">
            <a:extLst>
              <a:ext uri="{FF2B5EF4-FFF2-40B4-BE49-F238E27FC236}">
                <a16:creationId xmlns:a16="http://schemas.microsoft.com/office/drawing/2014/main" id="{6DC79F81-EE64-93DE-7AAB-2B587D854A6B}"/>
              </a:ext>
            </a:extLst>
          </p:cNvPr>
          <p:cNvSpPr txBox="1">
            <a:spLocks/>
          </p:cNvSpPr>
          <p:nvPr/>
        </p:nvSpPr>
        <p:spPr>
          <a:xfrm>
            <a:off x="4629150" y="2837395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9" name="SmartArt Placeholder 95">
            <a:extLst>
              <a:ext uri="{FF2B5EF4-FFF2-40B4-BE49-F238E27FC236}">
                <a16:creationId xmlns:a16="http://schemas.microsoft.com/office/drawing/2014/main" id="{143741B7-3A54-DFD9-524F-0B5752E0F031}"/>
              </a:ext>
            </a:extLst>
          </p:cNvPr>
          <p:cNvSpPr txBox="1">
            <a:spLocks/>
          </p:cNvSpPr>
          <p:nvPr/>
        </p:nvSpPr>
        <p:spPr>
          <a:xfrm>
            <a:off x="4629150" y="3936769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1" name="SmartArt Placeholder 95">
            <a:extLst>
              <a:ext uri="{FF2B5EF4-FFF2-40B4-BE49-F238E27FC236}">
                <a16:creationId xmlns:a16="http://schemas.microsoft.com/office/drawing/2014/main" id="{13254D7A-AA38-E5E4-1932-F3BC1C3E7E4B}"/>
              </a:ext>
            </a:extLst>
          </p:cNvPr>
          <p:cNvSpPr txBox="1">
            <a:spLocks/>
          </p:cNvSpPr>
          <p:nvPr/>
        </p:nvSpPr>
        <p:spPr>
          <a:xfrm>
            <a:off x="8297544" y="283679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2" name="SmartArt Placeholder 95">
            <a:extLst>
              <a:ext uri="{FF2B5EF4-FFF2-40B4-BE49-F238E27FC236}">
                <a16:creationId xmlns:a16="http://schemas.microsoft.com/office/drawing/2014/main" id="{AE21F716-FC96-0770-BA94-30F836F20A4C}"/>
              </a:ext>
            </a:extLst>
          </p:cNvPr>
          <p:cNvSpPr txBox="1">
            <a:spLocks/>
          </p:cNvSpPr>
          <p:nvPr/>
        </p:nvSpPr>
        <p:spPr>
          <a:xfrm>
            <a:off x="8297544" y="393676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3" name="SmartArt Placeholder 95">
            <a:extLst>
              <a:ext uri="{FF2B5EF4-FFF2-40B4-BE49-F238E27FC236}">
                <a16:creationId xmlns:a16="http://schemas.microsoft.com/office/drawing/2014/main" id="{4EFEE3EA-5834-856D-9300-BF6C0D72F089}"/>
              </a:ext>
            </a:extLst>
          </p:cNvPr>
          <p:cNvSpPr txBox="1">
            <a:spLocks/>
          </p:cNvSpPr>
          <p:nvPr/>
        </p:nvSpPr>
        <p:spPr>
          <a:xfrm>
            <a:off x="8297544" y="5037080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E058EF6-AB2D-25CA-22C2-90111FFF50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4212837"/>
            <a:ext cx="306146" cy="3061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8963EE9-F91F-FFCC-52B1-41D445C35F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3113426"/>
            <a:ext cx="306146" cy="30614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798A1CD-25B9-B558-FA20-4E2829585C4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5313148"/>
            <a:ext cx="306146" cy="30614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BA92FACD-105D-85C3-ED84-31C9C64BD9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3263D462-EEAE-0446-D88F-3091016CED9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36BF7663-616E-98B4-FB99-95CF71EEC6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3113426"/>
            <a:ext cx="306146" cy="30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48C74D-08CE-996E-7865-76B2BFBF305D}"/>
              </a:ext>
            </a:extLst>
          </p:cNvPr>
          <p:cNvSpPr txBox="1"/>
          <p:nvPr/>
        </p:nvSpPr>
        <p:spPr>
          <a:xfrm>
            <a:off x="378797" y="867015"/>
            <a:ext cx="10487436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AC821-784B-4409-310C-66EFC6C3EB44}"/>
              </a:ext>
            </a:extLst>
          </p:cNvPr>
          <p:cNvSpPr txBox="1"/>
          <p:nvPr/>
        </p:nvSpPr>
        <p:spPr>
          <a:xfrm>
            <a:off x="378797" y="1359953"/>
            <a:ext cx="10487436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 net revenue will be small:</a:t>
            </a: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tax on capital gains is a tax on the “timing” of a flow of revenue. 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 system around 3% of PIT revenue (Wages and Salary are 75%).</a:t>
            </a:r>
            <a:endParaRPr lang="en-A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A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Making the taxation of other capital income consistent will exceed the revenue gain from CGT changes.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FF8C6B-1454-EF4A-7893-F1993B879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68" y="3870912"/>
            <a:ext cx="3859145" cy="210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00DAFD0-3AA3-B422-3F65-CDA230EFD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015" y="3797137"/>
            <a:ext cx="4269970" cy="232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48764D-9C4C-57C8-78C7-E24E16E68C8B}"/>
              </a:ext>
            </a:extLst>
          </p:cNvPr>
          <p:cNvSpPr txBox="1"/>
          <p:nvPr/>
        </p:nvSpPr>
        <p:spPr>
          <a:xfrm>
            <a:off x="6443176" y="3320084"/>
            <a:ext cx="442305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FY23 Revenue by entity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038F8-1479-A8E4-5815-B9803C4B122E}"/>
              </a:ext>
            </a:extLst>
          </p:cNvPr>
          <p:cNvSpPr txBox="1"/>
          <p:nvPr/>
        </p:nvSpPr>
        <p:spPr>
          <a:xfrm>
            <a:off x="927774" y="3429441"/>
            <a:ext cx="442305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Aft>
                <a:spcPts val="800"/>
              </a:spcAft>
            </a:pPr>
            <a:r>
              <a:rPr lang="en-AU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by taxpayer type</a:t>
            </a:r>
          </a:p>
        </p:txBody>
      </p:sp>
    </p:spTree>
    <p:extLst>
      <p:ext uri="{BB962C8B-B14F-4D97-AF65-F5344CB8AC3E}">
        <p14:creationId xmlns:p14="http://schemas.microsoft.com/office/powerpoint/2010/main" val="405010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61 general template.potx" id="{90061909-20C7-47C0-9BA3-1FCA4037CBDA}" vid="{47FE1831-D1E7-41D2-8A16-5B5B5DBA35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9" ma:contentTypeDescription="Create a new document." ma:contentTypeScope="" ma:versionID="a36d063c8eb047894120791759bbc902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c6f7ca54d7100feba0c176cc38564367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36B762-179B-48EA-90B2-E74079BA15DE}">
  <ds:schemaRefs>
    <ds:schemaRef ds:uri="d4025935-85eb-43e8-ab32-734675053e7f"/>
    <ds:schemaRef ds:uri="aa802c90-64f7-4260-a678-c5c09559402a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AB7FB4-6D47-4EC6-BF49-66E893D4B5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e61 general template (2)</Template>
  <TotalTime>1849</TotalTime>
  <Words>760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Cambria Math</vt:lpstr>
      <vt:lpstr>Graphik</vt:lpstr>
      <vt:lpstr>GT Sectra Fine</vt:lpstr>
      <vt:lpstr>Proxima Nova Rg</vt:lpstr>
      <vt:lpstr>System Font</vt:lpstr>
      <vt:lpstr>e61 slide master</vt:lpstr>
      <vt:lpstr>think-cell Slide</vt:lpstr>
      <vt:lpstr>Capital gains tax</vt:lpstr>
      <vt:lpstr>What is a capital gains tax?</vt:lpstr>
      <vt:lpstr>Concept of income</vt:lpstr>
      <vt:lpstr>So just tax capital gains like other income?</vt:lpstr>
      <vt:lpstr>So just tax capital gains at a lower rate?</vt:lpstr>
      <vt:lpstr>Is this a way to fill a revenue hole?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Nolan</dc:creator>
  <cp:lastModifiedBy>Matt</cp:lastModifiedBy>
  <cp:revision>50</cp:revision>
  <dcterms:created xsi:type="dcterms:W3CDTF">2025-11-17T22:22:05Z</dcterms:created>
  <dcterms:modified xsi:type="dcterms:W3CDTF">2026-02-12T07:46:27Z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