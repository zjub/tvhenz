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309" r:id="rId5"/>
    <p:sldId id="2147140457" r:id="rId6"/>
    <p:sldId id="2147140458" r:id="rId7"/>
    <p:sldId id="2147140459" r:id="rId8"/>
    <p:sldId id="2147140460" r:id="rId9"/>
    <p:sldId id="2147140461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BA906-B677-4ED9-B365-ED690E2CB720}">
          <p14:sldIdLst>
            <p14:sldId id="309"/>
            <p14:sldId id="2147140457"/>
            <p14:sldId id="2147140458"/>
            <p14:sldId id="2147140459"/>
            <p14:sldId id="2147140460"/>
            <p14:sldId id="214714046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212BB9-A5CF-D335-3301-776C81AF3ABE}" name="Lachlan Vass" initials="LV" userId="S::lachlan.vass@e61.in::3865f71c-c396-40c5-8390-2fc8d944de27" providerId="AD"/>
  <p188:author id="{B11BB3D2-AFEC-847B-6D75-BD537A3954BD}" name="Matt" initials="M" userId="S::matt.nolan@ird.govt.nz::2249c379-4c9b-4d23-b773-ea1316f9866d" providerId="AD"/>
  <p188:author id="{34CD6AE3-4402-C73C-3D6D-D595530990B9}" name="Jack Buckley" initials="JB" userId="S::jack.buckley@e61.in::28ddcf48-0b29-47ef-8181-0ce27c074e2e" providerId="AD"/>
  <p188:author id="{71CA22F3-774C-2056-8AF6-7BA1CB40250A}" name="Sinn, Joshua" initials="SJ" userId="S::joshua.sinn@accenture.com::611c4376-2cbd-4772-b570-fe288a3c2a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7AB"/>
    <a:srgbClr val="004F54"/>
    <a:srgbClr val="2061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94"/>
  </p:normalViewPr>
  <p:slideViewPr>
    <p:cSldViewPr snapToGrid="0">
      <p:cViewPr varScale="1">
        <p:scale>
          <a:sx n="59" d="100"/>
          <a:sy n="59" d="100"/>
        </p:scale>
        <p:origin x="9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gs" Target="tags/tag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9F452D-FA17-885C-CC89-0DC68658B2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9CDAA-6A69-3DFF-BE4E-6602CC25B0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87968-E7C3-4FA2-86D7-7CFDDCA2896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F01E9-DBAA-1EA2-4D9A-7E77B5DFA5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BB76F-B80E-EE0E-9F0D-2AC6378957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8A632-F1EE-40DC-8EB4-831F2F70E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771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6A7BE-E113-476D-8DE0-A6138461ACE1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F2214-1F6F-4D6B-854F-093941A8F6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1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3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3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3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3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3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3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3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835446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6630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9267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127911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0692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  <a:endParaRPr lang="en-AU" sz="1200" dirty="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82796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22514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26356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079992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8326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74581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38170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64627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40386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641323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181775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29954204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30912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768705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975366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CB03E8-089D-0ACD-1D05-C59964D50E2F}"/>
              </a:ext>
            </a:extLst>
          </p:cNvPr>
          <p:cNvSpPr/>
          <p:nvPr userDrawn="1"/>
        </p:nvSpPr>
        <p:spPr>
          <a:xfrm>
            <a:off x="0" y="35076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2143CB0-80E3-8AB0-053D-E52E19E92F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99" y="26127"/>
            <a:ext cx="1980000" cy="29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US" sz="1200" smtClean="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2pPr>
            <a:lvl3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3pPr>
            <a:lvl4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4pPr>
            <a:lvl5pPr>
              <a:defRPr lang="en-AU" sz="1800">
                <a:solidFill>
                  <a:schemeClr val="lt1"/>
                </a:solidFill>
                <a:ea typeface="+mn-ea"/>
                <a:cs typeface="+mn-cs"/>
              </a:defRPr>
            </a:lvl5pPr>
          </a:lstStyle>
          <a:p>
            <a:pPr lvl="0" defTabSz="914400" latinLnBrk="0"/>
            <a:r>
              <a:rPr lang="en-US"/>
              <a:t>Section name here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7668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26744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EF090DBB-DBAB-499B-B31E-9C5FEBA1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7693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1" imgH="381" progId="TCLayout.ActiveDocument.1">
                  <p:embed/>
                </p:oleObj>
              </mc:Choice>
              <mc:Fallback>
                <p:oleObj name="think-cell Slide" r:id="rId3" imgW="381" imgH="38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EF090DBB-DBAB-499B-B31E-9C5FEBA1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2AED96BB-361A-4F3E-A7CB-D1560FDE9F2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3CA51-1D19-4ADC-908F-13F64C03CB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7417" y="3925156"/>
            <a:ext cx="4698834" cy="1181862"/>
          </a:xfrm>
          <a:prstGeom prst="rect">
            <a:avLst/>
          </a:prstGeom>
        </p:spPr>
        <p:txBody>
          <a:bodyPr vert="horz" wrap="square" lIns="0" tIns="0" rIns="0" bIns="0" anchor="b">
            <a:spAutoFit/>
          </a:bodyPr>
          <a:lstStyle>
            <a:lvl1pPr algn="ctr"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FDB2B-16C1-4564-B415-DBBBCF0037B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811" y="1475802"/>
            <a:ext cx="2726046" cy="1953198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4C01ECE-843C-4618-8C3A-082A62CB3D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7417" y="5334153"/>
            <a:ext cx="4698834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6" indent="0">
              <a:buNone/>
              <a:defRPr/>
            </a:lvl2pPr>
            <a:lvl3pPr marL="914411" indent="0">
              <a:buNone/>
              <a:defRPr/>
            </a:lvl3pPr>
            <a:lvl4pPr marL="1371617" indent="0">
              <a:buNone/>
              <a:defRPr/>
            </a:lvl4pPr>
            <a:lvl5pPr marL="1828823" indent="0">
              <a:buNone/>
              <a:defRPr/>
            </a:lvl5pPr>
          </a:lstStyle>
          <a:p>
            <a:pPr lvl="0"/>
            <a:r>
              <a:rPr lang="en-US"/>
              <a:t>Event title – event date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F417C3A-BBD1-0EAC-6A37-12CE6587C5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6921666" cy="6858000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Insert image </a:t>
            </a:r>
          </a:p>
          <a:p>
            <a:r>
              <a:rPr lang="en-US"/>
              <a:t>(try: https://unsplash.com/)</a:t>
            </a:r>
          </a:p>
        </p:txBody>
      </p:sp>
    </p:spTree>
    <p:extLst>
      <p:ext uri="{BB962C8B-B14F-4D97-AF65-F5344CB8AC3E}">
        <p14:creationId xmlns:p14="http://schemas.microsoft.com/office/powerpoint/2010/main" val="22100435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9093" y="381001"/>
            <a:ext cx="7997522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49093" y="3970736"/>
            <a:ext cx="6884562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>
                    <a:lumMod val="95000"/>
                  </a:schemeClr>
                </a:solidFill>
                <a:latin typeface="GT Sectra Fine"/>
              </a:defRPr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pPr marL="0" lvl="0" indent="0" algn="l" defTabSz="91441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9093" y="5352585"/>
            <a:ext cx="4114798" cy="530687"/>
          </a:xfrm>
        </p:spPr>
        <p:txBody>
          <a:bodyPr/>
          <a:lstStyle>
            <a:lvl1pPr marL="0" indent="0" algn="l" defTabSz="914411" rtl="0" eaLnBrk="1" latinLnBrk="0" hangingPunct="1">
              <a:spcAft>
                <a:spcPts val="0"/>
              </a:spcAft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Date (DD MMMM YYYY)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E5A68FC7-26B5-D447-0F4F-4539456AF0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3521" y="4788067"/>
            <a:ext cx="1965317" cy="1298408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F6C5752-FCAA-86D8-96A8-435178EF85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9092" y="5004444"/>
            <a:ext cx="4114800" cy="348141"/>
          </a:xfrm>
          <a:prstGeom prst="rect">
            <a:avLst/>
          </a:prstGeom>
        </p:spPr>
        <p:txBody>
          <a:bodyPr/>
          <a:lstStyle>
            <a:lvl1pPr>
              <a:defRPr lang="en-US" sz="1600" b="0" i="0" kern="1200" spc="0" dirty="0" smtClean="0">
                <a:solidFill>
                  <a:schemeClr val="tx1">
                    <a:lumMod val="95000"/>
                  </a:schemeClr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Presenters</a:t>
            </a:r>
          </a:p>
        </p:txBody>
      </p:sp>
    </p:spTree>
    <p:extLst>
      <p:ext uri="{BB962C8B-B14F-4D97-AF65-F5344CB8AC3E}">
        <p14:creationId xmlns:p14="http://schemas.microsoft.com/office/powerpoint/2010/main" val="30914830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5ACBF0"/>
          </p15:clr>
        </p15:guide>
        <p15:guide id="2" orient="horz" pos="2520" userDrawn="1">
          <p15:clr>
            <a:srgbClr val="5ACBF0"/>
          </p15:clr>
        </p15:guide>
        <p15:guide id="3" pos="720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1001" y="2182000"/>
            <a:ext cx="3267012" cy="286957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bg2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1"/>
            </a:lvl2pPr>
            <a:lvl3pPr marL="228604">
              <a:buFont typeface="Arial" panose="020B0604020202020204" pitchFamily="34" charset="0"/>
              <a:buChar char="•"/>
              <a:defRPr sz="1801"/>
            </a:lvl3pPr>
            <a:lvl4pPr marL="457206">
              <a:buFont typeface="System Font"/>
              <a:buChar char="–"/>
              <a:defRPr sz="1600"/>
            </a:lvl4pPr>
            <a:lvl5pPr marL="685809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2" y="1371601"/>
            <a:ext cx="3267012" cy="810399"/>
          </a:xfrm>
          <a:prstGeom prst="rect">
            <a:avLst/>
          </a:prstGeo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3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3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3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3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3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3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3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3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84358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84358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84358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84358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284358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84358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84358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84358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>
            <a:cxnSpLocks/>
          </p:cNvCxnSpPr>
          <p:nvPr userDrawn="1"/>
        </p:nvCxnSpPr>
        <p:spPr>
          <a:xfrm>
            <a:off x="4045241" y="1371601"/>
            <a:ext cx="0" cy="33327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59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59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59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59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59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59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59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59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95094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195094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195094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195094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95094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195094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95094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195094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4">
              <a:spcAft>
                <a:spcPts val="1200"/>
              </a:spcAft>
            </a:pPr>
            <a:endParaRPr lang="en-US" sz="1801" noProof="0"/>
          </a:p>
        </p:txBody>
      </p:sp>
    </p:spTree>
    <p:extLst>
      <p:ext uri="{BB962C8B-B14F-4D97-AF65-F5344CB8AC3E}">
        <p14:creationId xmlns:p14="http://schemas.microsoft.com/office/powerpoint/2010/main" val="2758299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D8A76DE-ECA0-60F4-575C-02C4077408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9254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D8A76DE-ECA0-60F4-575C-02C4077408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B9E7BD-B7D1-FF01-F546-0CADB6C2F4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5550" y="2909333"/>
            <a:ext cx="9389031" cy="1039334"/>
          </a:xfrm>
          <a:prstGeom prst="rect">
            <a:avLst/>
          </a:prstGeom>
        </p:spPr>
        <p:txBody>
          <a:bodyPr anchor="ctr"/>
          <a:lstStyle>
            <a:lvl1pPr>
              <a:defRPr sz="3200" b="1"/>
            </a:lvl1pPr>
          </a:lstStyle>
          <a:p>
            <a:pPr lvl="0"/>
            <a:r>
              <a:rPr lang="en-US"/>
              <a:t>## - Place section title here in sentence case, max 2 lines </a:t>
            </a:r>
          </a:p>
        </p:txBody>
      </p:sp>
    </p:spTree>
    <p:extLst>
      <p:ext uri="{BB962C8B-B14F-4D97-AF65-F5344CB8AC3E}">
        <p14:creationId xmlns:p14="http://schemas.microsoft.com/office/powerpoint/2010/main" val="609445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Relationship Id="rId30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DBCE4D4F-8CCC-404C-840E-8A45E07645C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105608378"/>
              </p:ext>
            </p:extLst>
          </p:nvPr>
        </p:nvGraphicFramePr>
        <p:xfrm>
          <a:off x="1588" y="1587"/>
          <a:ext cx="1589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0" imgW="395" imgH="394" progId="TCLayout.ActiveDocument.1">
                  <p:embed/>
                </p:oleObj>
              </mc:Choice>
              <mc:Fallback>
                <p:oleObj name="think-cell Slide" r:id="rId30" imgW="395" imgH="394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DBCE4D4F-8CCC-404C-840E-8A45E07645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588" y="1587"/>
                        <a:ext cx="1589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DC4AAB9D-85C6-43AB-8696-D55AD6DDE24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0" y="1"/>
            <a:ext cx="158812" cy="158713"/>
          </a:xfrm>
          <a:prstGeom prst="rect">
            <a:avLst/>
          </a:prstGeom>
          <a:solidFill>
            <a:schemeClr val="accent2"/>
          </a:solidFill>
          <a:ln w="19050">
            <a:noFill/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3598" b="1" i="0" baseline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  <a:sym typeface="Graphik" panose="020B0503030202060203" pitchFamily="34" charset="0"/>
            </a:endParaRP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029236F-8D4F-46BA-A33A-11E2F113A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10946922" y="6401006"/>
            <a:ext cx="561476" cy="273402"/>
          </a:xfrm>
          <a:prstGeom prst="rect">
            <a:avLst/>
          </a:prstGeom>
        </p:spPr>
        <p:txBody>
          <a:bodyPr tIns="0" bIns="0" anchor="b"/>
          <a:lstStyle>
            <a:lvl1pPr algn="l">
              <a:defRPr sz="1001" b="0">
                <a:solidFill>
                  <a:schemeClr val="tx1"/>
                </a:solidFill>
                <a:latin typeface="+mj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37E62055-3E0F-4EBB-A962-F9600119E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5739" y="6402651"/>
            <a:ext cx="3733634" cy="270112"/>
          </a:xfrm>
          <a:prstGeom prst="rect">
            <a:avLst/>
          </a:prstGeom>
        </p:spPr>
        <p:txBody>
          <a:bodyPr tIns="0" bIns="0" anchor="ctr"/>
          <a:lstStyle>
            <a:lvl1pPr algn="l">
              <a:defRPr sz="800">
                <a:solidFill>
                  <a:schemeClr val="tx1">
                    <a:alpha val="50000"/>
                  </a:schemeClr>
                </a:solidFill>
                <a:latin typeface="+mn-lt"/>
              </a:defRPr>
            </a:lvl1pPr>
          </a:lstStyle>
          <a:p>
            <a:r>
              <a:rPr lang="en-GB"/>
              <a:t>Source: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A66CE9E3-35BA-4A0B-8098-8A65954FE472}"/>
              </a:ext>
            </a:extLst>
          </p:cNvPr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8897" y="6393635"/>
            <a:ext cx="350924" cy="2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8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1" r:id="rId3"/>
    <p:sldLayoutId id="2147483722" r:id="rId4"/>
    <p:sldLayoutId id="2147483726" r:id="rId5"/>
    <p:sldLayoutId id="2147483740" r:id="rId6"/>
    <p:sldLayoutId id="2147483725" r:id="rId7"/>
    <p:sldLayoutId id="2147483727" r:id="rId8"/>
    <p:sldLayoutId id="2147483728" r:id="rId9"/>
    <p:sldLayoutId id="2147483729" r:id="rId10"/>
    <p:sldLayoutId id="2147483730" r:id="rId11"/>
    <p:sldLayoutId id="2147483739" r:id="rId12"/>
    <p:sldLayoutId id="2147483735" r:id="rId13"/>
    <p:sldLayoutId id="2147483736" r:id="rId14"/>
    <p:sldLayoutId id="2147483737" r:id="rId15"/>
    <p:sldLayoutId id="2147483738" r:id="rId16"/>
    <p:sldLayoutId id="2147483731" r:id="rId17"/>
    <p:sldLayoutId id="2147483732" r:id="rId18"/>
    <p:sldLayoutId id="2147483733" r:id="rId19"/>
    <p:sldLayoutId id="2147483734" r:id="rId20"/>
    <p:sldLayoutId id="2147483710" r:id="rId21"/>
    <p:sldLayoutId id="2147483719" r:id="rId22"/>
    <p:sldLayoutId id="2147483706" r:id="rId23"/>
    <p:sldLayoutId id="2147483712" r:id="rId24"/>
    <p:sldLayoutId id="2147483707" r:id="rId25"/>
    <p:sldLayoutId id="2147483708" r:id="rId26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buFont typeface="Arial" charset="0"/>
        <a:defRPr lang="en-AU" sz="2800" b="1" i="0" kern="1200" cap="none" spc="-149" baseline="0" dirty="0" smtClean="0">
          <a:solidFill>
            <a:schemeClr val="tx1"/>
          </a:solidFill>
          <a:latin typeface="+mj-lt"/>
          <a:ea typeface="Roboto Black" panose="02000000000000000000" pitchFamily="2" charset="0"/>
          <a:cs typeface="Arial" panose="020B0604020202020204" pitchFamily="34" charset="0"/>
        </a:defRPr>
      </a:lvl1pPr>
      <a:lvl2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2pPr>
      <a:lvl3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3pPr>
      <a:lvl4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4pPr>
      <a:lvl5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5pPr>
      <a:lvl6pPr marL="609329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6pPr>
      <a:lvl7pPr marL="1218657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7pPr>
      <a:lvl8pPr marL="1827986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8pPr>
      <a:lvl9pPr marL="2437314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None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1pPr>
      <a:lvl2pPr marL="21596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2pPr>
      <a:lvl3pPr marL="43192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tabLst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3pPr>
      <a:lvl4pPr marL="611885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4pPr>
      <a:lvl5pPr marL="863838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5pPr>
      <a:lvl6pPr marL="335130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6pPr>
      <a:lvl7pPr marL="396063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7pPr>
      <a:lvl8pPr marL="4569963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79290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329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657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798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314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6643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5971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298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462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9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pos="7452" userDrawn="1">
          <p15:clr>
            <a:srgbClr val="F26B43"/>
          </p15:clr>
        </p15:guide>
        <p15:guide id="4" pos="1276" userDrawn="1">
          <p15:clr>
            <a:srgbClr val="F26B43"/>
          </p15:clr>
        </p15:guide>
        <p15:guide id="5" pos="1460" userDrawn="1">
          <p15:clr>
            <a:srgbClr val="F26B43"/>
          </p15:clr>
        </p15:guide>
        <p15:guide id="6" pos="2514" userDrawn="1">
          <p15:clr>
            <a:srgbClr val="F26B43"/>
          </p15:clr>
        </p15:guide>
        <p15:guide id="7" pos="2697" userDrawn="1">
          <p15:clr>
            <a:srgbClr val="F26B43"/>
          </p15:clr>
        </p15:guide>
        <p15:guide id="8" pos="3929" userDrawn="1">
          <p15:clr>
            <a:srgbClr val="F26B43"/>
          </p15:clr>
        </p15:guide>
        <p15:guide id="9" pos="3748" userDrawn="1">
          <p15:clr>
            <a:srgbClr val="F26B43"/>
          </p15:clr>
        </p15:guide>
        <p15:guide id="10" pos="4981" userDrawn="1">
          <p15:clr>
            <a:srgbClr val="F26B43"/>
          </p15:clr>
        </p15:guide>
        <p15:guide id="11" pos="5163" userDrawn="1">
          <p15:clr>
            <a:srgbClr val="F26B43"/>
          </p15:clr>
        </p15:guide>
        <p15:guide id="12" pos="6219" userDrawn="1">
          <p15:clr>
            <a:srgbClr val="F26B43"/>
          </p15:clr>
        </p15:guide>
        <p15:guide id="13" pos="6398" userDrawn="1">
          <p15:clr>
            <a:srgbClr val="F26B43"/>
          </p15:clr>
        </p15:guide>
        <p15:guide id="14" orient="horz" pos="807" userDrawn="1">
          <p15:clr>
            <a:srgbClr val="F26B43"/>
          </p15:clr>
        </p15:guide>
        <p15:guide id="15" orient="horz" pos="876" userDrawn="1">
          <p15:clr>
            <a:srgbClr val="F26B43"/>
          </p15:clr>
        </p15:guide>
        <p15:guide id="16" orient="horz" pos="4031" userDrawn="1">
          <p15:clr>
            <a:srgbClr val="F26B43"/>
          </p15:clr>
        </p15:guide>
        <p15:guide id="17" orient="horz" pos="597" userDrawn="1">
          <p15:clr>
            <a:srgbClr val="F26B43"/>
          </p15:clr>
        </p15:guide>
        <p15:guide id="18" orient="horz" pos="2435" userDrawn="1">
          <p15:clr>
            <a:srgbClr val="F26B43"/>
          </p15:clr>
        </p15:guide>
        <p15:guide id="19" orient="horz" pos="3756" userDrawn="1">
          <p15:clr>
            <a:srgbClr val="F26B43"/>
          </p15:clr>
        </p15:guide>
        <p15:guide id="20" orient="horz" pos="419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29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0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1.jpeg"/><Relationship Id="rId4" Type="http://schemas.openxmlformats.org/officeDocument/2006/relationships/image" Target="../media/image1.emf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3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1.emf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507B959-9E35-3EC1-53CB-968CEE0AEF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507B959-9E35-3EC1-53CB-968CEE0AEF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36DFE691-484D-0A62-B4FF-81300FDD9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Capital gains tax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7F4955A-2927-2A7F-F09E-0AAD319A9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AU" dirty="0"/>
              <a:t>13/01/2025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8EA512-8EB5-AB46-84BC-685DB8D243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AU" dirty="0"/>
              <a:t>e61</a:t>
            </a:r>
          </a:p>
        </p:txBody>
      </p:sp>
    </p:spTree>
    <p:extLst>
      <p:ext uri="{BB962C8B-B14F-4D97-AF65-F5344CB8AC3E}">
        <p14:creationId xmlns:p14="http://schemas.microsoft.com/office/powerpoint/2010/main" val="1537371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BF4F-F161-684A-63CF-20CD19AC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Object 51" hidden="1">
            <a:extLst>
              <a:ext uri="{FF2B5EF4-FFF2-40B4-BE49-F238E27FC236}">
                <a16:creationId xmlns:a16="http://schemas.microsoft.com/office/drawing/2014/main" id="{0E001E93-A852-3916-0167-EDA7C34BA14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52" name="Object 51" hidden="1">
                        <a:extLst>
                          <a:ext uri="{FF2B5EF4-FFF2-40B4-BE49-F238E27FC236}">
                            <a16:creationId xmlns:a16="http://schemas.microsoft.com/office/drawing/2014/main" id="{5412032F-C466-D159-520A-8C6EB0C27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7E1A66-3A73-AC35-44F6-1494C9F72B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9070402A-001F-48B8-B11E-7ED12C211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capital gains tax?</a:t>
            </a:r>
          </a:p>
        </p:txBody>
      </p:sp>
      <p:pic>
        <p:nvPicPr>
          <p:cNvPr id="22" name="Graphic 21" descr="Fast Forward with solid fill">
            <a:extLst>
              <a:ext uri="{FF2B5EF4-FFF2-40B4-BE49-F238E27FC236}">
                <a16:creationId xmlns:a16="http://schemas.microsoft.com/office/drawing/2014/main" id="{0BA531D3-3B41-DAAD-2876-CBFE39318F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7360" y="2384552"/>
            <a:ext cx="547819" cy="547819"/>
          </a:xfrm>
          <a:prstGeom prst="rect">
            <a:avLst/>
          </a:prstGeom>
        </p:spPr>
      </p:pic>
      <p:sp>
        <p:nvSpPr>
          <p:cNvPr id="28" name="SmartArt Placeholder 95">
            <a:extLst>
              <a:ext uri="{FF2B5EF4-FFF2-40B4-BE49-F238E27FC236}">
                <a16:creationId xmlns:a16="http://schemas.microsoft.com/office/drawing/2014/main" id="{542BDFEE-C22F-7C6C-6535-B59A019A225D}"/>
              </a:ext>
            </a:extLst>
          </p:cNvPr>
          <p:cNvSpPr txBox="1">
            <a:spLocks/>
          </p:cNvSpPr>
          <p:nvPr/>
        </p:nvSpPr>
        <p:spPr>
          <a:xfrm>
            <a:off x="4629150" y="2837395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29" name="SmartArt Placeholder 95">
            <a:extLst>
              <a:ext uri="{FF2B5EF4-FFF2-40B4-BE49-F238E27FC236}">
                <a16:creationId xmlns:a16="http://schemas.microsoft.com/office/drawing/2014/main" id="{14D0EEFB-D303-7C23-1CB3-81B097456C77}"/>
              </a:ext>
            </a:extLst>
          </p:cNvPr>
          <p:cNvSpPr txBox="1">
            <a:spLocks/>
          </p:cNvSpPr>
          <p:nvPr/>
        </p:nvSpPr>
        <p:spPr>
          <a:xfrm>
            <a:off x="4629150" y="3936769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31" name="SmartArt Placeholder 95">
            <a:extLst>
              <a:ext uri="{FF2B5EF4-FFF2-40B4-BE49-F238E27FC236}">
                <a16:creationId xmlns:a16="http://schemas.microsoft.com/office/drawing/2014/main" id="{16228EFB-5026-E3CC-8631-9366C6ECE5A5}"/>
              </a:ext>
            </a:extLst>
          </p:cNvPr>
          <p:cNvSpPr txBox="1">
            <a:spLocks/>
          </p:cNvSpPr>
          <p:nvPr/>
        </p:nvSpPr>
        <p:spPr>
          <a:xfrm>
            <a:off x="8297544" y="283679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2" name="SmartArt Placeholder 95">
            <a:extLst>
              <a:ext uri="{FF2B5EF4-FFF2-40B4-BE49-F238E27FC236}">
                <a16:creationId xmlns:a16="http://schemas.microsoft.com/office/drawing/2014/main" id="{77334F9F-05D5-3343-2D6A-50106ADD5511}"/>
              </a:ext>
            </a:extLst>
          </p:cNvPr>
          <p:cNvSpPr txBox="1">
            <a:spLocks/>
          </p:cNvSpPr>
          <p:nvPr/>
        </p:nvSpPr>
        <p:spPr>
          <a:xfrm>
            <a:off x="8297544" y="393676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3" name="SmartArt Placeholder 95">
            <a:extLst>
              <a:ext uri="{FF2B5EF4-FFF2-40B4-BE49-F238E27FC236}">
                <a16:creationId xmlns:a16="http://schemas.microsoft.com/office/drawing/2014/main" id="{A66AEF72-EBE8-0762-D822-FB813009619D}"/>
              </a:ext>
            </a:extLst>
          </p:cNvPr>
          <p:cNvSpPr txBox="1">
            <a:spLocks/>
          </p:cNvSpPr>
          <p:nvPr/>
        </p:nvSpPr>
        <p:spPr>
          <a:xfrm>
            <a:off x="8297544" y="5037080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19F17D9D-6E4D-9647-12C3-78D530F71B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4212837"/>
            <a:ext cx="306146" cy="306146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AA84EED4-672B-0B6B-8CE6-6F0593B5450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3113426"/>
            <a:ext cx="306146" cy="306146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353002B7-D127-F15D-EE65-A514ED2492B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5313148"/>
            <a:ext cx="306146" cy="306146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8C1F3073-25ED-3EA7-3C1D-19F87F1E92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5313148"/>
            <a:ext cx="306146" cy="306146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7D816DD4-8877-5457-74A3-A3586828111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4196016"/>
            <a:ext cx="306146" cy="306146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AC1796E5-0720-CB29-A180-FFF86A58713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3113426"/>
            <a:ext cx="306146" cy="306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9BD1AE-23AD-7547-E20F-6D1EC66C5A5B}"/>
              </a:ext>
            </a:extLst>
          </p:cNvPr>
          <p:cNvSpPr txBox="1"/>
          <p:nvPr/>
        </p:nvSpPr>
        <p:spPr>
          <a:xfrm>
            <a:off x="378797" y="1238706"/>
            <a:ext cx="10487436" cy="67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Capital gains are part of income – as a result a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coherent 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view of a “capital gains tax” is to view it as part of an income tax.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954ACF-2E1A-5E78-E549-156B40C6DAF4}"/>
              </a:ext>
            </a:extLst>
          </p:cNvPr>
          <p:cNvSpPr txBox="1"/>
          <p:nvPr/>
        </p:nvSpPr>
        <p:spPr>
          <a:xfrm>
            <a:off x="378797" y="2158878"/>
            <a:ext cx="10487436" cy="96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Objective of a tax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To raise government revenue at the lowest cost – efficiency, equity, compliance, and administration. An “income tax” is one tool used to do this, based on a legal principle of what constitutes income and the Governments right to tax it.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730C3-ED92-4B17-FF4E-DF665A48FDD8}"/>
              </a:ext>
            </a:extLst>
          </p:cNvPr>
          <p:cNvSpPr txBox="1"/>
          <p:nvPr/>
        </p:nvSpPr>
        <p:spPr>
          <a:xfrm>
            <a:off x="329391" y="3375413"/>
            <a:ext cx="11366615" cy="2165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Principle of coherence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A tax system taxes a “dollar as a dollar” irrespective of how it is earned (comprehensive income tax).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Ramsey vs </a:t>
            </a:r>
            <a:r>
              <a:rPr lang="en-AU" kern="1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Mirrlees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Atkinson-Stiglitz.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BBLR</a:t>
            </a:r>
            <a:r>
              <a:rPr lang="en-AU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Horizontal equity + concerns about income reclassification 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led to acceptance of this as the ideal. Atkinson-Stiglitz made this accepted wisdom.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Other revenue raising tools are legitimate but outside of the income tax (i.e. resource rent tax, land tax).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960190-BAA5-683E-20AB-42E8DD3F8362}"/>
              </a:ext>
            </a:extLst>
          </p:cNvPr>
          <p:cNvSpPr txBox="1"/>
          <p:nvPr/>
        </p:nvSpPr>
        <p:spPr>
          <a:xfrm>
            <a:off x="397597" y="5870324"/>
            <a:ext cx="609530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But what is income?</a:t>
            </a:r>
          </a:p>
        </p:txBody>
      </p:sp>
    </p:spTree>
    <p:extLst>
      <p:ext uri="{BB962C8B-B14F-4D97-AF65-F5344CB8AC3E}">
        <p14:creationId xmlns:p14="http://schemas.microsoft.com/office/powerpoint/2010/main" val="98592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B637-7ABB-1F8A-90A6-FBFAFF782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Object 51" hidden="1">
            <a:extLst>
              <a:ext uri="{FF2B5EF4-FFF2-40B4-BE49-F238E27FC236}">
                <a16:creationId xmlns:a16="http://schemas.microsoft.com/office/drawing/2014/main" id="{379697B3-3272-08E6-E366-5D94D848856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52" name="Object 51" hidden="1">
                        <a:extLst>
                          <a:ext uri="{FF2B5EF4-FFF2-40B4-BE49-F238E27FC236}">
                            <a16:creationId xmlns:a16="http://schemas.microsoft.com/office/drawing/2014/main" id="{0E001E93-A852-3916-0167-EDA7C34BA1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7F8C5B-2134-5213-5C0B-FF3F136E1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788E83A3-A80F-B77F-CC31-48C3C72F2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Concept of income</a:t>
            </a:r>
          </a:p>
        </p:txBody>
      </p:sp>
      <p:pic>
        <p:nvPicPr>
          <p:cNvPr id="22" name="Graphic 21" descr="Fast Forward with solid fill">
            <a:extLst>
              <a:ext uri="{FF2B5EF4-FFF2-40B4-BE49-F238E27FC236}">
                <a16:creationId xmlns:a16="http://schemas.microsoft.com/office/drawing/2014/main" id="{8292D237-F1B4-0FE6-50B2-5AD46AB56C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7360" y="2384552"/>
            <a:ext cx="547819" cy="547819"/>
          </a:xfrm>
          <a:prstGeom prst="rect">
            <a:avLst/>
          </a:prstGeom>
        </p:spPr>
      </p:pic>
      <p:sp>
        <p:nvSpPr>
          <p:cNvPr id="28" name="SmartArt Placeholder 95">
            <a:extLst>
              <a:ext uri="{FF2B5EF4-FFF2-40B4-BE49-F238E27FC236}">
                <a16:creationId xmlns:a16="http://schemas.microsoft.com/office/drawing/2014/main" id="{D95B1EFD-ADF5-213A-B174-FEA014C201C2}"/>
              </a:ext>
            </a:extLst>
          </p:cNvPr>
          <p:cNvSpPr txBox="1">
            <a:spLocks/>
          </p:cNvSpPr>
          <p:nvPr/>
        </p:nvSpPr>
        <p:spPr>
          <a:xfrm>
            <a:off x="4629150" y="2837395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29" name="SmartArt Placeholder 95">
            <a:extLst>
              <a:ext uri="{FF2B5EF4-FFF2-40B4-BE49-F238E27FC236}">
                <a16:creationId xmlns:a16="http://schemas.microsoft.com/office/drawing/2014/main" id="{89231B12-EF84-5E54-C18C-F2108D85E2A9}"/>
              </a:ext>
            </a:extLst>
          </p:cNvPr>
          <p:cNvSpPr txBox="1">
            <a:spLocks/>
          </p:cNvSpPr>
          <p:nvPr/>
        </p:nvSpPr>
        <p:spPr>
          <a:xfrm>
            <a:off x="4629150" y="3936769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31" name="SmartArt Placeholder 95">
            <a:extLst>
              <a:ext uri="{FF2B5EF4-FFF2-40B4-BE49-F238E27FC236}">
                <a16:creationId xmlns:a16="http://schemas.microsoft.com/office/drawing/2014/main" id="{E1D0478B-190B-85E5-D06C-985CADCCFC85}"/>
              </a:ext>
            </a:extLst>
          </p:cNvPr>
          <p:cNvSpPr txBox="1">
            <a:spLocks/>
          </p:cNvSpPr>
          <p:nvPr/>
        </p:nvSpPr>
        <p:spPr>
          <a:xfrm>
            <a:off x="8297544" y="283679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2" name="SmartArt Placeholder 95">
            <a:extLst>
              <a:ext uri="{FF2B5EF4-FFF2-40B4-BE49-F238E27FC236}">
                <a16:creationId xmlns:a16="http://schemas.microsoft.com/office/drawing/2014/main" id="{11A24613-BA69-79B7-33C5-33DD6CB33836}"/>
              </a:ext>
            </a:extLst>
          </p:cNvPr>
          <p:cNvSpPr txBox="1">
            <a:spLocks/>
          </p:cNvSpPr>
          <p:nvPr/>
        </p:nvSpPr>
        <p:spPr>
          <a:xfrm>
            <a:off x="8297544" y="393676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3" name="SmartArt Placeholder 95">
            <a:extLst>
              <a:ext uri="{FF2B5EF4-FFF2-40B4-BE49-F238E27FC236}">
                <a16:creationId xmlns:a16="http://schemas.microsoft.com/office/drawing/2014/main" id="{6A70ECCC-FFC9-F1E8-8ED4-1F0D418B1191}"/>
              </a:ext>
            </a:extLst>
          </p:cNvPr>
          <p:cNvSpPr txBox="1">
            <a:spLocks/>
          </p:cNvSpPr>
          <p:nvPr/>
        </p:nvSpPr>
        <p:spPr>
          <a:xfrm>
            <a:off x="8297544" y="5037080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F2DCA8A9-05A4-1394-D2DA-691FB7DF22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4212837"/>
            <a:ext cx="306146" cy="306146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E47CEB77-774A-4970-6738-7E1760D6D15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3113426"/>
            <a:ext cx="306146" cy="306146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71978A99-0C5E-0B04-1E1F-D8F742B68F3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5313148"/>
            <a:ext cx="306146" cy="306146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8E3740EE-5834-EB2F-DD26-6368CC9BD21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5313148"/>
            <a:ext cx="306146" cy="306146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11E6ACBC-77AD-BD81-DD6E-6C52028B1B2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4196016"/>
            <a:ext cx="306146" cy="306146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C1AD3CC6-7E3B-82D2-76D5-8DBCD28311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3113426"/>
            <a:ext cx="306146" cy="306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2449476-32BF-8065-6C08-26A00418FF27}"/>
              </a:ext>
            </a:extLst>
          </p:cNvPr>
          <p:cNvSpPr txBox="1"/>
          <p:nvPr/>
        </p:nvSpPr>
        <p:spPr>
          <a:xfrm>
            <a:off x="378797" y="1182642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Economists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Haig-Simon – income is your real potential to consume in a period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85135F-183C-BB02-47DA-B36E67A0CA92}"/>
                  </a:ext>
                </a:extLst>
              </p:cNvPr>
              <p:cNvSpPr txBox="1"/>
              <p:nvPr/>
            </p:nvSpPr>
            <p:spPr>
              <a:xfrm>
                <a:off x="2944783" y="1781998"/>
                <a:ext cx="15284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NZ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NZ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NZ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NZ" b="0" i="1" smtClean="0">
                          <a:latin typeface="Cambria Math" panose="02040503050406030204" pitchFamily="18" charset="0"/>
                        </a:rPr>
                        <m:t>+ ∆</m:t>
                      </m:r>
                      <m:r>
                        <a:rPr lang="en-NZ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𝑁𝑊</m:t>
                      </m:r>
                    </m:oMath>
                  </m:oMathPara>
                </a14:m>
                <a:endParaRPr lang="en-NZ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85135F-183C-BB02-47DA-B36E67A0C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783" y="1781998"/>
                <a:ext cx="1528432" cy="276999"/>
              </a:xfrm>
              <a:prstGeom prst="rect">
                <a:avLst/>
              </a:prstGeom>
              <a:blipFill>
                <a:blip r:embed="rId9"/>
                <a:stretch>
                  <a:fillRect l="-2390" r="-2390" b="-10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E50F2EE-D8DD-8D45-866B-FDA21C3962FA}"/>
              </a:ext>
            </a:extLst>
          </p:cNvPr>
          <p:cNvSpPr txBox="1"/>
          <p:nvPr/>
        </p:nvSpPr>
        <p:spPr>
          <a:xfrm>
            <a:off x="378797" y="2871952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Accountants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Money Tree – income is fruit, assets are a tree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6870A2-E44C-EA9B-F5DD-4A327D1E9856}"/>
              </a:ext>
            </a:extLst>
          </p:cNvPr>
          <p:cNvSpPr txBox="1"/>
          <p:nvPr/>
        </p:nvSpPr>
        <p:spPr>
          <a:xfrm>
            <a:off x="370417" y="2299534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Capital gain is an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accrual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concept associated with a change in the value of initial assets in a period.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8488DC-BEF0-3823-D27B-2A5A0FB9F9A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0" y="3450865"/>
            <a:ext cx="1909157" cy="2863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0ADF8B-37F8-5769-DBDA-481021A3D420}"/>
              </a:ext>
            </a:extLst>
          </p:cNvPr>
          <p:cNvSpPr txBox="1"/>
          <p:nvPr/>
        </p:nvSpPr>
        <p:spPr>
          <a:xfrm>
            <a:off x="3894455" y="3488887"/>
            <a:ext cx="6205895" cy="67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Gross cash income – capital gain is a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realisation concept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when someone sells the tree.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9F1C55-BD02-989F-7D04-F87F98E73890}"/>
              </a:ext>
            </a:extLst>
          </p:cNvPr>
          <p:cNvSpPr txBox="1"/>
          <p:nvPr/>
        </p:nvSpPr>
        <p:spPr>
          <a:xfrm>
            <a:off x="3936019" y="4348403"/>
            <a:ext cx="6205895" cy="96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Aguiar, Moll, and Scheuer (2024) found this concept (after treatin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 inflation as an expense)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was closer to our concept of welfare than the standard economist concept.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E1DEC4-BD72-A89A-3DDC-B306E6BE9CB9}"/>
              </a:ext>
            </a:extLst>
          </p:cNvPr>
          <p:cNvSpPr txBox="1"/>
          <p:nvPr/>
        </p:nvSpPr>
        <p:spPr>
          <a:xfrm>
            <a:off x="3936018" y="5462002"/>
            <a:ext cx="6205895" cy="96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Note: Capital gains are not income in a “national accounts” sense – as they involve a transfer of this tree without additional production. </a:t>
            </a:r>
          </a:p>
        </p:txBody>
      </p:sp>
    </p:spTree>
    <p:extLst>
      <p:ext uri="{BB962C8B-B14F-4D97-AF65-F5344CB8AC3E}">
        <p14:creationId xmlns:p14="http://schemas.microsoft.com/office/powerpoint/2010/main" val="4013427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8FD93-D0C3-A66F-9DF3-B24A6E75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Object 51" hidden="1">
            <a:extLst>
              <a:ext uri="{FF2B5EF4-FFF2-40B4-BE49-F238E27FC236}">
                <a16:creationId xmlns:a16="http://schemas.microsoft.com/office/drawing/2014/main" id="{91251579-A1F8-B6F2-62C9-1CF95B9FA8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52" name="Object 51" hidden="1">
                        <a:extLst>
                          <a:ext uri="{FF2B5EF4-FFF2-40B4-BE49-F238E27FC236}">
                            <a16:creationId xmlns:a16="http://schemas.microsoft.com/office/drawing/2014/main" id="{379697B3-3272-08E6-E366-5D94D84885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860BC0-834F-A764-9BAF-803D527D4D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8E9DD52A-496F-A2D0-272F-43E64CAC5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97" y="343470"/>
            <a:ext cx="11459365" cy="700597"/>
          </a:xfrm>
        </p:spPr>
        <p:txBody>
          <a:bodyPr/>
          <a:lstStyle/>
          <a:p>
            <a:r>
              <a:rPr lang="en-AU" dirty="0"/>
              <a:t>So just tax capital gains like other income?</a:t>
            </a:r>
          </a:p>
        </p:txBody>
      </p:sp>
      <p:pic>
        <p:nvPicPr>
          <p:cNvPr id="22" name="Graphic 21" descr="Fast Forward with solid fill">
            <a:extLst>
              <a:ext uri="{FF2B5EF4-FFF2-40B4-BE49-F238E27FC236}">
                <a16:creationId xmlns:a16="http://schemas.microsoft.com/office/drawing/2014/main" id="{41C9211C-F456-BB02-C3A3-73F47B15EC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7360" y="2384552"/>
            <a:ext cx="547819" cy="547819"/>
          </a:xfrm>
          <a:prstGeom prst="rect">
            <a:avLst/>
          </a:prstGeom>
        </p:spPr>
      </p:pic>
      <p:sp>
        <p:nvSpPr>
          <p:cNvPr id="28" name="SmartArt Placeholder 95">
            <a:extLst>
              <a:ext uri="{FF2B5EF4-FFF2-40B4-BE49-F238E27FC236}">
                <a16:creationId xmlns:a16="http://schemas.microsoft.com/office/drawing/2014/main" id="{5FEBE23A-A965-84E6-8AA8-CD4FDBA4BC19}"/>
              </a:ext>
            </a:extLst>
          </p:cNvPr>
          <p:cNvSpPr txBox="1">
            <a:spLocks/>
          </p:cNvSpPr>
          <p:nvPr/>
        </p:nvSpPr>
        <p:spPr>
          <a:xfrm>
            <a:off x="4629150" y="2837395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29" name="SmartArt Placeholder 95">
            <a:extLst>
              <a:ext uri="{FF2B5EF4-FFF2-40B4-BE49-F238E27FC236}">
                <a16:creationId xmlns:a16="http://schemas.microsoft.com/office/drawing/2014/main" id="{56F9574C-76D5-980B-2602-1C186045A610}"/>
              </a:ext>
            </a:extLst>
          </p:cNvPr>
          <p:cNvSpPr txBox="1">
            <a:spLocks/>
          </p:cNvSpPr>
          <p:nvPr/>
        </p:nvSpPr>
        <p:spPr>
          <a:xfrm>
            <a:off x="4629150" y="3936769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31" name="SmartArt Placeholder 95">
            <a:extLst>
              <a:ext uri="{FF2B5EF4-FFF2-40B4-BE49-F238E27FC236}">
                <a16:creationId xmlns:a16="http://schemas.microsoft.com/office/drawing/2014/main" id="{4782DC07-E26B-0617-AF57-C43468D5C7A6}"/>
              </a:ext>
            </a:extLst>
          </p:cNvPr>
          <p:cNvSpPr txBox="1">
            <a:spLocks/>
          </p:cNvSpPr>
          <p:nvPr/>
        </p:nvSpPr>
        <p:spPr>
          <a:xfrm>
            <a:off x="8297544" y="283679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2" name="SmartArt Placeholder 95">
            <a:extLst>
              <a:ext uri="{FF2B5EF4-FFF2-40B4-BE49-F238E27FC236}">
                <a16:creationId xmlns:a16="http://schemas.microsoft.com/office/drawing/2014/main" id="{871C903C-A92B-FE90-7686-AF4913C3C6B0}"/>
              </a:ext>
            </a:extLst>
          </p:cNvPr>
          <p:cNvSpPr txBox="1">
            <a:spLocks/>
          </p:cNvSpPr>
          <p:nvPr/>
        </p:nvSpPr>
        <p:spPr>
          <a:xfrm>
            <a:off x="8297544" y="393676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3" name="SmartArt Placeholder 95">
            <a:extLst>
              <a:ext uri="{FF2B5EF4-FFF2-40B4-BE49-F238E27FC236}">
                <a16:creationId xmlns:a16="http://schemas.microsoft.com/office/drawing/2014/main" id="{E0EDB608-E8A6-6C14-C5C8-7878E5BA1055}"/>
              </a:ext>
            </a:extLst>
          </p:cNvPr>
          <p:cNvSpPr txBox="1">
            <a:spLocks/>
          </p:cNvSpPr>
          <p:nvPr/>
        </p:nvSpPr>
        <p:spPr>
          <a:xfrm>
            <a:off x="8297544" y="5037080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FCC28610-A304-5AB5-EE15-2AF361F1E75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4212837"/>
            <a:ext cx="306146" cy="306146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7DD0FEF6-7B42-786E-C2AC-EA342D9A56F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3113426"/>
            <a:ext cx="306146" cy="306146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AFA896DB-4ED4-850B-9C9B-BCD509DC586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5313148"/>
            <a:ext cx="306146" cy="306146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DC2D382F-3C52-94EA-41E8-6695806923D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5313148"/>
            <a:ext cx="306146" cy="306146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7C5901CD-31B8-EB09-7F3A-27FF33E4E25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4196016"/>
            <a:ext cx="306146" cy="306146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FDBADB98-8D1B-367F-D280-25B26909846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3113426"/>
            <a:ext cx="306146" cy="306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4AD25B-D9C0-23BC-5D84-990E4B85954A}"/>
              </a:ext>
            </a:extLst>
          </p:cNvPr>
          <p:cNvSpPr txBox="1"/>
          <p:nvPr/>
        </p:nvSpPr>
        <p:spPr>
          <a:xfrm>
            <a:off x="378797" y="2512995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0E0DD-0AB5-318A-6DA4-C4F80745DE46}"/>
              </a:ext>
            </a:extLst>
          </p:cNvPr>
          <p:cNvSpPr txBox="1"/>
          <p:nvPr/>
        </p:nvSpPr>
        <p:spPr>
          <a:xfrm>
            <a:off x="378797" y="2917712"/>
            <a:ext cx="10487436" cy="96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Taxing at accrual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– this involves valuing the asset each year. Countries that do this use “deeming provisions” where you instead pay some % of your original cost base and then square up – but what happens if the cost base was zero, or the asset price rose quickly?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E3BE8C-E377-0B5A-934F-4646AEE97B8E}"/>
              </a:ext>
            </a:extLst>
          </p:cNvPr>
          <p:cNvSpPr txBox="1"/>
          <p:nvPr/>
        </p:nvSpPr>
        <p:spPr>
          <a:xfrm>
            <a:off x="333077" y="3989262"/>
            <a:ext cx="10487436" cy="2165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Taxing at realisation: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A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marR="0" lvl="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After several years of holding an asset the price will go up due to inflation – is that income? No.</a:t>
            </a:r>
          </a:p>
          <a:p>
            <a:pPr marL="285750" marR="0" lvl="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have progressive taxes, as a capital gain occurs all at once this leads to a higher tax rate than if it was taxed at accrual.</a:t>
            </a:r>
          </a:p>
          <a:p>
            <a:pPr marL="285750" marR="0" lvl="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Capital gains are savings – and the opportunity cost of these savings is the normal rate of return (inflation + time preference). Taxing this distorts savings-consumption choices.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C2C465-32B6-3F46-A2A0-D639224F1705}"/>
              </a:ext>
            </a:extLst>
          </p:cNvPr>
          <p:cNvSpPr txBox="1"/>
          <p:nvPr/>
        </p:nvSpPr>
        <p:spPr>
          <a:xfrm>
            <a:off x="378797" y="6296397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As a result, a lower tax rate can make sense.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D1EB15-37D7-FED3-B485-1407BAFC1F3A}"/>
              </a:ext>
            </a:extLst>
          </p:cNvPr>
          <p:cNvSpPr txBox="1"/>
          <p:nvPr/>
        </p:nvSpPr>
        <p:spPr>
          <a:xfrm>
            <a:off x="378797" y="747366"/>
            <a:ext cx="10487436" cy="1572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Rationales: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a way to consume and generate welfare, so forms part of </a:t>
            </a:r>
            <a:r>
              <a:rPr lang="en-AU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ability to pay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unanticipated it is a windfall and efficient to tax.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anti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cipated differential treatment will lead to biases in savings and investment.</a:t>
            </a:r>
            <a:endParaRPr lang="en-A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536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4A30C-E0B7-3239-C978-D119F174C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Object 51" hidden="1">
            <a:extLst>
              <a:ext uri="{FF2B5EF4-FFF2-40B4-BE49-F238E27FC236}">
                <a16:creationId xmlns:a16="http://schemas.microsoft.com/office/drawing/2014/main" id="{01FB8326-EE70-2BF4-E211-1E11DB6A122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52" name="Object 51" hidden="1">
                        <a:extLst>
                          <a:ext uri="{FF2B5EF4-FFF2-40B4-BE49-F238E27FC236}">
                            <a16:creationId xmlns:a16="http://schemas.microsoft.com/office/drawing/2014/main" id="{91251579-A1F8-B6F2-62C9-1CF95B9FA8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7CE7E9-4291-C089-0745-B0C33A9E7D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739444A6-A43D-81C3-ABD1-5FB9F86C8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97" y="343470"/>
            <a:ext cx="11459365" cy="700597"/>
          </a:xfrm>
        </p:spPr>
        <p:txBody>
          <a:bodyPr/>
          <a:lstStyle/>
          <a:p>
            <a:r>
              <a:rPr lang="en-AU" dirty="0"/>
              <a:t>So just tax capital gains at a lower rate?</a:t>
            </a:r>
          </a:p>
        </p:txBody>
      </p:sp>
      <p:pic>
        <p:nvPicPr>
          <p:cNvPr id="22" name="Graphic 21" descr="Fast Forward with solid fill">
            <a:extLst>
              <a:ext uri="{FF2B5EF4-FFF2-40B4-BE49-F238E27FC236}">
                <a16:creationId xmlns:a16="http://schemas.microsoft.com/office/drawing/2014/main" id="{FC0063C0-4A49-9EEF-5F7F-D8573FAD31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7360" y="2384552"/>
            <a:ext cx="547819" cy="547819"/>
          </a:xfrm>
          <a:prstGeom prst="rect">
            <a:avLst/>
          </a:prstGeom>
        </p:spPr>
      </p:pic>
      <p:sp>
        <p:nvSpPr>
          <p:cNvPr id="28" name="SmartArt Placeholder 95">
            <a:extLst>
              <a:ext uri="{FF2B5EF4-FFF2-40B4-BE49-F238E27FC236}">
                <a16:creationId xmlns:a16="http://schemas.microsoft.com/office/drawing/2014/main" id="{883C6A9E-BED7-FC91-D8DB-83B8D8209F73}"/>
              </a:ext>
            </a:extLst>
          </p:cNvPr>
          <p:cNvSpPr txBox="1">
            <a:spLocks/>
          </p:cNvSpPr>
          <p:nvPr/>
        </p:nvSpPr>
        <p:spPr>
          <a:xfrm>
            <a:off x="4629150" y="2837395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29" name="SmartArt Placeholder 95">
            <a:extLst>
              <a:ext uri="{FF2B5EF4-FFF2-40B4-BE49-F238E27FC236}">
                <a16:creationId xmlns:a16="http://schemas.microsoft.com/office/drawing/2014/main" id="{30E81DC0-94CF-F4EF-3BB3-DE77BA91903E}"/>
              </a:ext>
            </a:extLst>
          </p:cNvPr>
          <p:cNvSpPr txBox="1">
            <a:spLocks/>
          </p:cNvSpPr>
          <p:nvPr/>
        </p:nvSpPr>
        <p:spPr>
          <a:xfrm>
            <a:off x="4629150" y="3936769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31" name="SmartArt Placeholder 95">
            <a:extLst>
              <a:ext uri="{FF2B5EF4-FFF2-40B4-BE49-F238E27FC236}">
                <a16:creationId xmlns:a16="http://schemas.microsoft.com/office/drawing/2014/main" id="{76D25B58-B4E2-08E9-ABAB-57516FDE85DD}"/>
              </a:ext>
            </a:extLst>
          </p:cNvPr>
          <p:cNvSpPr txBox="1">
            <a:spLocks/>
          </p:cNvSpPr>
          <p:nvPr/>
        </p:nvSpPr>
        <p:spPr>
          <a:xfrm>
            <a:off x="8297544" y="283679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2" name="SmartArt Placeholder 95">
            <a:extLst>
              <a:ext uri="{FF2B5EF4-FFF2-40B4-BE49-F238E27FC236}">
                <a16:creationId xmlns:a16="http://schemas.microsoft.com/office/drawing/2014/main" id="{B4432260-EDD6-E90A-DE55-F3CE5FF158FC}"/>
              </a:ext>
            </a:extLst>
          </p:cNvPr>
          <p:cNvSpPr txBox="1">
            <a:spLocks/>
          </p:cNvSpPr>
          <p:nvPr/>
        </p:nvSpPr>
        <p:spPr>
          <a:xfrm>
            <a:off x="8297544" y="393676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3" name="SmartArt Placeholder 95">
            <a:extLst>
              <a:ext uri="{FF2B5EF4-FFF2-40B4-BE49-F238E27FC236}">
                <a16:creationId xmlns:a16="http://schemas.microsoft.com/office/drawing/2014/main" id="{74806F90-0C0C-1F2A-B96E-9E7E42058293}"/>
              </a:ext>
            </a:extLst>
          </p:cNvPr>
          <p:cNvSpPr txBox="1">
            <a:spLocks/>
          </p:cNvSpPr>
          <p:nvPr/>
        </p:nvSpPr>
        <p:spPr>
          <a:xfrm>
            <a:off x="8297544" y="5037080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49C9380B-CBC1-B22D-59C5-F6C70CC9F2F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4212837"/>
            <a:ext cx="306146" cy="306146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98E30871-7876-E38A-AE41-DDC3F591DBE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3113426"/>
            <a:ext cx="306146" cy="306146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DC69F4-46D9-C9AC-1A59-D9820952122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5313148"/>
            <a:ext cx="306146" cy="306146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6BFABA87-F2A1-7207-7C4C-3062A458B9C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5313148"/>
            <a:ext cx="306146" cy="306146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A22E31DE-5AFF-23B3-A3DE-BA01323771C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4196016"/>
            <a:ext cx="306146" cy="306146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A1536E0A-5473-91F5-9CD2-157EBEF55F7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3113426"/>
            <a:ext cx="306146" cy="306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AD426-02CF-5CF8-0FF8-48BD74F9BAC3}"/>
              </a:ext>
            </a:extLst>
          </p:cNvPr>
          <p:cNvSpPr txBox="1"/>
          <p:nvPr/>
        </p:nvSpPr>
        <p:spPr>
          <a:xfrm>
            <a:off x="378797" y="1003013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47DDB8-7942-1AAB-9E7D-5E1996CDB6B4}"/>
              </a:ext>
            </a:extLst>
          </p:cNvPr>
          <p:cNvSpPr txBox="1"/>
          <p:nvPr/>
        </p:nvSpPr>
        <p:spPr>
          <a:xfrm>
            <a:off x="378797" y="1549075"/>
            <a:ext cx="10487436" cy="2666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Capital gains discount (current policy, and most of the suggestions):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A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Encourages people to reclassify othe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 income as capital gains.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Gives the same discount to high income individuals who don’t suffer from lumpiness at low income individuals.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Gives the same discount to all holding periods.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Will overtax assets with low real yields and </a:t>
            </a:r>
            <a:r>
              <a:rPr lang="en-AU" kern="1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undertax</a:t>
            </a: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assets with high real yields.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Encourages excessive leverage.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2F5CEA-0232-9A54-0798-F06BB94E25DF}"/>
              </a:ext>
            </a:extLst>
          </p:cNvPr>
          <p:cNvSpPr txBox="1"/>
          <p:nvPr/>
        </p:nvSpPr>
        <p:spPr>
          <a:xfrm>
            <a:off x="338971" y="4626394"/>
            <a:ext cx="10487436" cy="67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Lots of other suggestions.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Dual income tax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Income averaging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Full rate taxes with adjustments for the cost base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capital allowance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discount schedule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Disallowing negative gearing/interest expenses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8474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8E542-44A6-91ED-2636-FC35E203D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Object 51" hidden="1">
            <a:extLst>
              <a:ext uri="{FF2B5EF4-FFF2-40B4-BE49-F238E27FC236}">
                <a16:creationId xmlns:a16="http://schemas.microsoft.com/office/drawing/2014/main" id="{12C029C3-413B-EBB6-814B-6B85CCFE3C4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52" name="Object 51" hidden="1">
                        <a:extLst>
                          <a:ext uri="{FF2B5EF4-FFF2-40B4-BE49-F238E27FC236}">
                            <a16:creationId xmlns:a16="http://schemas.microsoft.com/office/drawing/2014/main" id="{01FB8326-EE70-2BF4-E211-1E11DB6A122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281EA0-3F2A-A18E-A633-B21D2D5F87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21214A82-4D48-363D-8629-E571C84E0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97" y="343470"/>
            <a:ext cx="11459365" cy="700597"/>
          </a:xfrm>
        </p:spPr>
        <p:txBody>
          <a:bodyPr/>
          <a:lstStyle/>
          <a:p>
            <a:r>
              <a:rPr lang="en-AU" dirty="0"/>
              <a:t>Is this a way to fill a revenue hole?</a:t>
            </a:r>
          </a:p>
        </p:txBody>
      </p:sp>
      <p:pic>
        <p:nvPicPr>
          <p:cNvPr id="22" name="Graphic 21" descr="Fast Forward with solid fill">
            <a:extLst>
              <a:ext uri="{FF2B5EF4-FFF2-40B4-BE49-F238E27FC236}">
                <a16:creationId xmlns:a16="http://schemas.microsoft.com/office/drawing/2014/main" id="{96695459-DBBD-EEEF-0B07-54C5B3D84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7360" y="2384552"/>
            <a:ext cx="547819" cy="547819"/>
          </a:xfrm>
          <a:prstGeom prst="rect">
            <a:avLst/>
          </a:prstGeom>
        </p:spPr>
      </p:pic>
      <p:sp>
        <p:nvSpPr>
          <p:cNvPr id="28" name="SmartArt Placeholder 95">
            <a:extLst>
              <a:ext uri="{FF2B5EF4-FFF2-40B4-BE49-F238E27FC236}">
                <a16:creationId xmlns:a16="http://schemas.microsoft.com/office/drawing/2014/main" id="{6DC79F81-EE64-93DE-7AAB-2B587D854A6B}"/>
              </a:ext>
            </a:extLst>
          </p:cNvPr>
          <p:cNvSpPr txBox="1">
            <a:spLocks/>
          </p:cNvSpPr>
          <p:nvPr/>
        </p:nvSpPr>
        <p:spPr>
          <a:xfrm>
            <a:off x="4629150" y="2837395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29" name="SmartArt Placeholder 95">
            <a:extLst>
              <a:ext uri="{FF2B5EF4-FFF2-40B4-BE49-F238E27FC236}">
                <a16:creationId xmlns:a16="http://schemas.microsoft.com/office/drawing/2014/main" id="{143741B7-3A54-DFD9-524F-0B5752E0F031}"/>
              </a:ext>
            </a:extLst>
          </p:cNvPr>
          <p:cNvSpPr txBox="1">
            <a:spLocks/>
          </p:cNvSpPr>
          <p:nvPr/>
        </p:nvSpPr>
        <p:spPr>
          <a:xfrm>
            <a:off x="4629150" y="3936769"/>
            <a:ext cx="1123950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Lorem Ipsum</a:t>
            </a:r>
          </a:p>
        </p:txBody>
      </p:sp>
      <p:sp>
        <p:nvSpPr>
          <p:cNvPr id="31" name="SmartArt Placeholder 95">
            <a:extLst>
              <a:ext uri="{FF2B5EF4-FFF2-40B4-BE49-F238E27FC236}">
                <a16:creationId xmlns:a16="http://schemas.microsoft.com/office/drawing/2014/main" id="{13254D7A-AA38-E5E4-1932-F3BC1C3E7E4B}"/>
              </a:ext>
            </a:extLst>
          </p:cNvPr>
          <p:cNvSpPr txBox="1">
            <a:spLocks/>
          </p:cNvSpPr>
          <p:nvPr/>
        </p:nvSpPr>
        <p:spPr>
          <a:xfrm>
            <a:off x="8297544" y="283679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2" name="SmartArt Placeholder 95">
            <a:extLst>
              <a:ext uri="{FF2B5EF4-FFF2-40B4-BE49-F238E27FC236}">
                <a16:creationId xmlns:a16="http://schemas.microsoft.com/office/drawing/2014/main" id="{AE21F716-FC96-0770-BA94-30F836F20A4C}"/>
              </a:ext>
            </a:extLst>
          </p:cNvPr>
          <p:cNvSpPr txBox="1">
            <a:spLocks/>
          </p:cNvSpPr>
          <p:nvPr/>
        </p:nvSpPr>
        <p:spPr>
          <a:xfrm>
            <a:off x="8297544" y="3936769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sp>
        <p:nvSpPr>
          <p:cNvPr id="33" name="SmartArt Placeholder 95">
            <a:extLst>
              <a:ext uri="{FF2B5EF4-FFF2-40B4-BE49-F238E27FC236}">
                <a16:creationId xmlns:a16="http://schemas.microsoft.com/office/drawing/2014/main" id="{4EFEE3EA-5834-856D-9300-BF6C0D72F089}"/>
              </a:ext>
            </a:extLst>
          </p:cNvPr>
          <p:cNvSpPr txBox="1">
            <a:spLocks/>
          </p:cNvSpPr>
          <p:nvPr/>
        </p:nvSpPr>
        <p:spPr>
          <a:xfrm>
            <a:off x="8297544" y="5037080"/>
            <a:ext cx="1123948" cy="858837"/>
          </a:xfrm>
          <a:prstGeom prst="homePlate">
            <a:avLst>
              <a:gd name="adj" fmla="val 19911"/>
            </a:avLst>
          </a:prstGeom>
        </p:spPr>
        <p:txBody>
          <a:bodyPr anchor="ctr"/>
          <a:lstStyle>
            <a:lvl1pPr marL="0" indent="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None/>
              <a:defRPr kumimoji="0" lang="en-US" sz="1200" b="1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 Rg"/>
                <a:ea typeface="+mn-ea"/>
                <a:cs typeface="+mn-cs"/>
              </a:defRPr>
            </a:lvl1pPr>
            <a:lvl2pPr marL="21595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1914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1878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3827" indent="-215957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263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0584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90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9225" indent="-304662" algn="l" defTabSz="1218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AU"/>
              <a:t>Lorem Ipsum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4E058EF6-AB2D-25CA-22C2-90111FFF506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4212837"/>
            <a:ext cx="306146" cy="306146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D8963EE9-F91F-FFCC-52B1-41D445C35FD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3113426"/>
            <a:ext cx="306146" cy="306146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B798A1CD-25B9-B558-FA20-4E2829585C4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53473" y="5313148"/>
            <a:ext cx="306146" cy="306146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BA92FACD-105D-85C3-ED84-31C9C64BD97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5313148"/>
            <a:ext cx="306146" cy="306146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3263D462-EEAE-0446-D88F-3091016CED9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4196016"/>
            <a:ext cx="306146" cy="306146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36BF7663-616E-98B4-FB99-95CF71EEC69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85080" y="3113426"/>
            <a:ext cx="306146" cy="306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48C74D-08CE-996E-7865-76B2BFBF305D}"/>
              </a:ext>
            </a:extLst>
          </p:cNvPr>
          <p:cNvSpPr txBox="1"/>
          <p:nvPr/>
        </p:nvSpPr>
        <p:spPr>
          <a:xfrm>
            <a:off x="378797" y="867015"/>
            <a:ext cx="104874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1AC821-784B-4409-310C-66EFC6C3EB44}"/>
              </a:ext>
            </a:extLst>
          </p:cNvPr>
          <p:cNvSpPr txBox="1"/>
          <p:nvPr/>
        </p:nvSpPr>
        <p:spPr>
          <a:xfrm>
            <a:off x="378797" y="1359953"/>
            <a:ext cx="10487436" cy="1572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True net revenue will be small:</a:t>
            </a: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A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tax on capital gains is a tax on the “timing” of a flow of revenue. </a:t>
            </a: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Current system around 3% of PIT revenue (Wages and Salary are 75%).</a:t>
            </a:r>
            <a:endParaRPr lang="en-A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AU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Making the taxation of other capital income consistent will exceed the revenue gain from CGT changes.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7FF8C6B-1454-EF4A-7893-F1993B879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68" y="3870912"/>
            <a:ext cx="3859145" cy="2100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00DAFD0-3AA3-B422-3F65-CDA230EFD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015" y="3797137"/>
            <a:ext cx="4269970" cy="232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48764D-9C4C-57C8-78C7-E24E16E68C8B}"/>
              </a:ext>
            </a:extLst>
          </p:cNvPr>
          <p:cNvSpPr txBox="1"/>
          <p:nvPr/>
        </p:nvSpPr>
        <p:spPr>
          <a:xfrm>
            <a:off x="6443176" y="3320084"/>
            <a:ext cx="4423057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i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FY23 Revenue by entity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E038F8-1479-A8E4-5815-B9803C4B122E}"/>
              </a:ext>
            </a:extLst>
          </p:cNvPr>
          <p:cNvSpPr txBox="1"/>
          <p:nvPr/>
        </p:nvSpPr>
        <p:spPr>
          <a:xfrm>
            <a:off x="927774" y="3429441"/>
            <a:ext cx="4423057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Aft>
                <a:spcPts val="800"/>
              </a:spcAft>
            </a:pPr>
            <a:r>
              <a:rPr lang="en-AU" sz="1800" i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Revenue by taxpayer type</a:t>
            </a:r>
          </a:p>
        </p:txBody>
      </p:sp>
    </p:spTree>
    <p:extLst>
      <p:ext uri="{BB962C8B-B14F-4D97-AF65-F5344CB8AC3E}">
        <p14:creationId xmlns:p14="http://schemas.microsoft.com/office/powerpoint/2010/main" val="4050104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946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OJRKMSIZCicbhc4bAXGX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61 slide master">
  <a:themeElements>
    <a:clrScheme name="e61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F54"/>
      </a:accent1>
      <a:accent2>
        <a:srgbClr val="008080"/>
      </a:accent2>
      <a:accent3>
        <a:srgbClr val="33A7AB"/>
      </a:accent3>
      <a:accent4>
        <a:srgbClr val="FFA557"/>
      </a:accent4>
      <a:accent5>
        <a:srgbClr val="F88379"/>
      </a:accent5>
      <a:accent6>
        <a:srgbClr val="B40000"/>
      </a:accent6>
      <a:hlink>
        <a:srgbClr val="0563C1"/>
      </a:hlink>
      <a:folHlink>
        <a:srgbClr val="954F72"/>
      </a:folHlink>
    </a:clrScheme>
    <a:fontScheme name="Custom 2">
      <a:majorFont>
        <a:latin typeface="Proxima Nova Rg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19050">
          <a:noFill/>
          <a:prstDash val="sysDot"/>
          <a:headEnd type="none" w="med" len="med"/>
          <a:tailEnd type="none" w="med" len="med"/>
        </a:ln>
      </a:spPr>
      <a:bodyPr rtlCol="0" anchor="ctr"/>
      <a:lstStyle>
        <a:defPPr algn="ctr">
          <a:defRPr b="1" dirty="0" smtClean="0">
            <a:solidFill>
              <a:schemeClr val="bg1"/>
            </a:solidFill>
            <a:latin typeface="Graphik" panose="020B0503030202060203" pitchFamily="34" charset="77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9050">
          <a:solidFill>
            <a:schemeClr val="tx1"/>
          </a:solidFill>
          <a:prstDash val="solid"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e61 general template.potx" id="{90061909-20C7-47C0-9BA3-1FCA4037CBDA}" vid="{47FE1831-D1E7-41D2-8A16-5B5B5DBA35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4025935-85eb-43e8-ab32-734675053e7f" xsi:nil="true"/>
    <lcf76f155ced4ddcb4097134ff3c332f xmlns="aa802c90-64f7-4260-a678-c5c09559402a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38A1619F266734FBC2B48FB95398739" ma:contentTypeVersion="19" ma:contentTypeDescription="Create a new document." ma:contentTypeScope="" ma:versionID="a36d063c8eb047894120791759bbc902">
  <xsd:schema xmlns:xsd="http://www.w3.org/2001/XMLSchema" xmlns:xs="http://www.w3.org/2001/XMLSchema" xmlns:p="http://schemas.microsoft.com/office/2006/metadata/properties" xmlns:ns2="aa802c90-64f7-4260-a678-c5c09559402a" xmlns:ns3="d4025935-85eb-43e8-ab32-734675053e7f" targetNamespace="http://schemas.microsoft.com/office/2006/metadata/properties" ma:root="true" ma:fieldsID="c6f7ca54d7100feba0c176cc38564367" ns2:_="" ns3:_="">
    <xsd:import namespace="aa802c90-64f7-4260-a678-c5c09559402a"/>
    <xsd:import namespace="d4025935-85eb-43e8-ab32-734675053e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802c90-64f7-4260-a678-c5c0955940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bce0e04-9c7f-4626-8cb4-29f8b9ace21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025935-85eb-43e8-ab32-734675053e7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bd7d9116-efc1-484d-8b57-8af332a5bfd6}" ma:internalName="TaxCatchAll" ma:showField="CatchAllData" ma:web="d4025935-85eb-43e8-ab32-734675053e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9E81E1-445C-4E91-8E35-C5BD736A3B7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36B762-179B-48EA-90B2-E74079BA15DE}">
  <ds:schemaRefs>
    <ds:schemaRef ds:uri="d4025935-85eb-43e8-ab32-734675053e7f"/>
    <ds:schemaRef ds:uri="aa802c90-64f7-4260-a678-c5c09559402a"/>
    <ds:schemaRef ds:uri="http://www.w3.org/XML/1998/namespace"/>
    <ds:schemaRef ds:uri="http://schemas.microsoft.com/office/infopath/2007/PartnerControls"/>
    <ds:schemaRef ds:uri="http://purl.org/dc/terms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7AB7FB4-6D47-4EC6-BF49-66E893D4B5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802c90-64f7-4260-a678-c5c09559402a"/>
    <ds:schemaRef ds:uri="d4025935-85eb-43e8-ab32-734675053e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e61 general template (2)</Template>
  <TotalTime>1849</TotalTime>
  <Words>768</Words>
  <Application>Microsoft Office PowerPoint</Application>
  <PresentationFormat>Widescreen</PresentationFormat>
  <Paragraphs>78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Calibri</vt:lpstr>
      <vt:lpstr>Cambria Math</vt:lpstr>
      <vt:lpstr>Graphik</vt:lpstr>
      <vt:lpstr>GT Sectra Fine</vt:lpstr>
      <vt:lpstr>Proxima Nova Rg</vt:lpstr>
      <vt:lpstr>System Font</vt:lpstr>
      <vt:lpstr>e61 slide master</vt:lpstr>
      <vt:lpstr>think-cell Slide</vt:lpstr>
      <vt:lpstr>Capital gains tax</vt:lpstr>
      <vt:lpstr>What is a capital gains tax?</vt:lpstr>
      <vt:lpstr>Concept of income</vt:lpstr>
      <vt:lpstr>So just tax capital gains like other income?</vt:lpstr>
      <vt:lpstr>So just tax capital gains at a lower rate?</vt:lpstr>
      <vt:lpstr>Is this a way to fill a revenue hole?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Nolan</dc:creator>
  <cp:lastModifiedBy>Matt Nolan</cp:lastModifiedBy>
  <cp:revision>51</cp:revision>
  <dcterms:created xsi:type="dcterms:W3CDTF">2025-11-17T22:22:05Z</dcterms:created>
  <dcterms:modified xsi:type="dcterms:W3CDTF">2026-02-12T22:04:20Z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0x010100E38A1619F266734FBC2B48FB95398739</vt:lpwstr>
  </property>
  <property fmtid="{D5CDD505-2E9C-101B-9397-08002B2CF9AE}" pid="3" name="MediaServiceImageTags">
    <vt:lpwstr/>
  </property>
</Properties>
</file>