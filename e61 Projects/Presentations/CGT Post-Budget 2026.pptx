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309" r:id="rId5"/>
    <p:sldId id="2147140428" r:id="rId6"/>
    <p:sldId id="2147140436" r:id="rId7"/>
    <p:sldId id="2147140429" r:id="rId8"/>
    <p:sldId id="2147140434" r:id="rId9"/>
    <p:sldId id="2147140437" r:id="rId10"/>
    <p:sldId id="2147140433" r:id="rId11"/>
    <p:sldId id="2147140435" r:id="rId12"/>
    <p:sldId id="2147140432" r:id="rId13"/>
    <p:sldId id="2147140431" r:id="rId14"/>
    <p:sldId id="2147140439" r:id="rId15"/>
    <p:sldId id="2147140438" r:id="rId16"/>
    <p:sldId id="2147140440" r:id="rId17"/>
    <p:sldId id="2147140441" r:id="rId18"/>
    <p:sldId id="2147140442" r:id="rId19"/>
    <p:sldId id="2147140444" r:id="rId20"/>
    <p:sldId id="2147140443" r:id="rId21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309"/>
            <p14:sldId id="2147140428"/>
            <p14:sldId id="2147140436"/>
            <p14:sldId id="2147140429"/>
            <p14:sldId id="2147140434"/>
            <p14:sldId id="2147140437"/>
            <p14:sldId id="2147140433"/>
            <p14:sldId id="2147140435"/>
            <p14:sldId id="2147140432"/>
            <p14:sldId id="2147140431"/>
            <p14:sldId id="2147140439"/>
            <p14:sldId id="2147140438"/>
            <p14:sldId id="2147140440"/>
            <p14:sldId id="2147140441"/>
            <p14:sldId id="2147140442"/>
            <p14:sldId id="2147140444"/>
            <p14:sldId id="214714044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56"/>
  </p:normalViewPr>
  <p:slideViewPr>
    <p:cSldViewPr snapToGrid="0">
      <p:cViewPr varScale="1">
        <p:scale>
          <a:sx n="85" d="100"/>
          <a:sy n="85" d="100"/>
        </p:scale>
        <p:origin x="64" y="1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2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3970736"/>
            <a:ext cx="6884562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>
                    <a:lumMod val="95000"/>
                  </a:schemeClr>
                </a:solidFill>
                <a:latin typeface="GT Sectra Fine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pPr marL="0" lvl="0" indent="0" algn="l" defTabSz="9144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8" cy="530687"/>
          </a:xfrm>
        </p:spPr>
        <p:txBody>
          <a:bodyPr/>
          <a:lstStyle>
            <a:lvl1pPr marL="0" indent="0" algn="l" defTabSz="914411" rtl="0" eaLnBrk="1" latinLnBrk="0" hangingPunct="1">
              <a:spcAft>
                <a:spcPts val="0"/>
              </a:spcAft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(DD MMMM YYYY)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5A68FC7-26B5-D447-0F4F-4539456AF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1" y="4788067"/>
            <a:ext cx="1965317" cy="1298408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F6C5752-FCAA-86D8-96A8-435178EF85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092" y="5004444"/>
            <a:ext cx="4114800" cy="348141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dirty="0" smtClean="0">
                <a:solidFill>
                  <a:schemeClr val="tx1">
                    <a:lumMod val="95000"/>
                  </a:schemeClr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309148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720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395" imgH="394" progId="TCLayout.ActiveDocument.1">
                  <p:embed/>
                </p:oleObj>
              </mc:Choice>
              <mc:Fallback>
                <p:oleObj name="think-cell Slide" r:id="rId3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12" r:id="rId24"/>
    <p:sldLayoutId id="2147483707" r:id="rId25"/>
    <p:sldLayoutId id="2147483708" r:id="rId26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9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0.xml"/><Relationship Id="rId6" Type="http://schemas.openxmlformats.org/officeDocument/2006/relationships/hyperlink" Target="https://e61.in/same-amount-different-tax-capital-income-tax-calculator/" TargetMode="External"/><Relationship Id="rId5" Type="http://schemas.openxmlformats.org/officeDocument/2006/relationships/hyperlink" Target="https://e61.in/e61-capital-income-tax-calculator/" TargetMode="Externa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3.xml"/><Relationship Id="rId6" Type="http://schemas.openxmlformats.org/officeDocument/2006/relationships/image" Target="../media/image12.png"/><Relationship Id="rId5" Type="http://schemas.openxmlformats.org/officeDocument/2006/relationships/hyperlink" Target="https://e61.in/housing-leverage-and-the-capital-gains-tax-discount/" TargetMode="Externa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4.xml"/><Relationship Id="rId6" Type="http://schemas.openxmlformats.org/officeDocument/2006/relationships/image" Target="../media/image14.png"/><Relationship Id="rId5" Type="http://schemas.openxmlformats.org/officeDocument/2006/relationships/hyperlink" Target="https://e61.in/submission-to-the-senate-select-committee-on-the-operation-of-the-capital-gains-tax-discount/" TargetMode="Externa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5.xml"/><Relationship Id="rId6" Type="http://schemas.openxmlformats.org/officeDocument/2006/relationships/hyperlink" Target="https://e61.in/submission-to-the-senate-select-committee-on-the-operation-of-the-capital-gains-tax-discount/" TargetMode="External"/><Relationship Id="rId5" Type="http://schemas.openxmlformats.org/officeDocument/2006/relationships/hyperlink" Target="https://e61.in/housing-leverage-and-the-capital-gains-tax-discount/" TargetMode="Externa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6.xml"/><Relationship Id="rId6" Type="http://schemas.openxmlformats.org/officeDocument/2006/relationships/image" Target="../media/image18.jpg"/><Relationship Id="rId5" Type="http://schemas.openxmlformats.org/officeDocument/2006/relationships/hyperlink" Target="https://www.pbo.gov.au/publications-and-data/publications/budget-charts/2026-27-Budget-Snapshot" TargetMode="Externa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7.xml"/><Relationship Id="rId5" Type="http://schemas.openxmlformats.org/officeDocument/2006/relationships/image" Target="../media/image19.png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8.xml"/><Relationship Id="rId5" Type="http://schemas.openxmlformats.org/officeDocument/2006/relationships/image" Target="../media/image20.png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3.xml"/><Relationship Id="rId6" Type="http://schemas.openxmlformats.org/officeDocument/2006/relationships/image" Target="../media/image27.png"/><Relationship Id="rId5" Type="http://schemas.openxmlformats.org/officeDocument/2006/relationships/hyperlink" Target="https://e61.in/what-are-we-discounting-for-thinking-through-cgt-reform-options-utilising-property-data/" TargetMode="External"/><Relationship Id="rId4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507B959-9E35-3EC1-53CB-968CEE0AEF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507B959-9E35-3EC1-53CB-968CEE0AE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6DFE691-484D-0A62-B4FF-81300FDD9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024" y="763250"/>
            <a:ext cx="7275379" cy="3429000"/>
          </a:xfrm>
        </p:spPr>
        <p:txBody>
          <a:bodyPr/>
          <a:lstStyle/>
          <a:p>
            <a:r>
              <a:rPr lang="en-AU" dirty="0"/>
              <a:t>Thoughts on CGT changes</a:t>
            </a:r>
          </a:p>
        </p:txBody>
      </p:sp>
    </p:spTree>
    <p:extLst>
      <p:ext uri="{BB962C8B-B14F-4D97-AF65-F5344CB8AC3E}">
        <p14:creationId xmlns:p14="http://schemas.microsoft.com/office/powerpoint/2010/main" val="153737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64164-6017-314E-E9A6-4E8428E6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EBBDD18-8338-F56C-B291-0A34138D14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F0666CC-3DE9-4F3C-EF9E-EF1998525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1E0E2-4838-366E-C3E5-92CBC4B3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88DD2-9C4C-B9A1-D808-12621E5D5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403873"/>
            <a:ext cx="11459365" cy="700597"/>
          </a:xfrm>
        </p:spPr>
        <p:txBody>
          <a:bodyPr/>
          <a:lstStyle/>
          <a:p>
            <a:r>
              <a:rPr lang="en-US" dirty="0"/>
              <a:t>Key policy directions of Federal Budget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EDBDD-1826-E333-B4B1-1A243A7618FD}"/>
              </a:ext>
            </a:extLst>
          </p:cNvPr>
          <p:cNvSpPr txBox="1"/>
          <p:nvPr/>
        </p:nvSpPr>
        <p:spPr>
          <a:xfrm>
            <a:off x="370417" y="991947"/>
            <a:ext cx="9681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Budget 2026 took place given rising concerns about </a:t>
            </a:r>
            <a:r>
              <a:rPr lang="en-AU" dirty="0">
                <a:solidFill>
                  <a:schemeClr val="accent3"/>
                </a:solidFill>
              </a:rPr>
              <a:t>fiscal sustainability</a:t>
            </a:r>
            <a:r>
              <a:rPr lang="en-AU" dirty="0"/>
              <a:t>, </a:t>
            </a:r>
            <a:r>
              <a:rPr lang="en-AU" dirty="0">
                <a:solidFill>
                  <a:schemeClr val="accent5"/>
                </a:solidFill>
              </a:rPr>
              <a:t>intergenerational equity</a:t>
            </a:r>
            <a:r>
              <a:rPr lang="en-AU" dirty="0"/>
              <a:t>, and </a:t>
            </a:r>
            <a:r>
              <a:rPr lang="en-AU" dirty="0">
                <a:solidFill>
                  <a:schemeClr val="accent1"/>
                </a:solidFill>
              </a:rPr>
              <a:t>productivity growth</a:t>
            </a:r>
            <a:r>
              <a:rPr lang="en-AU" dirty="0"/>
              <a:t> – three topics that are closely linked.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200C6-B159-78BE-6055-71D115428ADE}"/>
              </a:ext>
            </a:extLst>
          </p:cNvPr>
          <p:cNvSpPr txBox="1"/>
          <p:nvPr/>
        </p:nvSpPr>
        <p:spPr>
          <a:xfrm>
            <a:off x="362219" y="1988227"/>
            <a:ext cx="5809982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AU" sz="1600" b="1" dirty="0">
                <a:solidFill>
                  <a:schemeClr val="bg1">
                    <a:lumMod val="50000"/>
                  </a:schemeClr>
                </a:solidFill>
              </a:rPr>
              <a:t>NDIS reforms</a:t>
            </a: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Details are currently limited – but these savings were the main drivers of surplus returning.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Thriving kids program a significant part, however a lot of community and social support likely to be removed.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AU" sz="1600" b="1" dirty="0">
                <a:solidFill>
                  <a:schemeClr val="bg1">
                    <a:lumMod val="50000"/>
                  </a:schemeClr>
                </a:solidFill>
              </a:rPr>
              <a:t>Tax reforms</a:t>
            </a: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en-AU" sz="1600" dirty="0">
              <a:solidFill>
                <a:schemeClr val="bg1">
                  <a:lumMod val="50000"/>
                </a:schemeClr>
              </a:solidFill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WATO and the future taxation of labour income.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Liquidity and R&amp;D policies for small and young firms.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bg1">
                    <a:lumMod val="50000"/>
                  </a:schemeClr>
                </a:solidFill>
              </a:rPr>
              <a:t>Minimum trust tax rate.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accent3">
                    <a:lumMod val="50000"/>
                  </a:schemeClr>
                </a:solidFill>
              </a:rPr>
              <a:t>Capital gains and negative gearing.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C9893-42F1-9C15-105C-9F675CD7A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7" y="1629743"/>
            <a:ext cx="5341423" cy="47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5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DA847-21CE-9729-974A-AFE855A2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3BDDBE8-1987-5384-B32F-56EFA0DF5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ABB9CBC-6DA6-9AFC-AFA6-E022FEC7F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E212-2DF4-4F6B-87E8-43D37398D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7D214-144D-E2E3-F1E8-57B65286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Taxation of income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76E34-ED54-32D7-B50B-1E9101B4A63F}"/>
              </a:ext>
            </a:extLst>
          </p:cNvPr>
          <p:cNvSpPr txBox="1"/>
          <p:nvPr/>
        </p:nvSpPr>
        <p:spPr>
          <a:xfrm>
            <a:off x="370417" y="1017088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Understanding taxation of capital gains requires thinking about </a:t>
            </a:r>
            <a:r>
              <a:rPr lang="en-AU" b="1" i="1" dirty="0">
                <a:solidFill>
                  <a:schemeClr val="accent2"/>
                </a:solidFill>
              </a:rPr>
              <a:t>income tax</a:t>
            </a:r>
            <a:r>
              <a:rPr lang="en-AU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214302-DD50-AE5C-904C-7E5F23089FDC}"/>
              </a:ext>
            </a:extLst>
          </p:cNvPr>
          <p:cNvSpPr txBox="1"/>
          <p:nvPr/>
        </p:nvSpPr>
        <p:spPr>
          <a:xfrm>
            <a:off x="370417" y="2452412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Tax changes in the </a:t>
            </a:r>
            <a:r>
              <a:rPr lang="en-AU" i="1" dirty="0"/>
              <a:t>capacity to consume</a:t>
            </a:r>
            <a:r>
              <a:rPr lang="en-AU" dirty="0"/>
              <a:t> irrespective of how we do so (</a:t>
            </a:r>
            <a:r>
              <a:rPr lang="en-AU" dirty="0">
                <a:hlinkClick r:id="rId5"/>
              </a:rPr>
              <a:t>https://e61.in/e61-capital-income-tax-calculator/</a:t>
            </a:r>
            <a:r>
              <a:rPr lang="en-AU" dirty="0"/>
              <a:t>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56CC1-6607-B13A-2A18-913AED79043A}"/>
              </a:ext>
            </a:extLst>
          </p:cNvPr>
          <p:cNvSpPr txBox="1"/>
          <p:nvPr/>
        </p:nvSpPr>
        <p:spPr>
          <a:xfrm>
            <a:off x="370417" y="1492022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6"/>
              </a:rPr>
              <a:t>Tax capital like wages</a:t>
            </a:r>
            <a:r>
              <a:rPr lang="en-AU" dirty="0"/>
              <a:t>? Intergenerational equity? Equity-efficiency trade-off.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21FFC-FCA9-4528-4B62-F3467CF89EAD}"/>
              </a:ext>
            </a:extLst>
          </p:cNvPr>
          <p:cNvSpPr txBox="1"/>
          <p:nvPr/>
        </p:nvSpPr>
        <p:spPr>
          <a:xfrm>
            <a:off x="370417" y="199674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What is income?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11C591-ABB2-82C5-528D-CA60C1415F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514" y="3582722"/>
            <a:ext cx="3231820" cy="3160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D472B1-9D68-5A5F-A34B-6BBE6CD334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0473" y="3651566"/>
            <a:ext cx="3186533" cy="30228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DD4D2D-A3CB-1416-C0FF-C490D822C783}"/>
              </a:ext>
            </a:extLst>
          </p:cNvPr>
          <p:cNvSpPr txBox="1"/>
          <p:nvPr/>
        </p:nvSpPr>
        <p:spPr>
          <a:xfrm>
            <a:off x="2044666" y="3213390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Fixer-upper sale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1B8EB-BCC7-F68D-7B33-F4C6B61BB2FD}"/>
              </a:ext>
            </a:extLst>
          </p:cNvPr>
          <p:cNvSpPr txBox="1"/>
          <p:nvPr/>
        </p:nvSpPr>
        <p:spPr>
          <a:xfrm>
            <a:off x="6686770" y="3217236"/>
            <a:ext cx="383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High inflation property investor</a:t>
            </a:r>
          </a:p>
        </p:txBody>
      </p:sp>
    </p:spTree>
    <p:extLst>
      <p:ext uri="{BB962C8B-B14F-4D97-AF65-F5344CB8AC3E}">
        <p14:creationId xmlns:p14="http://schemas.microsoft.com/office/powerpoint/2010/main" val="151222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12" grpId="0"/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EF9E-4B46-BA1C-689C-4290A6CB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ABB9CBC-6DA6-9AFC-AFA6-E022FEC7F5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EBBDD18-8338-F56C-B291-0A34138D14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AAE1D-A72C-B006-0E8F-C1F9BA603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E485F-54F8-637E-78F3-3193ADF6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Taxation of income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B6AFC-BDD6-D283-7ABD-151874FF4396}"/>
              </a:ext>
            </a:extLst>
          </p:cNvPr>
          <p:cNvSpPr txBox="1"/>
          <p:nvPr/>
        </p:nvSpPr>
        <p:spPr>
          <a:xfrm>
            <a:off x="370417" y="116661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Understanding taxation of capital gains requires thinking about </a:t>
            </a:r>
            <a:r>
              <a:rPr lang="en-AU" i="1" dirty="0"/>
              <a:t>income tax</a:t>
            </a:r>
            <a:r>
              <a:rPr lang="en-AU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21E47-0932-7DD9-62A2-EC9A48D168A9}"/>
              </a:ext>
            </a:extLst>
          </p:cNvPr>
          <p:cNvSpPr txBox="1"/>
          <p:nvPr/>
        </p:nvSpPr>
        <p:spPr>
          <a:xfrm>
            <a:off x="370417" y="3059668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Tax changes in the </a:t>
            </a:r>
            <a:r>
              <a:rPr lang="en-AU" i="1" dirty="0"/>
              <a:t>capacity to consume</a:t>
            </a:r>
            <a:r>
              <a:rPr lang="en-AU" dirty="0"/>
              <a:t> irrespective of how we do so.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2641D-08EC-C155-298C-936EEC4B735E}"/>
              </a:ext>
            </a:extLst>
          </p:cNvPr>
          <p:cNvSpPr txBox="1"/>
          <p:nvPr/>
        </p:nvSpPr>
        <p:spPr>
          <a:xfrm>
            <a:off x="370417" y="1753005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Tax capital like wages? Intergenerational equity? Equity-efficiency trade-off.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C3DDD-EF3F-3BAB-EA30-B37F1C4EEC55}"/>
              </a:ext>
            </a:extLst>
          </p:cNvPr>
          <p:cNvSpPr txBox="1"/>
          <p:nvPr/>
        </p:nvSpPr>
        <p:spPr>
          <a:xfrm>
            <a:off x="370417" y="2404750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What is income?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12DCE7-5719-DD1C-98BD-EF08B375F584}"/>
              </a:ext>
            </a:extLst>
          </p:cNvPr>
          <p:cNvSpPr txBox="1"/>
          <p:nvPr/>
        </p:nvSpPr>
        <p:spPr>
          <a:xfrm>
            <a:off x="324470" y="3714673"/>
            <a:ext cx="109031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Capital income as a return to savings.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3">
                    <a:lumMod val="75000"/>
                  </a:schemeClr>
                </a:solidFill>
              </a:rPr>
              <a:t>Inflation</a:t>
            </a:r>
            <a:r>
              <a:rPr lang="en-AU" dirty="0"/>
              <a:t> reduces the value of nominal savings – not income.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 </a:t>
            </a:r>
            <a:r>
              <a:rPr lang="en-AU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normal rate of return</a:t>
            </a:r>
            <a:r>
              <a:rPr lang="en-AU" dirty="0"/>
              <a:t> compensates for deferring consumption – necessary to maintain present value of savings, so not income.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43202-5D1E-CE5E-9EAC-88017383DA08}"/>
              </a:ext>
            </a:extLst>
          </p:cNvPr>
          <p:cNvSpPr txBox="1"/>
          <p:nvPr/>
        </p:nvSpPr>
        <p:spPr>
          <a:xfrm>
            <a:off x="370417" y="5111642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To tax all true income the same way we can either tax consumption, or tax labour income + capital income above a normal rate of return.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C2B5C7-768D-2448-A472-5B2894716119}"/>
              </a:ext>
            </a:extLst>
          </p:cNvPr>
          <p:cNvSpPr txBox="1"/>
          <p:nvPr/>
        </p:nvSpPr>
        <p:spPr>
          <a:xfrm>
            <a:off x="370417" y="5891376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Hard to create the </a:t>
            </a:r>
            <a:r>
              <a:rPr lang="en-AU" b="1" dirty="0">
                <a:solidFill>
                  <a:schemeClr val="accent4">
                    <a:lumMod val="75000"/>
                  </a:schemeClr>
                </a:solidFill>
              </a:rPr>
              <a:t>redistribution</a:t>
            </a:r>
            <a:r>
              <a:rPr lang="en-AU" dirty="0"/>
              <a:t> we may want with consumption taxes (progressivity). Hence an income tax is needed.</a:t>
            </a:r>
          </a:p>
        </p:txBody>
      </p:sp>
    </p:spTree>
    <p:extLst>
      <p:ext uri="{BB962C8B-B14F-4D97-AF65-F5344CB8AC3E}">
        <p14:creationId xmlns:p14="http://schemas.microsoft.com/office/powerpoint/2010/main" val="422877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5C1B-C207-8642-0B0A-235A9B3C1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7999A48-644A-84C4-4CD8-E08838BD39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ABB9CBC-6DA6-9AFC-AFA6-E022FEC7F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166B4-56FF-9B05-8A3E-322D10F579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023E0-91E2-C528-450A-413ADBEB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17" y="417443"/>
            <a:ext cx="11459365" cy="700597"/>
          </a:xfrm>
        </p:spPr>
        <p:txBody>
          <a:bodyPr/>
          <a:lstStyle/>
          <a:p>
            <a:r>
              <a:rPr lang="en-US" dirty="0"/>
              <a:t>What are capital gains and negative gearing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3C5F8-0FCF-0CB8-26E8-BD91767A8BD5}"/>
              </a:ext>
            </a:extLst>
          </p:cNvPr>
          <p:cNvSpPr txBox="1"/>
          <p:nvPr/>
        </p:nvSpPr>
        <p:spPr>
          <a:xfrm>
            <a:off x="370417" y="116661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A </a:t>
            </a:r>
            <a:r>
              <a:rPr lang="en-AU" b="1" dirty="0"/>
              <a:t>capital gain</a:t>
            </a:r>
            <a:r>
              <a:rPr lang="en-AU" dirty="0"/>
              <a:t> is an additional form of capital income.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BFDCD-B5A2-2F0F-EEAC-BAB0BDFEEA46}"/>
              </a:ext>
            </a:extLst>
          </p:cNvPr>
          <p:cNvSpPr txBox="1"/>
          <p:nvPr/>
        </p:nvSpPr>
        <p:spPr>
          <a:xfrm>
            <a:off x="370417" y="1753005"/>
            <a:ext cx="1090319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Like other capital income, some of the dollar amount is not “income”.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Is taxed on </a:t>
            </a:r>
            <a:r>
              <a:rPr lang="en-AU" i="1" dirty="0"/>
              <a:t>realisation</a:t>
            </a:r>
            <a:r>
              <a:rPr lang="en-AU" dirty="0"/>
              <a:t> – this gives capital gain a </a:t>
            </a:r>
            <a:r>
              <a:rPr lang="en-AU" i="1" dirty="0"/>
              <a:t>deferral benefit</a:t>
            </a:r>
            <a:r>
              <a:rPr lang="en-AU" dirty="0"/>
              <a:t> relative to other capital income currently.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Due to progressive taxes, capital gains are taxed at a higher rate than if they were taxed each year.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1CCE7A-AAB1-252E-14B3-083B87678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37" y="3776219"/>
            <a:ext cx="2689676" cy="27614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6224D3-A789-2D19-E3B3-23F3CA04F22A}"/>
              </a:ext>
            </a:extLst>
          </p:cNvPr>
          <p:cNvSpPr txBox="1"/>
          <p:nvPr/>
        </p:nvSpPr>
        <p:spPr>
          <a:xfrm>
            <a:off x="501029" y="3324282"/>
            <a:ext cx="382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Discount and income averaging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A824E8A-2E3C-9E88-48F6-48A4CCCFB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714" y="3324282"/>
            <a:ext cx="5549934" cy="341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1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66E1-9BB6-69EC-BC38-9E70064D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DBAA6C6-2754-C040-35B8-5A27FEF7FF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7999A48-644A-84C4-4CD8-E08838BD39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A11A9-AE2C-8B9B-B067-1AD180B87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03D88-7EBA-06B5-8DF5-2FD9B6BA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17" y="417443"/>
            <a:ext cx="11459365" cy="700597"/>
          </a:xfrm>
        </p:spPr>
        <p:txBody>
          <a:bodyPr/>
          <a:lstStyle/>
          <a:p>
            <a:r>
              <a:rPr lang="en-US" dirty="0"/>
              <a:t>What are capital gains and negative gearing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A129AD-2B6B-9AE6-3396-03F985A8D50A}"/>
              </a:ext>
            </a:extLst>
          </p:cNvPr>
          <p:cNvSpPr txBox="1"/>
          <p:nvPr/>
        </p:nvSpPr>
        <p:spPr>
          <a:xfrm>
            <a:off x="381756" y="968986"/>
            <a:ext cx="10903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Negative gearing </a:t>
            </a:r>
            <a:r>
              <a:rPr lang="en-AU" dirty="0"/>
              <a:t>is when annual revenue for an asset in a year is less than the costs, due to </a:t>
            </a:r>
            <a:r>
              <a:rPr lang="en-AU" u="sng" dirty="0">
                <a:hlinkClick r:id="rId5"/>
              </a:rPr>
              <a:t>borrowing expenses</a:t>
            </a:r>
            <a:r>
              <a:rPr lang="en-AU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7FA5D-F220-4D4A-FCAC-E17BAB5EC449}"/>
              </a:ext>
            </a:extLst>
          </p:cNvPr>
          <p:cNvSpPr txBox="1"/>
          <p:nvPr/>
        </p:nvSpPr>
        <p:spPr>
          <a:xfrm>
            <a:off x="366317" y="1637239"/>
            <a:ext cx="1090319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Only allow expenses related to </a:t>
            </a:r>
            <a:r>
              <a:rPr lang="en-AU" b="1" dirty="0"/>
              <a:t>taxed</a:t>
            </a:r>
            <a:r>
              <a:rPr lang="en-AU" dirty="0"/>
              <a:t> income. Allowing deductibility of inflation component of interest inconsistent with discount/indexation.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Quarantining losses both </a:t>
            </a:r>
            <a:r>
              <a:rPr lang="en-AU" dirty="0">
                <a:solidFill>
                  <a:schemeClr val="accent6"/>
                </a:solidFill>
              </a:rPr>
              <a:t>punishes those with genuine losses</a:t>
            </a:r>
            <a:r>
              <a:rPr lang="en-AU" dirty="0"/>
              <a:t> (as all expenses are deferred) and </a:t>
            </a:r>
            <a:r>
              <a:rPr lang="en-AU" dirty="0">
                <a:solidFill>
                  <a:schemeClr val="accent3"/>
                </a:solidFill>
              </a:rPr>
              <a:t>over-credits those making positive annual rental income</a:t>
            </a:r>
            <a:r>
              <a:rPr lang="en-AU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DFB417-5F2A-3774-B220-2EE6592A2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251" y="3015928"/>
            <a:ext cx="5175654" cy="35217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9441D8-6949-42B3-97E2-05617DFC47C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95" y="3057859"/>
            <a:ext cx="5375256" cy="33431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751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F8E5-41A0-3ABC-4DD8-30E2C15D9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4E3CD6D-7C03-04E5-3F28-BE6DFCDE01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450181C-6C9A-9739-99CF-AD4C5359F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04FF-A3DC-C476-30D3-4B2F61B5F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DFC11-A675-538F-94FC-CFF9CF76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prior treatment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308C70-5C97-36EC-A1D0-A57121E55447}"/>
              </a:ext>
            </a:extLst>
          </p:cNvPr>
          <p:cNvSpPr txBox="1"/>
          <p:nvPr/>
        </p:nvSpPr>
        <p:spPr>
          <a:xfrm>
            <a:off x="370417" y="1166613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Horizontal </a:t>
            </a:r>
            <a:r>
              <a:rPr lang="en-AU" b="1" dirty="0">
                <a:hlinkClick r:id="rId5"/>
              </a:rPr>
              <a:t>inequity</a:t>
            </a:r>
            <a:endParaRPr lang="en-AU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D3668-7AF6-B38C-C0AC-E0CC5C6EDC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822"/>
            <a:ext cx="4270248" cy="5009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31548-956F-C20E-8497-007ECEE3B4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37" y="1609124"/>
            <a:ext cx="4397555" cy="49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9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B8FB-5FB1-0A0C-706C-853FAC99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4B163B6-5A84-AD77-0417-7033003C4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4E3CD6D-7C03-04E5-3F28-BE6DFCDE01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A6161-8885-B281-40F3-2D4D016CE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C4B2D-D5D8-3BDF-B719-C6887DB5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35" y="183592"/>
            <a:ext cx="11459365" cy="700597"/>
          </a:xfrm>
        </p:spPr>
        <p:txBody>
          <a:bodyPr/>
          <a:lstStyle/>
          <a:p>
            <a:r>
              <a:rPr lang="en-US" dirty="0"/>
              <a:t>Issues with prior treatment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40209D-F521-E930-DF7F-FB66723F6EBF}"/>
              </a:ext>
            </a:extLst>
          </p:cNvPr>
          <p:cNvSpPr txBox="1"/>
          <p:nvPr/>
        </p:nvSpPr>
        <p:spPr>
          <a:xfrm>
            <a:off x="448922" y="3969238"/>
            <a:ext cx="109031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Incentive to </a:t>
            </a:r>
            <a:r>
              <a:rPr lang="en-AU" b="1" dirty="0">
                <a:hlinkClick r:id="rId5"/>
              </a:rPr>
              <a:t>borrow too much</a:t>
            </a:r>
            <a:endParaRPr lang="en-AU" b="1" dirty="0"/>
          </a:p>
          <a:p>
            <a:endParaRPr lang="en-AU" b="1" dirty="0"/>
          </a:p>
          <a:p>
            <a:r>
              <a:rPr lang="en-AU" dirty="0"/>
              <a:t>Increasing leverage allows an investor to</a:t>
            </a:r>
            <a:br>
              <a:rPr lang="en-AU" dirty="0"/>
            </a:br>
            <a:r>
              <a:rPr lang="en-AU" dirty="0"/>
              <a:t>increase their return on equity (</a:t>
            </a:r>
            <a:r>
              <a:rPr lang="en-AU" dirty="0" err="1"/>
              <a:t>RoE</a:t>
            </a:r>
            <a:r>
              <a:rPr lang="en-AU" dirty="0"/>
              <a:t>) post-tax</a:t>
            </a:r>
            <a:br>
              <a:rPr lang="en-AU" dirty="0"/>
            </a:br>
            <a:r>
              <a:rPr lang="en-AU" dirty="0"/>
              <a:t>by more than the pre-tax increase.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-&gt; Can turn a pre-tax negative return </a:t>
            </a:r>
            <a:br>
              <a:rPr lang="en-AU" dirty="0"/>
            </a:br>
            <a:r>
              <a:rPr lang="en-AU" dirty="0"/>
              <a:t>	positive post-tax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EE279-9661-A311-8659-5454251A6A6B}"/>
              </a:ext>
            </a:extLst>
          </p:cNvPr>
          <p:cNvSpPr txBox="1"/>
          <p:nvPr/>
        </p:nvSpPr>
        <p:spPr>
          <a:xfrm>
            <a:off x="448922" y="1066059"/>
            <a:ext cx="109031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Vertical </a:t>
            </a:r>
            <a:r>
              <a:rPr lang="en-AU" b="1" dirty="0">
                <a:hlinkClick r:id="rId6"/>
              </a:rPr>
              <a:t>inequity</a:t>
            </a:r>
            <a:endParaRPr lang="en-AU" b="1" dirty="0"/>
          </a:p>
          <a:p>
            <a:endParaRPr lang="en-AU" b="1" dirty="0"/>
          </a:p>
          <a:p>
            <a:r>
              <a:rPr lang="en-AU" dirty="0"/>
              <a:t>Capital gains tend to go to those with high</a:t>
            </a:r>
            <a:br>
              <a:rPr lang="en-AU" dirty="0"/>
            </a:br>
            <a:r>
              <a:rPr lang="en-AU" dirty="0"/>
              <a:t>decade-long income.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Implies that the tax-system may be less</a:t>
            </a:r>
            <a:br>
              <a:rPr lang="en-AU" dirty="0"/>
            </a:br>
            <a:r>
              <a:rPr lang="en-AU" dirty="0"/>
              <a:t>progressive than intended.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FF6502-0844-D9C2-CA51-89A9D1CC01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0518" y="748680"/>
            <a:ext cx="5847913" cy="2791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32AF59-CB4C-D06E-09F1-F3CA011577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7849" y="3787368"/>
            <a:ext cx="3743848" cy="268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8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E36CF-84D4-AF67-BBD0-0E1A0D6E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9B37E3C-DC45-B942-68FB-F97B14A17D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61234B0-5267-CF16-FDC5-9DD62AE7C8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38FBE-3499-FB0E-701F-C5D7AFD42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47464-9493-21D7-B566-225D4651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for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5DD49-39B5-C99A-0A2A-A1B9C031137C}"/>
              </a:ext>
            </a:extLst>
          </p:cNvPr>
          <p:cNvSpPr txBox="1"/>
          <p:nvPr/>
        </p:nvSpPr>
        <p:spPr>
          <a:xfrm>
            <a:off x="370417" y="1062478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It was not clear these reforms should increase revenue – </a:t>
            </a:r>
            <a:r>
              <a:rPr lang="en-AU" b="1" dirty="0">
                <a:hlinkClick r:id="rId5"/>
              </a:rPr>
              <a:t>but it does</a:t>
            </a:r>
            <a:r>
              <a:rPr lang="en-AU" b="1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EF1187-6E18-4C74-A92D-B876C89E7A13}"/>
              </a:ext>
            </a:extLst>
          </p:cNvPr>
          <p:cNvSpPr txBox="1"/>
          <p:nvPr/>
        </p:nvSpPr>
        <p:spPr>
          <a:xfrm>
            <a:off x="370417" y="4489738"/>
            <a:ext cx="8310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Gain from change in </a:t>
            </a:r>
            <a:r>
              <a:rPr lang="en-AU" b="1" dirty="0">
                <a:solidFill>
                  <a:schemeClr val="bg1">
                    <a:lumMod val="50000"/>
                  </a:schemeClr>
                </a:solidFill>
              </a:rPr>
              <a:t>distribution of tax rates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EC6B1-AB69-4D14-F097-692DA7803FD7}"/>
              </a:ext>
            </a:extLst>
          </p:cNvPr>
          <p:cNvSpPr txBox="1"/>
          <p:nvPr/>
        </p:nvSpPr>
        <p:spPr>
          <a:xfrm>
            <a:off x="7320188" y="2782669"/>
            <a:ext cx="3486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Consistency would also discount other capital income.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61409E-E106-1978-75B5-B45A4E581F6F}"/>
              </a:ext>
            </a:extLst>
          </p:cNvPr>
          <p:cNvCxnSpPr/>
          <p:nvPr/>
        </p:nvCxnSpPr>
        <p:spPr>
          <a:xfrm>
            <a:off x="6829737" y="3132352"/>
            <a:ext cx="411480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Figure 7">
            <a:extLst>
              <a:ext uri="{FF2B5EF4-FFF2-40B4-BE49-F238E27FC236}">
                <a16:creationId xmlns:a16="http://schemas.microsoft.com/office/drawing/2014/main" id="{5D7EFDDD-DF5F-3245-1F42-CDEC7E866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" y="1604864"/>
            <a:ext cx="5794144" cy="2884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4BD942-598F-E63F-3A4E-6C943DA3198C}"/>
              </a:ext>
            </a:extLst>
          </p:cNvPr>
          <p:cNvSpPr txBox="1"/>
          <p:nvPr/>
        </p:nvSpPr>
        <p:spPr>
          <a:xfrm>
            <a:off x="370417" y="4832895"/>
            <a:ext cx="93887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</a:rPr>
              <a:t>Asymmetric treatment of losses.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</a:rPr>
              <a:t>No “income averaging” – over-taxation of </a:t>
            </a:r>
            <a:r>
              <a:rPr lang="en-AU" sz="1800" i="1" dirty="0">
                <a:solidFill>
                  <a:schemeClr val="bg1">
                    <a:lumMod val="50000"/>
                  </a:schemeClr>
                </a:solidFill>
              </a:rPr>
              <a:t>lumpy</a:t>
            </a:r>
            <a:r>
              <a:rPr lang="en-AU" sz="1800" dirty="0">
                <a:solidFill>
                  <a:schemeClr val="bg1">
                    <a:lumMod val="50000"/>
                  </a:schemeClr>
                </a:solidFill>
              </a:rPr>
              <a:t> income such as capital gains, incentives for </a:t>
            </a:r>
            <a:r>
              <a:rPr lang="en-AU" sz="1800" b="1" dirty="0">
                <a:solidFill>
                  <a:schemeClr val="bg1">
                    <a:lumMod val="50000"/>
                  </a:schemeClr>
                </a:solidFill>
              </a:rPr>
              <a:t>strategic timing</a:t>
            </a:r>
            <a:r>
              <a:rPr lang="en-AU" sz="18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C0AD33-BBDE-F200-6F02-224857C00680}"/>
              </a:ext>
            </a:extLst>
          </p:cNvPr>
          <p:cNvSpPr txBox="1"/>
          <p:nvPr/>
        </p:nvSpPr>
        <p:spPr>
          <a:xfrm>
            <a:off x="370417" y="5756225"/>
            <a:ext cx="609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</a:rPr>
              <a:t>Minimum rates.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C76AB-91BC-AC4C-F956-FE272BCE9153}"/>
              </a:ext>
            </a:extLst>
          </p:cNvPr>
          <p:cNvSpPr txBox="1"/>
          <p:nvPr/>
        </p:nvSpPr>
        <p:spPr>
          <a:xfrm>
            <a:off x="370417" y="6168375"/>
            <a:ext cx="609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>
                    <a:lumMod val="50000"/>
                  </a:schemeClr>
                </a:solidFill>
              </a:rPr>
              <a:t>Is inflation the correct discount rate?</a:t>
            </a:r>
          </a:p>
        </p:txBody>
      </p:sp>
    </p:spTree>
    <p:extLst>
      <p:ext uri="{BB962C8B-B14F-4D97-AF65-F5344CB8AC3E}">
        <p14:creationId xmlns:p14="http://schemas.microsoft.com/office/powerpoint/2010/main" val="258486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  <p:bldP spid="10" grpId="0"/>
      <p:bldP spid="12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D194-6FC4-F6C2-6304-FC462B0F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450181C-6C9A-9739-99CF-AD4C5359FD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ABB9CBC-6DA6-9AFC-AFA6-E022FEC7F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FAFAB-7D37-A92C-247B-126FAD1DA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7A670-36AA-CC09-B296-4C4B661C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Trade-offs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BD812-C79A-FCEC-2246-F4850105B375}"/>
              </a:ext>
            </a:extLst>
          </p:cNvPr>
          <p:cNvSpPr txBox="1"/>
          <p:nvPr/>
        </p:nvSpPr>
        <p:spPr>
          <a:xfrm>
            <a:off x="370417" y="1280818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Capital mobility and investment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7045B-159B-4AEA-D823-8650ED4F9BDA}"/>
              </a:ext>
            </a:extLst>
          </p:cNvPr>
          <p:cNvSpPr txBox="1"/>
          <p:nvPr/>
        </p:nvSpPr>
        <p:spPr>
          <a:xfrm>
            <a:off x="370417" y="1761571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Changing residence shifts taxation of “passive” housing capital gains.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8751C-401B-6A3C-AE41-159621942661}"/>
              </a:ext>
            </a:extLst>
          </p:cNvPr>
          <p:cNvSpPr txBox="1"/>
          <p:nvPr/>
        </p:nvSpPr>
        <p:spPr>
          <a:xfrm>
            <a:off x="370417" y="2228091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Mobile ideas and finance can move – incidence passes through to consumers and business.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E91D39-9DAC-6049-C189-73F1B1845722}"/>
              </a:ext>
            </a:extLst>
          </p:cNvPr>
          <p:cNvSpPr txBox="1"/>
          <p:nvPr/>
        </p:nvSpPr>
        <p:spPr>
          <a:xfrm>
            <a:off x="370417" y="2695808"/>
            <a:ext cx="1090319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Domestic value-add is less mobile.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International evidence suggests mobility from CGT is limited.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Also suggests the general tax rate mobility is lower for sources that generate high returns (location specific rents).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AF6CE5-4AD5-181F-3C58-513988435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559" y="3914005"/>
            <a:ext cx="5622913" cy="262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7D20-65C6-3D4F-CF10-7D751FF2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6BCACE-3C28-5EFD-F678-5248A243F2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450181C-6C9A-9739-99CF-AD4C5359F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88640-3E4A-3D14-BAEB-8047325BD3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CAEC2-43AB-F06D-5B1D-12E13AF1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Trade-offs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78E88-9573-046D-8C3A-23E6D09DD918}"/>
              </a:ext>
            </a:extLst>
          </p:cNvPr>
          <p:cNvSpPr txBox="1"/>
          <p:nvPr/>
        </p:nvSpPr>
        <p:spPr>
          <a:xfrm>
            <a:off x="436129" y="1206482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Compliance costs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1D2B76-FA0C-DC25-3903-93394017D582}"/>
              </a:ext>
            </a:extLst>
          </p:cNvPr>
          <p:cNvSpPr txBox="1"/>
          <p:nvPr/>
        </p:nvSpPr>
        <p:spPr>
          <a:xfrm>
            <a:off x="492989" y="1762719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Different rules for different assets.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F12C4-69D4-4C77-26A8-B334D2191E24}"/>
              </a:ext>
            </a:extLst>
          </p:cNvPr>
          <p:cNvSpPr txBox="1"/>
          <p:nvPr/>
        </p:nvSpPr>
        <p:spPr>
          <a:xfrm>
            <a:off x="492989" y="2243472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Complicated minimum tax rules (especially alongside trusts).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015CF2-B4D9-7C0E-A2E5-E4C557786B28}"/>
              </a:ext>
            </a:extLst>
          </p:cNvPr>
          <p:cNvSpPr txBox="1"/>
          <p:nvPr/>
        </p:nvSpPr>
        <p:spPr>
          <a:xfrm>
            <a:off x="492989" y="2798214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Transitional valuations.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0C1CF4-AB7A-B9D3-F22E-D66160B3AAED}"/>
              </a:ext>
            </a:extLst>
          </p:cNvPr>
          <p:cNvSpPr txBox="1"/>
          <p:nvPr/>
        </p:nvSpPr>
        <p:spPr>
          <a:xfrm>
            <a:off x="370417" y="3619078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Taxation of risk?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83006-157B-D37A-12CA-0CFD6C4E2605}"/>
              </a:ext>
            </a:extLst>
          </p:cNvPr>
          <p:cNvSpPr txBox="1"/>
          <p:nvPr/>
        </p:nvSpPr>
        <p:spPr>
          <a:xfrm>
            <a:off x="427277" y="4175315"/>
            <a:ext cx="1090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The reforms increase the taxation of risk.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E9D27-8386-DB85-9515-312085C5D56A}"/>
              </a:ext>
            </a:extLst>
          </p:cNvPr>
          <p:cNvSpPr txBox="1"/>
          <p:nvPr/>
        </p:nvSpPr>
        <p:spPr>
          <a:xfrm>
            <a:off x="436129" y="4654573"/>
            <a:ext cx="565987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In the absence of “asymmetry” this would be </a:t>
            </a:r>
            <a:r>
              <a:rPr lang="en-AU" b="1" dirty="0"/>
              <a:t>neutral/positive</a:t>
            </a:r>
            <a:r>
              <a:rPr lang="en-AU" dirty="0"/>
              <a:t> with respect to risk.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Progressive taxes.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Differential treatment of losses.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/>
              <a:t>Minimum rates.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1F2AF3-7884-490E-B09B-CE96CCC609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048" y="2881935"/>
            <a:ext cx="5721350" cy="3435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916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4D1B1-1AA1-A1E1-AF58-96EFD69F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3E357FF-1AE4-28F9-DDC9-7A1ACE1CA9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450181C-6C9A-9739-99CF-AD4C5359F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483A3-6B48-0D1E-96EA-635C453E3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A9D0A-40F4-E594-2858-26EBD831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86" y="2601045"/>
            <a:ext cx="3637766" cy="700597"/>
          </a:xfrm>
        </p:spPr>
        <p:txBody>
          <a:bodyPr/>
          <a:lstStyle/>
          <a:p>
            <a:r>
              <a:rPr lang="en-US" sz="6600" dirty="0">
                <a:solidFill>
                  <a:schemeClr val="accent2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52726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3AFEE-4D13-858C-DAE2-E3C0650C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8EA7791-4497-DB35-0A8A-E38D76814D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6BCACE-3C28-5EFD-F678-5248A243F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F7B40-2570-519E-E191-922E67EF5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9F4A8-7877-5C34-A864-3E28DBD92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plots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9D063-4CA8-A98E-B502-D2E5910F5EF9}"/>
              </a:ext>
            </a:extLst>
          </p:cNvPr>
          <p:cNvSpPr txBox="1"/>
          <p:nvPr/>
        </p:nvSpPr>
        <p:spPr>
          <a:xfrm>
            <a:off x="436129" y="1895950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Flat tax incentive for risk-averse individual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D9E6A-68DB-E3C7-A112-1648A8C1410D}"/>
              </a:ext>
            </a:extLst>
          </p:cNvPr>
          <p:cNvSpPr txBox="1"/>
          <p:nvPr/>
        </p:nvSpPr>
        <p:spPr>
          <a:xfrm>
            <a:off x="1257385" y="4260189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Deferral without imputation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AF6AB8-5634-4159-B441-DD4DB584C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80221"/>
            <a:ext cx="4813680" cy="2935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E4636F-8C5F-44BA-BB65-39D89581AF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713" y="3630394"/>
            <a:ext cx="4841939" cy="2907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9737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CCA0-CE01-99DB-F187-E9125EC7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F9AE53F-513F-C2C9-7961-DF5BE89264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8EA7791-4497-DB35-0A8A-E38D76814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E10CB-7C9F-3CD5-2EC5-5B08DCBF4B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A0441-5DCE-E35D-DDEC-3ABBA940B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plots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3A783-74C8-8EA6-4500-B0C38BCADBEC}"/>
              </a:ext>
            </a:extLst>
          </p:cNvPr>
          <p:cNvSpPr txBox="1"/>
          <p:nvPr/>
        </p:nvSpPr>
        <p:spPr>
          <a:xfrm>
            <a:off x="754465" y="1974189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Deferral with imputation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67C447-9CF6-4DFD-B3E1-A3E2C5795B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413" y="580221"/>
            <a:ext cx="4953635" cy="297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764C52-0BA7-483B-98E8-F47404610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958" y="3952113"/>
            <a:ext cx="4073906" cy="25337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657E9A-5872-8E74-6D0F-F16ECBEDCA89}"/>
              </a:ext>
            </a:extLst>
          </p:cNvPr>
          <p:cNvSpPr txBox="1"/>
          <p:nvPr/>
        </p:nvSpPr>
        <p:spPr>
          <a:xfrm>
            <a:off x="754465" y="4659477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Change in real tax rates by capital gain</a:t>
            </a:r>
          </a:p>
        </p:txBody>
      </p:sp>
    </p:spTree>
    <p:extLst>
      <p:ext uri="{BB962C8B-B14F-4D97-AF65-F5344CB8AC3E}">
        <p14:creationId xmlns:p14="http://schemas.microsoft.com/office/powerpoint/2010/main" val="2045914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900CE-7509-F92D-D61C-354AACCF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D270039-2CC0-26EE-5469-0238F507F7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F9AE53F-513F-C2C9-7961-DF5BE89264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F3F0B-7912-A4A1-E3A7-824184CC6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DA710D-A976-4276-57FD-6B6384FF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plots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7A0E8-1E31-24B0-CBBA-A10240980397}"/>
              </a:ext>
            </a:extLst>
          </p:cNvPr>
          <p:cNvSpPr txBox="1"/>
          <p:nvPr/>
        </p:nvSpPr>
        <p:spPr>
          <a:xfrm>
            <a:off x="754465" y="1974189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Progressivity and 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2FCB7-C070-0099-D56C-D0AC9159459C}"/>
              </a:ext>
            </a:extLst>
          </p:cNvPr>
          <p:cNvSpPr txBox="1"/>
          <p:nvPr/>
        </p:nvSpPr>
        <p:spPr>
          <a:xfrm>
            <a:off x="754465" y="4659477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Income averaging and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3AEDE-76E5-4E71-BCA6-909709CECC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487" y="221070"/>
            <a:ext cx="4796535" cy="3052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FBF8D0-C8BB-41DF-9686-521C264EF1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487" y="3513794"/>
            <a:ext cx="4994913" cy="31231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7083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27CB-AD14-2EE2-46BB-0404551F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34B542C-D9DD-FA62-C066-1B31686C6E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D270039-2CC0-26EE-5469-0238F507F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1CA0F-A399-2DF1-4D26-2C074407B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4BD16-F054-D42A-E33E-B1A3DFC45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plots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BB123-2AEE-B314-44EF-DDECB6A5056E}"/>
              </a:ext>
            </a:extLst>
          </p:cNvPr>
          <p:cNvSpPr txBox="1"/>
          <p:nvPr/>
        </p:nvSpPr>
        <p:spPr>
          <a:xfrm>
            <a:off x="754465" y="1974189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Housing </a:t>
            </a:r>
            <a:r>
              <a:rPr lang="en-AU" b="1" dirty="0">
                <a:hlinkClick r:id="rId5"/>
              </a:rPr>
              <a:t>median tax rates</a:t>
            </a:r>
            <a:endParaRPr lang="en-AU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D910E-4B43-ACFE-B910-EF53018442BB}"/>
              </a:ext>
            </a:extLst>
          </p:cNvPr>
          <p:cNvSpPr txBox="1"/>
          <p:nvPr/>
        </p:nvSpPr>
        <p:spPr>
          <a:xfrm>
            <a:off x="754465" y="4659477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Housing CGT revenue estimates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088DD6-EAA3-FE3A-2C4A-8A0FC5F35D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6789" y="3466234"/>
            <a:ext cx="4868437" cy="31706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DCFC6B-0327-5C6B-CA04-730053B209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861" y="221070"/>
            <a:ext cx="3165160" cy="309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6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79C5-E00D-E1B5-BF85-B2A24BD8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0592FBE-007B-89AF-2F2C-172F9B54E1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D270039-2CC0-26EE-5469-0238F507F7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05B3C-049D-2150-B57B-2C4745AD3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B871C-DB8D-A2F9-5DCB-B2DCAF19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plots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CAFC64-C9A9-AB4E-B922-5DF401DF6BD4}"/>
              </a:ext>
            </a:extLst>
          </p:cNvPr>
          <p:cNvSpPr txBox="1"/>
          <p:nvPr/>
        </p:nvSpPr>
        <p:spPr>
          <a:xfrm>
            <a:off x="640469" y="1235110"/>
            <a:ext cx="9285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Breakeven international tax and “allowance” (with 2.5% inflation)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BA7E3-85AE-A0DE-EB60-1D48F6025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69" y="1875784"/>
            <a:ext cx="4333867" cy="41818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F48879-AA3F-64B5-3BB4-013FF0617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375" y="1815861"/>
            <a:ext cx="4115541" cy="420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27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61 general template.potx" id="{90061909-20C7-47C0-9BA3-1FCA4037CBDA}" vid="{47FE1831-D1E7-41D2-8A16-5B5B5DBA35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8" ma:contentTypeDescription="Create a new document." ma:contentTypeScope="" ma:versionID="8dc4163b27f0ec44a22c6d7358323f5f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a1176a965c39d1ac1c7d6ef690b32559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36B762-179B-48EA-90B2-E74079BA15DE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aa802c90-64f7-4260-a678-c5c09559402a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d4025935-85eb-43e8-ab32-734675053e7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54E5144-405F-49D2-89C0-6C01A508B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802c90-64f7-4260-a678-c5c09559402a"/>
    <ds:schemaRef ds:uri="d4025935-85eb-43e8-ab32-734675053e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2450</TotalTime>
  <Words>808</Words>
  <Application>Microsoft Office PowerPoint</Application>
  <PresentationFormat>Widescreen</PresentationFormat>
  <Paragraphs>107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Graphik</vt:lpstr>
      <vt:lpstr>GT Sectra Fine</vt:lpstr>
      <vt:lpstr>Proxima Nova Rg</vt:lpstr>
      <vt:lpstr>System Font</vt:lpstr>
      <vt:lpstr>e61 slide master</vt:lpstr>
      <vt:lpstr>think-cell Slide</vt:lpstr>
      <vt:lpstr>Thoughts on CGT changes</vt:lpstr>
      <vt:lpstr>Key policy directions of Federal Budget 2026</vt:lpstr>
      <vt:lpstr>Taxation of income</vt:lpstr>
      <vt:lpstr>Taxation of income</vt:lpstr>
      <vt:lpstr>What are capital gains and negative gearing</vt:lpstr>
      <vt:lpstr>What are capital gains and negative gearing</vt:lpstr>
      <vt:lpstr>Issues with prior treatment</vt:lpstr>
      <vt:lpstr>Issues with prior treatment</vt:lpstr>
      <vt:lpstr>Implications for revenue</vt:lpstr>
      <vt:lpstr>Trade-offs</vt:lpstr>
      <vt:lpstr>Trade-offs</vt:lpstr>
      <vt:lpstr>Q&amp;A</vt:lpstr>
      <vt:lpstr>Additional plots</vt:lpstr>
      <vt:lpstr>Additional plots</vt:lpstr>
      <vt:lpstr>Additional plots</vt:lpstr>
      <vt:lpstr>Additional plots</vt:lpstr>
      <vt:lpstr>Additional plots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Buckley</dc:creator>
  <cp:lastModifiedBy>Matt</cp:lastModifiedBy>
  <cp:revision>61</cp:revision>
  <dcterms:created xsi:type="dcterms:W3CDTF">2022-09-20T23:20:20Z</dcterms:created>
  <dcterms:modified xsi:type="dcterms:W3CDTF">2026-08-25T02:25:29Z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