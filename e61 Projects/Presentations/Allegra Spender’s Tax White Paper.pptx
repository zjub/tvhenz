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147140411" r:id="rId5"/>
    <p:sldId id="2147140395" r:id="rId6"/>
    <p:sldId id="2147140427" r:id="rId7"/>
    <p:sldId id="2147140431" r:id="rId8"/>
    <p:sldId id="2147140428" r:id="rId9"/>
    <p:sldId id="2147140430" r:id="rId10"/>
    <p:sldId id="2147140429" r:id="rId11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5BA906-B677-4ED9-B365-ED690E2CB720}">
          <p14:sldIdLst>
            <p14:sldId id="2147140411"/>
            <p14:sldId id="2147140395"/>
            <p14:sldId id="2147140427"/>
            <p14:sldId id="2147140431"/>
            <p14:sldId id="2147140428"/>
            <p14:sldId id="2147140430"/>
            <p14:sldId id="214714042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212BB9-A5CF-D335-3301-776C81AF3ABE}" name="Lachlan Vass" initials="LV" userId="S::lachlan.vass@e61.in::3865f71c-c396-40c5-8390-2fc8d944de27" providerId="AD"/>
  <p188:author id="{34CD6AE3-4402-C73C-3D6D-D595530990B9}" name="Jack Buckley" initials="JB" userId="S::jack.buckley@e61.in::28ddcf48-0b29-47ef-8181-0ce27c074e2e" providerId="AD"/>
  <p188:author id="{71CA22F3-774C-2056-8AF6-7BA1CB40250A}" name="Sinn, Joshua" initials="SJ" userId="S::joshua.sinn@accenture.com::611c4376-2cbd-4772-b570-fe288a3c2a7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A7AB"/>
    <a:srgbClr val="004F54"/>
    <a:srgbClr val="206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4" autoAdjust="0"/>
    <p:restoredTop sz="94656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9F452D-FA17-885C-CC89-0DC68658B2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9CDAA-6A69-3DFF-BE4E-6602CC25B0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87968-E7C3-4FA2-86D7-7CFDDCA2896A}" type="datetimeFigureOut">
              <a:rPr lang="en-US" smtClean="0"/>
              <a:t>27-Mar-26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F01E9-DBAA-1EA2-4D9A-7E77B5DFA5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BB76F-B80E-EE0E-9F0D-2AC6378957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8A632-F1EE-40DC-8EB4-831F2F70E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771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6A7BE-E113-476D-8DE0-A6138461ACE1}" type="datetimeFigureOut">
              <a:rPr lang="en-US" smtClean="0"/>
              <a:t>27-Mar-26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F2214-1F6F-4D6B-854F-093941A8F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1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1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83544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2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46630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3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9267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4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12791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5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60692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Appendix</a:t>
            </a:r>
            <a:endParaRPr lang="en-AU" sz="12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827969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1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22514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2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526356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3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07999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4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48326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5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74581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Appendix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538170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164627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2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640386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641323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4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18177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2995420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2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130912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768705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4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97536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CB03E8-089D-0ACD-1D05-C59964D50E2F}"/>
              </a:ext>
            </a:extLst>
          </p:cNvPr>
          <p:cNvSpPr/>
          <p:nvPr userDrawn="1"/>
        </p:nvSpPr>
        <p:spPr>
          <a:xfrm>
            <a:off x="0" y="35076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2143CB0-80E3-8AB0-053D-E52E19E92F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99" y="26127"/>
            <a:ext cx="1980000" cy="29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US" sz="1200" smtClean="0">
                <a:solidFill>
                  <a:schemeClr val="tx1"/>
                </a:solidFill>
                <a:latin typeface="+mj-lt"/>
                <a:ea typeface="+mn-ea"/>
              </a:defRPr>
            </a:lvl1pPr>
            <a:lvl2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2pPr>
            <a:lvl3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3pPr>
            <a:lvl4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4pPr>
            <a:lvl5pPr>
              <a:defRPr lang="en-AU" sz="1800">
                <a:solidFill>
                  <a:schemeClr val="lt1"/>
                </a:solidFill>
                <a:ea typeface="+mn-ea"/>
                <a:cs typeface="+mn-cs"/>
              </a:defRPr>
            </a:lvl5pPr>
          </a:lstStyle>
          <a:p>
            <a:pPr lvl="0" defTabSz="914400" latinLnBrk="0"/>
            <a:r>
              <a:rPr lang="en-US"/>
              <a:t>Section name here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6686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26744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F090DBB-DBAB-499B-B31E-9C5FEBA1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769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" imgH="381" progId="TCLayout.ActiveDocument.1">
                  <p:embed/>
                </p:oleObj>
              </mc:Choice>
              <mc:Fallback>
                <p:oleObj name="think-cell Slide" r:id="rId3" imgW="381" imgH="38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F090DBB-DBAB-499B-B31E-9C5FEBA1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2AED96BB-361A-4F3E-A7CB-D1560FDE9F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3CA51-1D19-4ADC-908F-13F64C03CB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7417" y="3925156"/>
            <a:ext cx="4698834" cy="1181862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algn="ctr"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2FDB2B-16C1-4564-B415-DBBBCF0037B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811" y="1475802"/>
            <a:ext cx="2726046" cy="1953198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4C01ECE-843C-4618-8C3A-082A62CB3D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7417" y="5334153"/>
            <a:ext cx="469883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6" indent="0">
              <a:buNone/>
              <a:defRPr/>
            </a:lvl2pPr>
            <a:lvl3pPr marL="91441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en-US"/>
              <a:t>Event title – event date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F417C3A-BBD1-0EAC-6A37-12CE6587C5B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6921666" cy="6858000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Insert image </a:t>
            </a:r>
          </a:p>
          <a:p>
            <a:r>
              <a:rPr lang="en-US"/>
              <a:t>(try: https://unsplash.com/)</a:t>
            </a:r>
          </a:p>
        </p:txBody>
      </p:sp>
    </p:spTree>
    <p:extLst>
      <p:ext uri="{BB962C8B-B14F-4D97-AF65-F5344CB8AC3E}">
        <p14:creationId xmlns:p14="http://schemas.microsoft.com/office/powerpoint/2010/main" val="2210043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86957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2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1"/>
            </a:lvl2pPr>
            <a:lvl3pPr marL="228604">
              <a:buFont typeface="Arial" panose="020B0604020202020204" pitchFamily="34" charset="0"/>
              <a:buChar char="•"/>
              <a:defRPr sz="1801"/>
            </a:lvl3pPr>
            <a:lvl4pPr marL="457206">
              <a:buFont typeface="System Font"/>
              <a:buChar char="–"/>
              <a:defRPr sz="1600"/>
            </a:lvl4pPr>
            <a:lvl5pPr marL="685809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2" cy="810399"/>
          </a:xfrm>
          <a:prstGeom prst="rect">
            <a:avLst/>
          </a:prstGeo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3" y="137160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3" y="1976479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3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3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3" y="3791113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3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3" y="5000868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3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84358" y="137160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84358" y="197647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84358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84358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84358" y="3791113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84358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84358" y="500086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84358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>
            <a:cxnSpLocks/>
          </p:cNvCxnSpPr>
          <p:nvPr userDrawn="1"/>
        </p:nvCxnSpPr>
        <p:spPr>
          <a:xfrm>
            <a:off x="4045241" y="1371601"/>
            <a:ext cx="0" cy="33327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9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3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95094" y="137160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95094" y="197647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195094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195094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95094" y="3791113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95094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95094" y="500086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95094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4">
              <a:spcAft>
                <a:spcPts val="1200"/>
              </a:spcAft>
            </a:pPr>
            <a:endParaRPr lang="en-US" sz="1801" noProof="0"/>
          </a:p>
        </p:txBody>
      </p:sp>
    </p:spTree>
    <p:extLst>
      <p:ext uri="{BB962C8B-B14F-4D97-AF65-F5344CB8AC3E}">
        <p14:creationId xmlns:p14="http://schemas.microsoft.com/office/powerpoint/2010/main" val="275829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D8A76DE-ECA0-60F4-575C-02C4077408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9254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D8A76DE-ECA0-60F4-575C-02C4077408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B9E7BD-B7D1-FF01-F546-0CADB6C2F4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5550" y="2909333"/>
            <a:ext cx="9389031" cy="1039334"/>
          </a:xfrm>
          <a:prstGeom prst="rect">
            <a:avLst/>
          </a:prstGeom>
        </p:spPr>
        <p:txBody>
          <a:bodyPr anchor="ctr"/>
          <a:lstStyle>
            <a:lvl1pPr>
              <a:defRPr sz="3200" b="1"/>
            </a:lvl1pPr>
          </a:lstStyle>
          <a:p>
            <a:pPr lvl="0"/>
            <a:r>
              <a:rPr lang="en-US"/>
              <a:t>## - Place section title here in sentence case, max 2 lines </a:t>
            </a:r>
          </a:p>
        </p:txBody>
      </p:sp>
    </p:spTree>
    <p:extLst>
      <p:ext uri="{BB962C8B-B14F-4D97-AF65-F5344CB8AC3E}">
        <p14:creationId xmlns:p14="http://schemas.microsoft.com/office/powerpoint/2010/main" val="609445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BCE4D4F-8CCC-404C-840E-8A45E07645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105608378"/>
              </p:ext>
            </p:extLst>
          </p:nvPr>
        </p:nvGraphicFramePr>
        <p:xfrm>
          <a:off x="1588" y="1587"/>
          <a:ext cx="158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395" imgH="394" progId="TCLayout.ActiveDocument.1">
                  <p:embed/>
                </p:oleObj>
              </mc:Choice>
              <mc:Fallback>
                <p:oleObj name="think-cell Slide" r:id="rId29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BCE4D4F-8CCC-404C-840E-8A45E07645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7"/>
                        <a:ext cx="158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C4AAB9D-85C6-43AB-8696-D55AD6DDE24E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0" y="1"/>
            <a:ext cx="158812" cy="158713"/>
          </a:xfrm>
          <a:prstGeom prst="rect">
            <a:avLst/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598" b="1" i="0" baseline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  <a:sym typeface="Graphik" panose="020B0503030202060203" pitchFamily="34" charset="0"/>
            </a:endParaRP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029236F-8D4F-46BA-A33A-11E2F113A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0946922" y="6401006"/>
            <a:ext cx="561476" cy="273402"/>
          </a:xfrm>
          <a:prstGeom prst="rect">
            <a:avLst/>
          </a:prstGeom>
        </p:spPr>
        <p:txBody>
          <a:bodyPr tIns="0" bIns="0" anchor="b"/>
          <a:lstStyle>
            <a:lvl1pPr algn="l">
              <a:defRPr sz="1001" b="0">
                <a:solidFill>
                  <a:schemeClr val="tx1"/>
                </a:solidFill>
                <a:latin typeface="+mj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37E62055-3E0F-4EBB-A962-F9600119E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5739" y="6402651"/>
            <a:ext cx="3733634" cy="270112"/>
          </a:xfrm>
          <a:prstGeom prst="rect">
            <a:avLst/>
          </a:prstGeom>
        </p:spPr>
        <p:txBody>
          <a:bodyPr tIns="0" bIns="0" anchor="ctr"/>
          <a:lstStyle>
            <a:lvl1pPr algn="l">
              <a:defRPr sz="8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r>
              <a:rPr lang="en-GB"/>
              <a:t>Source: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66CE9E3-35BA-4A0B-8098-8A65954FE472}"/>
              </a:ext>
            </a:extLst>
          </p:cNvPr>
          <p:cNvPicPr>
            <a:picLocks noChangeAspect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8897" y="6393635"/>
            <a:ext cx="350924" cy="28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0" r:id="rId2"/>
    <p:sldLayoutId id="2147483721" r:id="rId3"/>
    <p:sldLayoutId id="2147483722" r:id="rId4"/>
    <p:sldLayoutId id="2147483726" r:id="rId5"/>
    <p:sldLayoutId id="2147483740" r:id="rId6"/>
    <p:sldLayoutId id="2147483725" r:id="rId7"/>
    <p:sldLayoutId id="2147483727" r:id="rId8"/>
    <p:sldLayoutId id="2147483728" r:id="rId9"/>
    <p:sldLayoutId id="2147483729" r:id="rId10"/>
    <p:sldLayoutId id="2147483730" r:id="rId11"/>
    <p:sldLayoutId id="2147483739" r:id="rId12"/>
    <p:sldLayoutId id="2147483735" r:id="rId13"/>
    <p:sldLayoutId id="2147483736" r:id="rId14"/>
    <p:sldLayoutId id="2147483737" r:id="rId15"/>
    <p:sldLayoutId id="2147483738" r:id="rId16"/>
    <p:sldLayoutId id="2147483731" r:id="rId17"/>
    <p:sldLayoutId id="2147483732" r:id="rId18"/>
    <p:sldLayoutId id="2147483733" r:id="rId19"/>
    <p:sldLayoutId id="2147483734" r:id="rId20"/>
    <p:sldLayoutId id="2147483710" r:id="rId21"/>
    <p:sldLayoutId id="2147483719" r:id="rId22"/>
    <p:sldLayoutId id="2147483706" r:id="rId23"/>
    <p:sldLayoutId id="2147483707" r:id="rId24"/>
    <p:sldLayoutId id="2147483708" r:id="rId25"/>
  </p:sldLayoutIdLst>
  <p:hf hdr="0" ftr="0" dt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buFont typeface="Arial" charset="0"/>
        <a:defRPr lang="en-AU" sz="2800" b="1" i="0" kern="1200" cap="none" spc="-149" baseline="0" dirty="0" smtClean="0">
          <a:solidFill>
            <a:schemeClr val="tx1"/>
          </a:solidFill>
          <a:latin typeface="+mj-lt"/>
          <a:ea typeface="Roboto Black" panose="02000000000000000000" pitchFamily="2" charset="0"/>
          <a:cs typeface="Arial" panose="020B0604020202020204" pitchFamily="34" charset="0"/>
        </a:defRPr>
      </a:lvl1pPr>
      <a:lvl2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2pPr>
      <a:lvl3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3pPr>
      <a:lvl4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4pPr>
      <a:lvl5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5pPr>
      <a:lvl6pPr marL="609329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6pPr>
      <a:lvl7pPr marL="1218657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7pPr>
      <a:lvl8pPr marL="1827986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8pPr>
      <a:lvl9pPr marL="2437314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None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1pPr>
      <a:lvl2pPr marL="215960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•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2pPr>
      <a:lvl3pPr marL="431920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‒"/>
        <a:tabLst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3pPr>
      <a:lvl4pPr marL="611885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•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4pPr>
      <a:lvl5pPr marL="863838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‒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5pPr>
      <a:lvl6pPr marL="3351304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0634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69963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79290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329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657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986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314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643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971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298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626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9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pos="7452" userDrawn="1">
          <p15:clr>
            <a:srgbClr val="F26B43"/>
          </p15:clr>
        </p15:guide>
        <p15:guide id="4" pos="1276" userDrawn="1">
          <p15:clr>
            <a:srgbClr val="F26B43"/>
          </p15:clr>
        </p15:guide>
        <p15:guide id="5" pos="1460" userDrawn="1">
          <p15:clr>
            <a:srgbClr val="F26B43"/>
          </p15:clr>
        </p15:guide>
        <p15:guide id="6" pos="2514" userDrawn="1">
          <p15:clr>
            <a:srgbClr val="F26B43"/>
          </p15:clr>
        </p15:guide>
        <p15:guide id="7" pos="2697" userDrawn="1">
          <p15:clr>
            <a:srgbClr val="F26B43"/>
          </p15:clr>
        </p15:guide>
        <p15:guide id="8" pos="3929" userDrawn="1">
          <p15:clr>
            <a:srgbClr val="F26B43"/>
          </p15:clr>
        </p15:guide>
        <p15:guide id="9" pos="3748" userDrawn="1">
          <p15:clr>
            <a:srgbClr val="F26B43"/>
          </p15:clr>
        </p15:guide>
        <p15:guide id="10" pos="4981" userDrawn="1">
          <p15:clr>
            <a:srgbClr val="F26B43"/>
          </p15:clr>
        </p15:guide>
        <p15:guide id="11" pos="5163" userDrawn="1">
          <p15:clr>
            <a:srgbClr val="F26B43"/>
          </p15:clr>
        </p15:guide>
        <p15:guide id="12" pos="6219" userDrawn="1">
          <p15:clr>
            <a:srgbClr val="F26B43"/>
          </p15:clr>
        </p15:guide>
        <p15:guide id="13" pos="6398" userDrawn="1">
          <p15:clr>
            <a:srgbClr val="F26B43"/>
          </p15:clr>
        </p15:guide>
        <p15:guide id="14" orient="horz" pos="807" userDrawn="1">
          <p15:clr>
            <a:srgbClr val="F26B43"/>
          </p15:clr>
        </p15:guide>
        <p15:guide id="15" orient="horz" pos="876" userDrawn="1">
          <p15:clr>
            <a:srgbClr val="F26B43"/>
          </p15:clr>
        </p15:guide>
        <p15:guide id="16" orient="horz" pos="4031" userDrawn="1">
          <p15:clr>
            <a:srgbClr val="F26B43"/>
          </p15:clr>
        </p15:guide>
        <p15:guide id="17" orient="horz" pos="597" userDrawn="1">
          <p15:clr>
            <a:srgbClr val="F26B43"/>
          </p15:clr>
        </p15:guide>
        <p15:guide id="18" orient="horz" pos="2435" userDrawn="1">
          <p15:clr>
            <a:srgbClr val="F26B43"/>
          </p15:clr>
        </p15:guide>
        <p15:guide id="19" orient="horz" pos="3756" userDrawn="1">
          <p15:clr>
            <a:srgbClr val="F26B43"/>
          </p15:clr>
        </p15:guide>
        <p15:guide id="20" orient="horz" pos="41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28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8.sv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0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hyperlink" Target="https://crawford.anu.edu.au/sites/default/files/2025-04/20271%20ANU%20-%20TTPI%20Policy%20Report-FF%5B2%5D.pdf" TargetMode="Externa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004CB0-0CE3-3376-69B4-2522D3E318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045911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004CB0-0CE3-3376-69B4-2522D3E318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D4F42D9-7ACE-EF54-8740-DF8227CBF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7417" y="4309237"/>
            <a:ext cx="4698834" cy="797782"/>
          </a:xfrm>
        </p:spPr>
        <p:txBody>
          <a:bodyPr/>
          <a:lstStyle/>
          <a:p>
            <a:r>
              <a:rPr lang="en-US" dirty="0">
                <a:latin typeface="Graphik"/>
              </a:rPr>
              <a:t>Allegra Spender’s Tax White Paper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A241-86F8-9BA0-6847-FAF7BA0BC7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Personal Income Taxation Reform</a:t>
            </a:r>
          </a:p>
        </p:txBody>
      </p:sp>
    </p:spTree>
    <p:extLst>
      <p:ext uri="{BB962C8B-B14F-4D97-AF65-F5344CB8AC3E}">
        <p14:creationId xmlns:p14="http://schemas.microsoft.com/office/powerpoint/2010/main" val="3782843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22" hidden="1">
            <a:extLst>
              <a:ext uri="{FF2B5EF4-FFF2-40B4-BE49-F238E27FC236}">
                <a16:creationId xmlns:a16="http://schemas.microsoft.com/office/drawing/2014/main" id="{38772D30-D2FE-852F-DC1C-E16D2178871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9865886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3" name="Object 22" hidden="1">
                        <a:extLst>
                          <a:ext uri="{FF2B5EF4-FFF2-40B4-BE49-F238E27FC236}">
                            <a16:creationId xmlns:a16="http://schemas.microsoft.com/office/drawing/2014/main" id="{38772D30-D2FE-852F-DC1C-E16D217887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AF4BF-807B-AB8D-6688-A48DE41EA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514A5BAA-D5B0-EBF0-77C3-914B0325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Intergenerational inequity the guiding concern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12FD4F1-48D2-B930-DFAA-C106B6DC1689}"/>
              </a:ext>
            </a:extLst>
          </p:cNvPr>
          <p:cNvSpPr txBox="1">
            <a:spLocks/>
          </p:cNvSpPr>
          <p:nvPr/>
        </p:nvSpPr>
        <p:spPr>
          <a:xfrm flipH="1">
            <a:off x="10946922" y="6401006"/>
            <a:ext cx="561476" cy="273403"/>
          </a:xfrm>
          <a:prstGeom prst="rect">
            <a:avLst/>
          </a:prstGeom>
        </p:spPr>
        <p:txBody>
          <a:bodyPr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z="1001"/>
              <a:pPr/>
              <a:t>2</a:t>
            </a:fld>
            <a:endParaRPr lang="en-US" sz="100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91DB1D-73F4-D0ED-B739-49B7CA962505}"/>
              </a:ext>
            </a:extLst>
          </p:cNvPr>
          <p:cNvSpPr/>
          <p:nvPr/>
        </p:nvSpPr>
        <p:spPr>
          <a:xfrm>
            <a:off x="8205068" y="3308874"/>
            <a:ext cx="3635236" cy="1705386"/>
          </a:xfrm>
          <a:prstGeom prst="rect">
            <a:avLst/>
          </a:prstGeom>
          <a:solidFill>
            <a:srgbClr val="BEBEBE">
              <a:lumMod val="20000"/>
              <a:lumOff val="80000"/>
            </a:srgb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65A7B2-3272-0F33-AF13-D8C322CF0E62}"/>
              </a:ext>
            </a:extLst>
          </p:cNvPr>
          <p:cNvSpPr/>
          <p:nvPr/>
        </p:nvSpPr>
        <p:spPr>
          <a:xfrm>
            <a:off x="4280403" y="3313756"/>
            <a:ext cx="3635236" cy="1698860"/>
          </a:xfrm>
          <a:prstGeom prst="rect">
            <a:avLst/>
          </a:prstGeom>
          <a:solidFill>
            <a:srgbClr val="BEBEBE">
              <a:lumMod val="20000"/>
              <a:lumOff val="80000"/>
            </a:srgb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5FFDDB-30C6-0D32-776E-3AB3AD727975}"/>
              </a:ext>
            </a:extLst>
          </p:cNvPr>
          <p:cNvSpPr/>
          <p:nvPr/>
        </p:nvSpPr>
        <p:spPr>
          <a:xfrm>
            <a:off x="355738" y="3313756"/>
            <a:ext cx="3635236" cy="1698860"/>
          </a:xfrm>
          <a:prstGeom prst="rect">
            <a:avLst/>
          </a:prstGeom>
          <a:solidFill>
            <a:srgbClr val="BEBEBE">
              <a:lumMod val="20000"/>
              <a:lumOff val="80000"/>
            </a:srgb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Donut 13">
            <a:extLst>
              <a:ext uri="{FF2B5EF4-FFF2-40B4-BE49-F238E27FC236}">
                <a16:creationId xmlns:a16="http://schemas.microsoft.com/office/drawing/2014/main" id="{69454CD1-F92B-9A0A-96D6-53DE4DFDFD33}"/>
              </a:ext>
            </a:extLst>
          </p:cNvPr>
          <p:cNvSpPr/>
          <p:nvPr/>
        </p:nvSpPr>
        <p:spPr>
          <a:xfrm>
            <a:off x="1569202" y="1496274"/>
            <a:ext cx="1239140" cy="1215237"/>
          </a:xfrm>
          <a:prstGeom prst="donut">
            <a:avLst>
              <a:gd name="adj" fmla="val 10524"/>
            </a:avLst>
          </a:prstGeom>
          <a:solidFill>
            <a:schemeClr val="accent3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kern="0" err="1">
              <a:solidFill>
                <a:srgbClr val="000000"/>
              </a:solidFill>
              <a:latin typeface="Proxima Nova Rg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3EA4B3E-5ABC-9D29-9E9F-284441F7B5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45894" y="1885589"/>
            <a:ext cx="671262" cy="409012"/>
          </a:xfrm>
          <a:prstGeom prst="rect">
            <a:avLst/>
          </a:prstGeom>
        </p:spPr>
      </p:pic>
      <p:sp>
        <p:nvSpPr>
          <p:cNvPr id="13" name="Donut 16">
            <a:extLst>
              <a:ext uri="{FF2B5EF4-FFF2-40B4-BE49-F238E27FC236}">
                <a16:creationId xmlns:a16="http://schemas.microsoft.com/office/drawing/2014/main" id="{E50395AC-5191-D1C2-45B6-8FA2A6474E7B}"/>
              </a:ext>
            </a:extLst>
          </p:cNvPr>
          <p:cNvSpPr/>
          <p:nvPr/>
        </p:nvSpPr>
        <p:spPr>
          <a:xfrm>
            <a:off x="9396234" y="1491558"/>
            <a:ext cx="1256962" cy="1232715"/>
          </a:xfrm>
          <a:prstGeom prst="donut">
            <a:avLst>
              <a:gd name="adj" fmla="val 10524"/>
            </a:avLst>
          </a:prstGeom>
          <a:solidFill>
            <a:schemeClr val="accent5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kern="0" err="1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4" name="Donut 14">
            <a:extLst>
              <a:ext uri="{FF2B5EF4-FFF2-40B4-BE49-F238E27FC236}">
                <a16:creationId xmlns:a16="http://schemas.microsoft.com/office/drawing/2014/main" id="{CE3B6031-F9D2-D9B5-5097-CEF8CACADE98}"/>
              </a:ext>
            </a:extLst>
          </p:cNvPr>
          <p:cNvSpPr/>
          <p:nvPr/>
        </p:nvSpPr>
        <p:spPr>
          <a:xfrm>
            <a:off x="5499033" y="1480674"/>
            <a:ext cx="1239140" cy="1215237"/>
          </a:xfrm>
          <a:prstGeom prst="donut">
            <a:avLst>
              <a:gd name="adj" fmla="val 10524"/>
            </a:avLst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kern="0" err="1">
              <a:solidFill>
                <a:srgbClr val="000000"/>
              </a:solidFill>
              <a:latin typeface="Proxima Nova Rg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96A8D26-55D3-59FE-921E-4892DF693F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82973" y="1885589"/>
            <a:ext cx="671262" cy="409012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50F9400-916D-6ED0-2074-C414BB21DF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87057" y="1885589"/>
            <a:ext cx="671262" cy="409012"/>
          </a:xfrm>
          <a:prstGeom prst="rect">
            <a:avLst/>
          </a:prstGeom>
        </p:spPr>
      </p:pic>
      <p:sp>
        <p:nvSpPr>
          <p:cNvPr id="17" name="Text Placeholder 158">
            <a:extLst>
              <a:ext uri="{FF2B5EF4-FFF2-40B4-BE49-F238E27FC236}">
                <a16:creationId xmlns:a16="http://schemas.microsoft.com/office/drawing/2014/main" id="{F664712D-CEA7-6A91-29EA-5562E2E5A70D}"/>
              </a:ext>
            </a:extLst>
          </p:cNvPr>
          <p:cNvSpPr txBox="1">
            <a:spLocks/>
          </p:cNvSpPr>
          <p:nvPr/>
        </p:nvSpPr>
        <p:spPr>
          <a:xfrm>
            <a:off x="396056" y="3394495"/>
            <a:ext cx="3554604" cy="952462"/>
          </a:xfrm>
          <a:prstGeom prst="rect">
            <a:avLst/>
          </a:prstGeom>
        </p:spPr>
        <p:txBody>
          <a:bodyPr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 dirty="0"/>
              <a:t>Home buying and raising a child –things that young people are delaying relative to earlier generations.</a:t>
            </a:r>
          </a:p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 dirty="0"/>
              <a:t>Also less entrepreneurship and business formation.</a:t>
            </a:r>
          </a:p>
        </p:txBody>
      </p:sp>
      <p:sp>
        <p:nvSpPr>
          <p:cNvPr id="18" name="Text Placeholder 158">
            <a:extLst>
              <a:ext uri="{FF2B5EF4-FFF2-40B4-BE49-F238E27FC236}">
                <a16:creationId xmlns:a16="http://schemas.microsoft.com/office/drawing/2014/main" id="{23983DF6-4E98-D8D8-4264-0B1C0087FA9F}"/>
              </a:ext>
            </a:extLst>
          </p:cNvPr>
          <p:cNvSpPr txBox="1">
            <a:spLocks/>
          </p:cNvSpPr>
          <p:nvPr/>
        </p:nvSpPr>
        <p:spPr>
          <a:xfrm>
            <a:off x="4320721" y="3394495"/>
            <a:ext cx="3554604" cy="952462"/>
          </a:xfrm>
          <a:prstGeom prst="rect">
            <a:avLst/>
          </a:prstGeom>
        </p:spPr>
        <p:txBody>
          <a:bodyPr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 dirty="0"/>
              <a:t>Average tax rate has risen over past 20 years.</a:t>
            </a:r>
          </a:p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 dirty="0"/>
              <a:t>Rising average income tax rates through time mean current cohorts face a higher tax rate.</a:t>
            </a:r>
          </a:p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 dirty="0"/>
              <a:t>Older people paying “lower tax rates” due to how they earn their income.</a:t>
            </a:r>
          </a:p>
        </p:txBody>
      </p:sp>
      <p:sp>
        <p:nvSpPr>
          <p:cNvPr id="19" name="Text Placeholder 158">
            <a:extLst>
              <a:ext uri="{FF2B5EF4-FFF2-40B4-BE49-F238E27FC236}">
                <a16:creationId xmlns:a16="http://schemas.microsoft.com/office/drawing/2014/main" id="{CC6EE1FD-AE5E-87FE-343D-CF7174A9F8A9}"/>
              </a:ext>
            </a:extLst>
          </p:cNvPr>
          <p:cNvSpPr txBox="1">
            <a:spLocks/>
          </p:cNvSpPr>
          <p:nvPr/>
        </p:nvSpPr>
        <p:spPr>
          <a:xfrm>
            <a:off x="8245386" y="3394495"/>
            <a:ext cx="3554604" cy="952462"/>
          </a:xfrm>
          <a:prstGeom prst="rect">
            <a:avLst/>
          </a:prstGeom>
        </p:spPr>
        <p:txBody>
          <a:bodyPr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 dirty="0"/>
              <a:t>Low productivity reduces income growth for the currently young (reduces value of human capital).</a:t>
            </a:r>
          </a:p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 dirty="0"/>
              <a:t>Tax stopping investment in skills.</a:t>
            </a:r>
          </a:p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 dirty="0"/>
              <a:t>Tax stopping investment in physical capital.</a:t>
            </a:r>
          </a:p>
        </p:txBody>
      </p:sp>
      <p:sp>
        <p:nvSpPr>
          <p:cNvPr id="20" name="Text Placeholder 125">
            <a:extLst>
              <a:ext uri="{FF2B5EF4-FFF2-40B4-BE49-F238E27FC236}">
                <a16:creationId xmlns:a16="http://schemas.microsoft.com/office/drawing/2014/main" id="{CB6E60F3-629A-D90A-816B-03AEB907F0FB}"/>
              </a:ext>
            </a:extLst>
          </p:cNvPr>
          <p:cNvSpPr txBox="1">
            <a:spLocks/>
          </p:cNvSpPr>
          <p:nvPr/>
        </p:nvSpPr>
        <p:spPr>
          <a:xfrm>
            <a:off x="913359" y="2858143"/>
            <a:ext cx="2519998" cy="308981"/>
          </a:xfrm>
          <a:prstGeom prst="rect">
            <a:avLst/>
          </a:prstGeom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 dirty="0">
                <a:solidFill>
                  <a:schemeClr val="accent1"/>
                </a:solidFill>
              </a:rPr>
              <a:t>Delayed milestones</a:t>
            </a:r>
          </a:p>
        </p:txBody>
      </p:sp>
      <p:sp>
        <p:nvSpPr>
          <p:cNvPr id="21" name="Text Placeholder 125">
            <a:extLst>
              <a:ext uri="{FF2B5EF4-FFF2-40B4-BE49-F238E27FC236}">
                <a16:creationId xmlns:a16="http://schemas.microsoft.com/office/drawing/2014/main" id="{63E3776C-FFB1-7437-DBF0-D38CD953D620}"/>
              </a:ext>
            </a:extLst>
          </p:cNvPr>
          <p:cNvSpPr txBox="1">
            <a:spLocks/>
          </p:cNvSpPr>
          <p:nvPr/>
        </p:nvSpPr>
        <p:spPr>
          <a:xfrm>
            <a:off x="4836003" y="2858143"/>
            <a:ext cx="2519998" cy="308981"/>
          </a:xfrm>
          <a:prstGeom prst="rect">
            <a:avLst/>
          </a:prstGeom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 dirty="0">
                <a:solidFill>
                  <a:schemeClr val="accent1"/>
                </a:solidFill>
              </a:rPr>
              <a:t>Rising tax rates</a:t>
            </a:r>
          </a:p>
        </p:txBody>
      </p:sp>
      <p:sp>
        <p:nvSpPr>
          <p:cNvPr id="22" name="Text Placeholder 125">
            <a:extLst>
              <a:ext uri="{FF2B5EF4-FFF2-40B4-BE49-F238E27FC236}">
                <a16:creationId xmlns:a16="http://schemas.microsoft.com/office/drawing/2014/main" id="{9E056A03-3441-7417-AB33-546503F263F9}"/>
              </a:ext>
            </a:extLst>
          </p:cNvPr>
          <p:cNvSpPr txBox="1">
            <a:spLocks/>
          </p:cNvSpPr>
          <p:nvPr/>
        </p:nvSpPr>
        <p:spPr>
          <a:xfrm>
            <a:off x="8762691" y="2858143"/>
            <a:ext cx="2519998" cy="308981"/>
          </a:xfrm>
          <a:prstGeom prst="rect">
            <a:avLst/>
          </a:prstGeom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>
                <a:solidFill>
                  <a:schemeClr val="accent1"/>
                </a:solidFill>
              </a:rPr>
              <a:t>Role of low </a:t>
            </a:r>
            <a:r>
              <a:rPr lang="en-AU" sz="1401" dirty="0">
                <a:solidFill>
                  <a:schemeClr val="accent1"/>
                </a:solidFill>
              </a:rPr>
              <a:t>productivity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A3DE87-EC56-14FB-2D8F-33973E3C210D}"/>
              </a:ext>
            </a:extLst>
          </p:cNvPr>
          <p:cNvSpPr txBox="1"/>
          <p:nvPr/>
        </p:nvSpPr>
        <p:spPr>
          <a:xfrm>
            <a:off x="913359" y="5439109"/>
            <a:ext cx="10399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Tax system </a:t>
            </a:r>
            <a:r>
              <a:rPr lang="en-US" sz="1600" b="1" dirty="0"/>
              <a:t>can</a:t>
            </a:r>
            <a:r>
              <a:rPr lang="en-US" sz="1600" dirty="0"/>
              <a:t> and </a:t>
            </a:r>
            <a:r>
              <a:rPr lang="en-US" sz="1600" b="1" dirty="0"/>
              <a:t>should</a:t>
            </a:r>
            <a:r>
              <a:rPr lang="en-US" sz="1600" dirty="0"/>
              <a:t> address this by: </a:t>
            </a:r>
            <a:r>
              <a:rPr lang="en-US" sz="1600" dirty="0" err="1"/>
              <a:t>i</a:t>
            </a:r>
            <a:r>
              <a:rPr lang="en-US" sz="1600" dirty="0"/>
              <a:t>) redistributing from the currently older ii) neutralizing distortions. </a:t>
            </a:r>
            <a:endParaRPr lang="en-NZ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8AA20-CEB7-3C32-44E1-915ECE3A7EDE}"/>
              </a:ext>
            </a:extLst>
          </p:cNvPr>
          <p:cNvSpPr txBox="1"/>
          <p:nvPr/>
        </p:nvSpPr>
        <p:spPr>
          <a:xfrm>
            <a:off x="913359" y="6162631"/>
            <a:ext cx="9328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But spending restraint also needed to reduce average tax rates – so tax package is “revenue-neutral”.</a:t>
            </a:r>
            <a:endParaRPr lang="en-NZ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F9F8DE-4206-FF3F-B569-31F0A66ED546}"/>
              </a:ext>
            </a:extLst>
          </p:cNvPr>
          <p:cNvSpPr txBox="1"/>
          <p:nvPr/>
        </p:nvSpPr>
        <p:spPr>
          <a:xfrm>
            <a:off x="913359" y="5785503"/>
            <a:ext cx="8645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Capital is taxed at lower rates than </a:t>
            </a:r>
            <a:r>
              <a:rPr lang="en-US" sz="1600" dirty="0" err="1"/>
              <a:t>labour</a:t>
            </a:r>
            <a:r>
              <a:rPr lang="en-US" sz="1600" dirty="0"/>
              <a:t> income – when we should treat a dollar as a dollar.</a:t>
            </a:r>
            <a:endParaRPr lang="en-NZ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34175E-43AA-E24E-2A51-B37326E62BF5}"/>
              </a:ext>
            </a:extLst>
          </p:cNvPr>
          <p:cNvSpPr txBox="1"/>
          <p:nvPr/>
        </p:nvSpPr>
        <p:spPr>
          <a:xfrm>
            <a:off x="299212" y="5100788"/>
            <a:ext cx="1407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Takeaways:</a:t>
            </a:r>
            <a:endParaRPr lang="en-NZ" sz="1600" b="1" dirty="0"/>
          </a:p>
        </p:txBody>
      </p:sp>
    </p:spTree>
    <p:extLst>
      <p:ext uri="{BB962C8B-B14F-4D97-AF65-F5344CB8AC3E}">
        <p14:creationId xmlns:p14="http://schemas.microsoft.com/office/powerpoint/2010/main" val="1094396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Object 51" hidden="1">
            <a:extLst>
              <a:ext uri="{FF2B5EF4-FFF2-40B4-BE49-F238E27FC236}">
                <a16:creationId xmlns:a16="http://schemas.microsoft.com/office/drawing/2014/main" id="{5412032F-C466-D159-520A-8C6EB0C27E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2" name="Object 51" hidden="1">
                        <a:extLst>
                          <a:ext uri="{FF2B5EF4-FFF2-40B4-BE49-F238E27FC236}">
                            <a16:creationId xmlns:a16="http://schemas.microsoft.com/office/drawing/2014/main" id="{5412032F-C466-D159-520A-8C6EB0C27E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3" name="Title 62">
            <a:extLst>
              <a:ext uri="{FF2B5EF4-FFF2-40B4-BE49-F238E27FC236}">
                <a16:creationId xmlns:a16="http://schemas.microsoft.com/office/drawing/2014/main" id="{E4D1C1F1-E9E2-F45D-91D6-D6E6E566C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29" y="51457"/>
            <a:ext cx="11459365" cy="700597"/>
          </a:xfrm>
        </p:spPr>
        <p:txBody>
          <a:bodyPr/>
          <a:lstStyle/>
          <a:p>
            <a:r>
              <a:rPr lang="en-AU" dirty="0"/>
              <a:t>Proposals</a:t>
            </a:r>
          </a:p>
        </p:txBody>
      </p:sp>
      <p:pic>
        <p:nvPicPr>
          <p:cNvPr id="22" name="Graphic 21" descr="Fast Forward with solid fill">
            <a:extLst>
              <a:ext uri="{FF2B5EF4-FFF2-40B4-BE49-F238E27FC236}">
                <a16:creationId xmlns:a16="http://schemas.microsoft.com/office/drawing/2014/main" id="{85FEED6B-6C9D-815B-DAEE-7C1E6B443D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67360" y="2384552"/>
            <a:ext cx="547819" cy="547819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F028351E-15EA-3A94-6C65-10A4E996F2B1}"/>
              </a:ext>
            </a:extLst>
          </p:cNvPr>
          <p:cNvGrpSpPr/>
          <p:nvPr/>
        </p:nvGrpSpPr>
        <p:grpSpPr>
          <a:xfrm>
            <a:off x="6169482" y="1956009"/>
            <a:ext cx="3532239" cy="859396"/>
            <a:chOff x="8297542" y="2836799"/>
            <a:chExt cx="3532239" cy="85939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741A9C4-C833-C058-DB50-EEE1D09F453E}"/>
                </a:ext>
              </a:extLst>
            </p:cNvPr>
            <p:cNvSpPr/>
            <p:nvPr/>
          </p:nvSpPr>
          <p:spPr>
            <a:xfrm>
              <a:off x="9526266" y="2836799"/>
              <a:ext cx="2303515" cy="859396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9050" cap="flat" cmpd="sng" algn="ctr">
              <a:noFill/>
              <a:prstDash val="sysDot"/>
              <a:headEnd type="none" w="med" len="med"/>
              <a:tailEnd type="none" w="med" len="med"/>
            </a:ln>
            <a:effectLst/>
          </p:spPr>
          <p:txBody>
            <a:bodyPr lIns="365760" tIns="91440" rIns="91440" bIns="91440" rtlCol="0" anchor="ctr">
              <a:noAutofit/>
            </a:bodyPr>
            <a:lstStyle/>
            <a:p>
              <a:pPr defTabSz="914411">
                <a:defRPr/>
              </a:pPr>
              <a:endParaRPr lang="en-US" sz="1200" kern="0">
                <a:solidFill>
                  <a:srgbClr val="000000"/>
                </a:solidFill>
                <a:latin typeface="Proxima Nova Rg"/>
              </a:endParaRPr>
            </a:p>
          </p:txBody>
        </p:sp>
        <p:sp>
          <p:nvSpPr>
            <p:cNvPr id="16" name="Arrow: Pentagon 15">
              <a:extLst>
                <a:ext uri="{FF2B5EF4-FFF2-40B4-BE49-F238E27FC236}">
                  <a16:creationId xmlns:a16="http://schemas.microsoft.com/office/drawing/2014/main" id="{89A6D8B6-E420-6E9E-B38D-DE373FCF1D3A}"/>
                </a:ext>
              </a:extLst>
            </p:cNvPr>
            <p:cNvSpPr/>
            <p:nvPr/>
          </p:nvSpPr>
          <p:spPr>
            <a:xfrm>
              <a:off x="8297542" y="2836799"/>
              <a:ext cx="1466850" cy="859396"/>
            </a:xfrm>
            <a:prstGeom prst="homePlate">
              <a:avLst>
                <a:gd name="adj" fmla="val 20000"/>
              </a:avLst>
            </a:prstGeom>
            <a:solidFill>
              <a:srgbClr val="33A7AB"/>
            </a:solidFill>
            <a:ln w="19050" cap="flat" cmpd="sng" algn="ctr">
              <a:noFill/>
              <a:prstDash val="sysDot"/>
              <a:headEnd type="none" w="med" len="med"/>
              <a:tailEnd type="none" w="med" len="med"/>
            </a:ln>
            <a:effectLst/>
          </p:spPr>
          <p:txBody>
            <a:bodyPr lIns="91440" tIns="91440" rIns="91440" bIns="91440" rtlCol="0" anchor="ctr">
              <a:noAutofit/>
            </a:bodyPr>
            <a:lstStyle/>
            <a:p>
              <a:pPr defTabSz="914411">
                <a:defRPr/>
              </a:pPr>
              <a:endParaRPr lang="en-US" sz="1200" b="1" kern="0">
                <a:solidFill>
                  <a:schemeClr val="accent1"/>
                </a:solidFill>
                <a:latin typeface="Proxima Nova Rg"/>
              </a:endParaRPr>
            </a:p>
          </p:txBody>
        </p:sp>
        <p:sp>
          <p:nvSpPr>
            <p:cNvPr id="31" name="SmartArt Placeholder 95">
              <a:extLst>
                <a:ext uri="{FF2B5EF4-FFF2-40B4-BE49-F238E27FC236}">
                  <a16:creationId xmlns:a16="http://schemas.microsoft.com/office/drawing/2014/main" id="{CD9AE360-29AC-3D64-1116-7B923665742D}"/>
                </a:ext>
              </a:extLst>
            </p:cNvPr>
            <p:cNvSpPr txBox="1">
              <a:spLocks/>
            </p:cNvSpPr>
            <p:nvPr/>
          </p:nvSpPr>
          <p:spPr>
            <a:xfrm>
              <a:off x="8297544" y="2836799"/>
              <a:ext cx="1123948" cy="858837"/>
            </a:xfrm>
            <a:prstGeom prst="homePlate">
              <a:avLst>
                <a:gd name="adj" fmla="val 19911"/>
              </a:avLst>
            </a:prstGeom>
          </p:spPr>
          <p:txBody>
            <a:bodyPr anchor="ctr"/>
            <a:lstStyle>
              <a:lvl1pPr marL="0" indent="0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None/>
                <a:defRPr kumimoji="0" lang="en-US" sz="1200" b="1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oxima Nova Rg"/>
                  <a:ea typeface="+mn-ea"/>
                  <a:cs typeface="+mn-cs"/>
                </a:defRPr>
              </a:lvl1pPr>
              <a:lvl2pPr marL="215957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2pPr>
              <a:lvl3pPr marL="431914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‒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3pPr>
              <a:lvl4pPr marL="611878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4pPr>
              <a:lvl5pPr marL="863827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‒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5pPr>
              <a:lvl6pPr marL="3351263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0584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69905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79225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AU" dirty="0"/>
                <a:t>Minimum tax rate on capital income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F2E0E81-2C4A-4541-A9D7-6C157AFCB16C}"/>
              </a:ext>
            </a:extLst>
          </p:cNvPr>
          <p:cNvGrpSpPr/>
          <p:nvPr/>
        </p:nvGrpSpPr>
        <p:grpSpPr>
          <a:xfrm>
            <a:off x="518506" y="5229500"/>
            <a:ext cx="3532188" cy="859396"/>
            <a:chOff x="4629149" y="5017525"/>
            <a:chExt cx="3532188" cy="859396"/>
          </a:xfrm>
        </p:grpSpPr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D59FDFD0-E64C-2DC5-B5EE-9003B929A02D}"/>
                </a:ext>
              </a:extLst>
            </p:cNvPr>
            <p:cNvSpPr/>
            <p:nvPr/>
          </p:nvSpPr>
          <p:spPr>
            <a:xfrm>
              <a:off x="4629149" y="5017525"/>
              <a:ext cx="1466850" cy="859396"/>
            </a:xfrm>
            <a:prstGeom prst="homePlate">
              <a:avLst>
                <a:gd name="adj" fmla="val 20000"/>
              </a:avLst>
            </a:prstGeom>
            <a:solidFill>
              <a:schemeClr val="accent3"/>
            </a:solidFill>
            <a:ln w="19050" cap="flat" cmpd="sng" algn="ctr">
              <a:noFill/>
              <a:prstDash val="sysDot"/>
              <a:headEnd type="none" w="med" len="med"/>
              <a:tailEnd type="none" w="med" len="med"/>
            </a:ln>
            <a:effectLst/>
          </p:spPr>
          <p:txBody>
            <a:bodyPr lIns="91440" tIns="91440" rIns="91440" bIns="91440" rtlCol="0" anchor="ctr">
              <a:noAutofit/>
            </a:bodyPr>
            <a:lstStyle/>
            <a:p>
              <a:pPr defTabSz="914411">
                <a:defRPr/>
              </a:pPr>
              <a:endParaRPr lang="en-US" sz="1200" b="1" kern="0">
                <a:solidFill>
                  <a:schemeClr val="accent1"/>
                </a:solidFill>
                <a:latin typeface="Proxima Nova Rg"/>
              </a:endParaRPr>
            </a:p>
          </p:txBody>
        </p:sp>
        <p:sp>
          <p:nvSpPr>
            <p:cNvPr id="30" name="SmartArt Placeholder 95">
              <a:extLst>
                <a:ext uri="{FF2B5EF4-FFF2-40B4-BE49-F238E27FC236}">
                  <a16:creationId xmlns:a16="http://schemas.microsoft.com/office/drawing/2014/main" id="{C4AAF949-2D41-9936-4A98-C1E1DAF6AFE5}"/>
                </a:ext>
              </a:extLst>
            </p:cNvPr>
            <p:cNvSpPr txBox="1">
              <a:spLocks/>
            </p:cNvSpPr>
            <p:nvPr/>
          </p:nvSpPr>
          <p:spPr>
            <a:xfrm>
              <a:off x="4629150" y="5018083"/>
              <a:ext cx="1123950" cy="858837"/>
            </a:xfrm>
            <a:prstGeom prst="homePlate">
              <a:avLst>
                <a:gd name="adj" fmla="val 19911"/>
              </a:avLst>
            </a:prstGeom>
          </p:spPr>
          <p:txBody>
            <a:bodyPr anchor="ctr"/>
            <a:lstStyle>
              <a:lvl1pPr marL="0" indent="0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None/>
                <a:defRPr kumimoji="0" lang="en-US" sz="1200" b="1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oxima Nova Rg"/>
                  <a:ea typeface="+mn-ea"/>
                  <a:cs typeface="+mn-cs"/>
                </a:defRPr>
              </a:lvl1pPr>
              <a:lvl2pPr marL="215957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2pPr>
              <a:lvl3pPr marL="431914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‒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3pPr>
              <a:lvl4pPr marL="611878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4pPr>
              <a:lvl5pPr marL="863827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‒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5pPr>
              <a:lvl6pPr marL="3351263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0584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69905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79225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AU" dirty="0"/>
                <a:t>Working income tax credit</a:t>
              </a:r>
            </a:p>
          </p:txBody>
        </p:sp>
        <p:sp>
          <p:nvSpPr>
            <p:cNvPr id="36" name="Text Placeholder 103">
              <a:extLst>
                <a:ext uri="{FF2B5EF4-FFF2-40B4-BE49-F238E27FC236}">
                  <a16:creationId xmlns:a16="http://schemas.microsoft.com/office/drawing/2014/main" id="{B31343BA-6A31-229C-3F04-2D6F90A6317E}"/>
                </a:ext>
              </a:extLst>
            </p:cNvPr>
            <p:cNvSpPr txBox="1">
              <a:spLocks/>
            </p:cNvSpPr>
            <p:nvPr/>
          </p:nvSpPr>
          <p:spPr>
            <a:xfrm>
              <a:off x="5857874" y="5018083"/>
              <a:ext cx="2303463" cy="858837"/>
            </a:xfrm>
            <a:prstGeom prst="rect">
              <a:avLst/>
            </a:prstGeom>
          </p:spPr>
          <p:txBody>
            <a:bodyPr anchor="ctr"/>
            <a:lstStyle>
              <a:lvl1pPr marL="268288" indent="0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None/>
                <a:defRPr kumimoji="0" lang="en-US" sz="1200" b="0" i="0" u="none" strike="noStrike" kern="0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roxima Nova Rg"/>
                  <a:ea typeface="+mn-ea"/>
                  <a:cs typeface="+mn-cs"/>
                </a:defRPr>
              </a:lvl1pPr>
              <a:lvl2pPr marL="215957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2pPr>
              <a:lvl3pPr marL="431914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‒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3pPr>
              <a:lvl4pPr marL="611878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4pPr>
              <a:lvl5pPr marL="863827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‒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5pPr>
              <a:lvl6pPr marL="3351263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0584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69905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79225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dirty="0"/>
                <a:t>Differentiates labour and capital earnings</a:t>
              </a:r>
            </a:p>
          </p:txBody>
        </p:sp>
      </p:grpSp>
      <p:sp>
        <p:nvSpPr>
          <p:cNvPr id="37" name="Text Placeholder 103">
            <a:extLst>
              <a:ext uri="{FF2B5EF4-FFF2-40B4-BE49-F238E27FC236}">
                <a16:creationId xmlns:a16="http://schemas.microsoft.com/office/drawing/2014/main" id="{73B89EB1-5460-1E09-7014-04967C80ABF0}"/>
              </a:ext>
            </a:extLst>
          </p:cNvPr>
          <p:cNvSpPr txBox="1">
            <a:spLocks/>
          </p:cNvSpPr>
          <p:nvPr/>
        </p:nvSpPr>
        <p:spPr>
          <a:xfrm>
            <a:off x="7398258" y="1927640"/>
            <a:ext cx="2303463" cy="858837"/>
          </a:xfrm>
          <a:prstGeom prst="rect">
            <a:avLst/>
          </a:prstGeom>
        </p:spPr>
        <p:txBody>
          <a:bodyPr anchor="ctr"/>
          <a:lstStyle>
            <a:lvl1pPr marL="268288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27%, no tax-free threshold</a:t>
            </a:r>
          </a:p>
        </p:txBody>
      </p:sp>
      <p:sp>
        <p:nvSpPr>
          <p:cNvPr id="38" name="Text Placeholder 103">
            <a:extLst>
              <a:ext uri="{FF2B5EF4-FFF2-40B4-BE49-F238E27FC236}">
                <a16:creationId xmlns:a16="http://schemas.microsoft.com/office/drawing/2014/main" id="{387C7E32-E205-5882-9F34-ACBD9E427191}"/>
              </a:ext>
            </a:extLst>
          </p:cNvPr>
          <p:cNvSpPr txBox="1">
            <a:spLocks/>
          </p:cNvSpPr>
          <p:nvPr/>
        </p:nvSpPr>
        <p:spPr>
          <a:xfrm>
            <a:off x="9526318" y="3936769"/>
            <a:ext cx="2303463" cy="858837"/>
          </a:xfrm>
          <a:prstGeom prst="rect">
            <a:avLst/>
          </a:prstGeom>
        </p:spPr>
        <p:txBody>
          <a:bodyPr anchor="ctr"/>
          <a:lstStyle>
            <a:lvl1pPr marL="268288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dirty="0"/>
          </a:p>
        </p:txBody>
      </p:sp>
      <p:sp>
        <p:nvSpPr>
          <p:cNvPr id="40" name="Text Placeholder 128">
            <a:extLst>
              <a:ext uri="{FF2B5EF4-FFF2-40B4-BE49-F238E27FC236}">
                <a16:creationId xmlns:a16="http://schemas.microsoft.com/office/drawing/2014/main" id="{1160F7B3-F48F-3AFF-DE20-EE1C50F68191}"/>
              </a:ext>
            </a:extLst>
          </p:cNvPr>
          <p:cNvSpPr txBox="1">
            <a:spLocks/>
          </p:cNvSpPr>
          <p:nvPr/>
        </p:nvSpPr>
        <p:spPr>
          <a:xfrm>
            <a:off x="549088" y="3696265"/>
            <a:ext cx="3532188" cy="38893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Making work pay</a:t>
            </a:r>
          </a:p>
        </p:txBody>
      </p:sp>
      <p:sp>
        <p:nvSpPr>
          <p:cNvPr id="41" name="Text Placeholder 128">
            <a:extLst>
              <a:ext uri="{FF2B5EF4-FFF2-40B4-BE49-F238E27FC236}">
                <a16:creationId xmlns:a16="http://schemas.microsoft.com/office/drawing/2014/main" id="{01DE9BFF-5BD1-064D-2A32-BE9193784A88}"/>
              </a:ext>
            </a:extLst>
          </p:cNvPr>
          <p:cNvSpPr txBox="1">
            <a:spLocks/>
          </p:cNvSpPr>
          <p:nvPr/>
        </p:nvSpPr>
        <p:spPr>
          <a:xfrm>
            <a:off x="6169533" y="1431981"/>
            <a:ext cx="3532188" cy="38893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Funding this</a:t>
            </a:r>
          </a:p>
        </p:txBody>
      </p:sp>
      <p:pic>
        <p:nvPicPr>
          <p:cNvPr id="42" name="Graphic 41" descr="Fast Forward with solid fill">
            <a:extLst>
              <a:ext uri="{FF2B5EF4-FFF2-40B4-BE49-F238E27FC236}">
                <a16:creationId xmlns:a16="http://schemas.microsoft.com/office/drawing/2014/main" id="{7B3230F4-949C-AD9B-E7D0-2261A881C0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67360" y="4145444"/>
            <a:ext cx="547819" cy="547819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D076E74C-B1E5-ABD8-CC8D-1AD781AD4C1D}"/>
              </a:ext>
            </a:extLst>
          </p:cNvPr>
          <p:cNvGrpSpPr/>
          <p:nvPr/>
        </p:nvGrpSpPr>
        <p:grpSpPr>
          <a:xfrm>
            <a:off x="6169507" y="3018678"/>
            <a:ext cx="3532239" cy="859396"/>
            <a:chOff x="8297542" y="3936212"/>
            <a:chExt cx="3532239" cy="85939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3B42044-A710-60F8-5AC1-177642151C1C}"/>
                </a:ext>
              </a:extLst>
            </p:cNvPr>
            <p:cNvSpPr/>
            <p:nvPr/>
          </p:nvSpPr>
          <p:spPr>
            <a:xfrm>
              <a:off x="9526266" y="3936212"/>
              <a:ext cx="2303515" cy="859396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9050" cap="flat" cmpd="sng" algn="ctr">
              <a:noFill/>
              <a:prstDash val="sysDot"/>
              <a:headEnd type="none" w="med" len="med"/>
              <a:tailEnd type="none" w="med" len="med"/>
            </a:ln>
            <a:effectLst/>
          </p:spPr>
          <p:txBody>
            <a:bodyPr lIns="365760" tIns="91440" rIns="91440" bIns="91440" rtlCol="0" anchor="ctr">
              <a:noAutofit/>
            </a:bodyPr>
            <a:lstStyle/>
            <a:p>
              <a:r>
                <a:rPr lang="en-AU" sz="1200" dirty="0"/>
                <a:t>Super, higher tax rates on accumulation once over $1m.</a:t>
              </a:r>
            </a:p>
          </p:txBody>
        </p:sp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39F048D5-77CA-9D38-12CE-B3440A7D79FB}"/>
                </a:ext>
              </a:extLst>
            </p:cNvPr>
            <p:cNvSpPr/>
            <p:nvPr/>
          </p:nvSpPr>
          <p:spPr>
            <a:xfrm>
              <a:off x="8297542" y="3936212"/>
              <a:ext cx="1466850" cy="859396"/>
            </a:xfrm>
            <a:prstGeom prst="homePlate">
              <a:avLst>
                <a:gd name="adj" fmla="val 20000"/>
              </a:avLst>
            </a:prstGeom>
            <a:solidFill>
              <a:schemeClr val="accent3"/>
            </a:solidFill>
            <a:ln w="19050" cap="flat" cmpd="sng" algn="ctr">
              <a:noFill/>
              <a:prstDash val="sysDot"/>
              <a:headEnd type="none" w="med" len="med"/>
              <a:tailEnd type="none" w="med" len="med"/>
            </a:ln>
            <a:effectLst/>
          </p:spPr>
          <p:txBody>
            <a:bodyPr lIns="91440" tIns="91440" rIns="91440" bIns="91440" rtlCol="0" anchor="ctr">
              <a:noAutofit/>
            </a:bodyPr>
            <a:lstStyle/>
            <a:p>
              <a:pPr defTabSz="914411">
                <a:defRPr/>
              </a:pPr>
              <a:endParaRPr lang="en-US" sz="1200" b="1" kern="0">
                <a:solidFill>
                  <a:schemeClr val="accent1"/>
                </a:solidFill>
                <a:latin typeface="Proxima Nova Rg"/>
              </a:endParaRPr>
            </a:p>
          </p:txBody>
        </p:sp>
        <p:sp>
          <p:nvSpPr>
            <p:cNvPr id="32" name="SmartArt Placeholder 95">
              <a:extLst>
                <a:ext uri="{FF2B5EF4-FFF2-40B4-BE49-F238E27FC236}">
                  <a16:creationId xmlns:a16="http://schemas.microsoft.com/office/drawing/2014/main" id="{4684A8F5-EBFB-DAAD-236B-2CF30A66777A}"/>
                </a:ext>
              </a:extLst>
            </p:cNvPr>
            <p:cNvSpPr txBox="1">
              <a:spLocks/>
            </p:cNvSpPr>
            <p:nvPr/>
          </p:nvSpPr>
          <p:spPr>
            <a:xfrm>
              <a:off x="8297544" y="3936769"/>
              <a:ext cx="1123948" cy="858837"/>
            </a:xfrm>
            <a:prstGeom prst="homePlate">
              <a:avLst>
                <a:gd name="adj" fmla="val 19911"/>
              </a:avLst>
            </a:prstGeom>
          </p:spPr>
          <p:txBody>
            <a:bodyPr anchor="ctr"/>
            <a:lstStyle>
              <a:lvl1pPr marL="0" indent="0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None/>
                <a:defRPr kumimoji="0" lang="en-US" sz="1200" b="1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oxima Nova Rg"/>
                  <a:ea typeface="+mn-ea"/>
                  <a:cs typeface="+mn-cs"/>
                </a:defRPr>
              </a:lvl1pPr>
              <a:lvl2pPr marL="215957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2pPr>
              <a:lvl3pPr marL="431914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‒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3pPr>
              <a:lvl4pPr marL="611878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4pPr>
              <a:lvl5pPr marL="863827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‒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5pPr>
              <a:lvl6pPr marL="3351263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0584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69905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79225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AU" dirty="0"/>
                <a:t>Trust and super reforms</a:t>
              </a:r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D2F92204-E543-BE67-9DF4-8510EF2CFE3C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53473" y="4212837"/>
              <a:ext cx="306146" cy="306146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CA8F2C5-A30C-ED26-BE6A-243728AE0E67}"/>
              </a:ext>
            </a:extLst>
          </p:cNvPr>
          <p:cNvGrpSpPr/>
          <p:nvPr/>
        </p:nvGrpSpPr>
        <p:grpSpPr>
          <a:xfrm>
            <a:off x="6169482" y="4072464"/>
            <a:ext cx="3532239" cy="859396"/>
            <a:chOff x="8297542" y="5036522"/>
            <a:chExt cx="3532239" cy="85939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4B507F-68E8-BD23-131A-EE7DAF4E80C1}"/>
                </a:ext>
              </a:extLst>
            </p:cNvPr>
            <p:cNvSpPr/>
            <p:nvPr/>
          </p:nvSpPr>
          <p:spPr>
            <a:xfrm>
              <a:off x="9526266" y="5036522"/>
              <a:ext cx="2303515" cy="859396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9050" cap="flat" cmpd="sng" algn="ctr">
              <a:noFill/>
              <a:prstDash val="sysDot"/>
              <a:headEnd type="none" w="med" len="med"/>
              <a:tailEnd type="none" w="med" len="med"/>
            </a:ln>
            <a:effectLst/>
          </p:spPr>
          <p:txBody>
            <a:bodyPr lIns="365760" tIns="91440" rIns="91440" bIns="91440" rtlCol="0" anchor="ctr">
              <a:noAutofit/>
            </a:bodyPr>
            <a:lstStyle/>
            <a:p>
              <a:pPr defTabSz="914411">
                <a:defRPr/>
              </a:pPr>
              <a:endParaRPr lang="en-US" sz="1200" kern="0">
                <a:solidFill>
                  <a:srgbClr val="000000"/>
                </a:solidFill>
                <a:latin typeface="Proxima Nova Rg"/>
              </a:endParaRPr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BAFE890A-50DC-B826-B347-4452F557736F}"/>
                </a:ext>
              </a:extLst>
            </p:cNvPr>
            <p:cNvSpPr/>
            <p:nvPr/>
          </p:nvSpPr>
          <p:spPr>
            <a:xfrm>
              <a:off x="8297542" y="5036522"/>
              <a:ext cx="1466850" cy="859396"/>
            </a:xfrm>
            <a:prstGeom prst="homePlate">
              <a:avLst>
                <a:gd name="adj" fmla="val 20000"/>
              </a:avLst>
            </a:prstGeom>
            <a:solidFill>
              <a:schemeClr val="accent3"/>
            </a:solidFill>
            <a:ln w="19050" cap="flat" cmpd="sng" algn="ctr">
              <a:noFill/>
              <a:prstDash val="sysDot"/>
              <a:headEnd type="none" w="med" len="med"/>
              <a:tailEnd type="none" w="med" len="med"/>
            </a:ln>
            <a:effectLst/>
          </p:spPr>
          <p:txBody>
            <a:bodyPr lIns="91440" tIns="91440" rIns="91440" bIns="91440" rtlCol="0" anchor="ctr">
              <a:noAutofit/>
            </a:bodyPr>
            <a:lstStyle/>
            <a:p>
              <a:pPr defTabSz="914411">
                <a:defRPr/>
              </a:pPr>
              <a:endParaRPr lang="en-US" sz="1200" b="1" kern="0">
                <a:solidFill>
                  <a:schemeClr val="accent1"/>
                </a:solidFill>
                <a:latin typeface="Proxima Nova Rg"/>
              </a:endParaRPr>
            </a:p>
          </p:txBody>
        </p:sp>
        <p:sp>
          <p:nvSpPr>
            <p:cNvPr id="33" name="SmartArt Placeholder 95">
              <a:extLst>
                <a:ext uri="{FF2B5EF4-FFF2-40B4-BE49-F238E27FC236}">
                  <a16:creationId xmlns:a16="http://schemas.microsoft.com/office/drawing/2014/main" id="{95BE6283-D956-5085-0252-08C3277D960B}"/>
                </a:ext>
              </a:extLst>
            </p:cNvPr>
            <p:cNvSpPr txBox="1">
              <a:spLocks/>
            </p:cNvSpPr>
            <p:nvPr/>
          </p:nvSpPr>
          <p:spPr>
            <a:xfrm>
              <a:off x="8297544" y="5037080"/>
              <a:ext cx="1123948" cy="858837"/>
            </a:xfrm>
            <a:prstGeom prst="homePlate">
              <a:avLst>
                <a:gd name="adj" fmla="val 19911"/>
              </a:avLst>
            </a:prstGeom>
          </p:spPr>
          <p:txBody>
            <a:bodyPr anchor="ctr"/>
            <a:lstStyle>
              <a:lvl1pPr marL="0" indent="0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None/>
                <a:defRPr kumimoji="0" lang="en-US" sz="1200" b="1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oxima Nova Rg"/>
                  <a:ea typeface="+mn-ea"/>
                  <a:cs typeface="+mn-cs"/>
                </a:defRPr>
              </a:lvl1pPr>
              <a:lvl2pPr marL="215957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2pPr>
              <a:lvl3pPr marL="431914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‒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3pPr>
              <a:lvl4pPr marL="611878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4pPr>
              <a:lvl5pPr marL="863827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‒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5pPr>
              <a:lvl6pPr marL="3351263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0584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69905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79225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AU" dirty="0"/>
                <a:t>Cut capital gains discount</a:t>
              </a:r>
            </a:p>
          </p:txBody>
        </p:sp>
        <p:sp>
          <p:nvSpPr>
            <p:cNvPr id="39" name="Text Placeholder 103">
              <a:extLst>
                <a:ext uri="{FF2B5EF4-FFF2-40B4-BE49-F238E27FC236}">
                  <a16:creationId xmlns:a16="http://schemas.microsoft.com/office/drawing/2014/main" id="{CBA1C177-E67B-8676-8156-548D5F8060F8}"/>
                </a:ext>
              </a:extLst>
            </p:cNvPr>
            <p:cNvSpPr txBox="1">
              <a:spLocks/>
            </p:cNvSpPr>
            <p:nvPr/>
          </p:nvSpPr>
          <p:spPr>
            <a:xfrm>
              <a:off x="9526318" y="5037080"/>
              <a:ext cx="2303463" cy="858837"/>
            </a:xfrm>
            <a:prstGeom prst="rect">
              <a:avLst/>
            </a:prstGeom>
          </p:spPr>
          <p:txBody>
            <a:bodyPr anchor="ctr"/>
            <a:lstStyle>
              <a:lvl1pPr marL="268288" indent="0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None/>
                <a:defRPr kumimoji="0" lang="en-US" sz="1200" b="0" i="0" u="none" strike="noStrike" kern="0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roxima Nova Rg"/>
                  <a:ea typeface="+mn-ea"/>
                  <a:cs typeface="+mn-cs"/>
                </a:defRPr>
              </a:lvl1pPr>
              <a:lvl2pPr marL="215957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2pPr>
              <a:lvl3pPr marL="431914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‒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3pPr>
              <a:lvl4pPr marL="611878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4pPr>
              <a:lvl5pPr marL="863827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‒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5pPr>
              <a:lvl6pPr marL="3351263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0584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69905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79225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dirty="0"/>
                <a:t>33%, ringfencing (</a:t>
              </a:r>
              <a:r>
                <a:rPr lang="en-AU"/>
                <a:t>all non-labour earnings)</a:t>
              </a:r>
              <a:endParaRPr lang="en-AU" dirty="0"/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F43956D6-D69D-BADD-FA7B-E3E78DDEE6B0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53473" y="5313148"/>
              <a:ext cx="306146" cy="306146"/>
            </a:xfrm>
            <a:prstGeom prst="rect">
              <a:avLst/>
            </a:prstGeom>
          </p:spPr>
        </p:pic>
      </p:grpSp>
      <p:pic>
        <p:nvPicPr>
          <p:cNvPr id="46" name="Graphic 45">
            <a:extLst>
              <a:ext uri="{FF2B5EF4-FFF2-40B4-BE49-F238E27FC236}">
                <a16:creationId xmlns:a16="http://schemas.microsoft.com/office/drawing/2014/main" id="{A557BFB7-4BF1-CA1F-7558-50A410594030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85080" y="5313148"/>
            <a:ext cx="306146" cy="306146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C9D73A82-78FD-C2B7-4844-30320B33D93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85080" y="4196016"/>
            <a:ext cx="306146" cy="306146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8DFB3725-6574-0A08-1092-D042DFE7AA00}"/>
              </a:ext>
            </a:extLst>
          </p:cNvPr>
          <p:cNvGrpSpPr/>
          <p:nvPr/>
        </p:nvGrpSpPr>
        <p:grpSpPr>
          <a:xfrm>
            <a:off x="518506" y="4218894"/>
            <a:ext cx="3693160" cy="897475"/>
            <a:chOff x="4629149" y="4065161"/>
            <a:chExt cx="3693160" cy="89747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1A0820-8970-4B42-5107-2F596E8C0B2D}"/>
                </a:ext>
              </a:extLst>
            </p:cNvPr>
            <p:cNvSpPr/>
            <p:nvPr/>
          </p:nvSpPr>
          <p:spPr>
            <a:xfrm>
              <a:off x="5941640" y="4072118"/>
              <a:ext cx="2303515" cy="859396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9050" cap="flat" cmpd="sng" algn="ctr">
              <a:noFill/>
              <a:prstDash val="sysDot"/>
              <a:headEnd type="none" w="med" len="med"/>
              <a:tailEnd type="none" w="med" len="med"/>
            </a:ln>
            <a:effectLst/>
          </p:spPr>
          <p:txBody>
            <a:bodyPr lIns="365760" tIns="91440" rIns="91440" bIns="91440" rtlCol="0" anchor="ctr">
              <a:noAutofit/>
            </a:bodyPr>
            <a:lstStyle/>
            <a:p>
              <a:pPr defTabSz="914411">
                <a:defRPr/>
              </a:pPr>
              <a:endParaRPr lang="en-US" sz="1200" kern="0">
                <a:solidFill>
                  <a:srgbClr val="000000"/>
                </a:solidFill>
                <a:latin typeface="Proxima Nova Rg"/>
              </a:endParaRPr>
            </a:p>
          </p:txBody>
        </p:sp>
        <p:sp>
          <p:nvSpPr>
            <p:cNvPr id="34" name="Text Placeholder 103">
              <a:extLst>
                <a:ext uri="{FF2B5EF4-FFF2-40B4-BE49-F238E27FC236}">
                  <a16:creationId xmlns:a16="http://schemas.microsoft.com/office/drawing/2014/main" id="{91FD5FF2-AAC7-9822-EA83-9D189625A936}"/>
                </a:ext>
              </a:extLst>
            </p:cNvPr>
            <p:cNvSpPr txBox="1">
              <a:spLocks/>
            </p:cNvSpPr>
            <p:nvPr/>
          </p:nvSpPr>
          <p:spPr>
            <a:xfrm>
              <a:off x="6018846" y="4103799"/>
              <a:ext cx="2303463" cy="858837"/>
            </a:xfrm>
            <a:prstGeom prst="rect">
              <a:avLst/>
            </a:prstGeom>
          </p:spPr>
          <p:txBody>
            <a:bodyPr anchor="ctr"/>
            <a:lstStyle>
              <a:lvl1pPr marL="268288" indent="0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None/>
                <a:defRPr kumimoji="0" lang="en-US" sz="1200" b="0" i="0" u="none" strike="noStrike" kern="0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roxima Nova Rg"/>
                  <a:ea typeface="+mn-ea"/>
                  <a:cs typeface="+mn-cs"/>
                </a:defRPr>
              </a:lvl1pPr>
              <a:lvl2pPr marL="215957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2pPr>
              <a:lvl3pPr marL="431914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‒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3pPr>
              <a:lvl4pPr marL="611878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4pPr>
              <a:lvl5pPr marL="863827" indent="-215957" algn="l" rtl="0" eaLnBrk="1" fontAlgn="base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Font typeface="Arial" pitchFamily="34" charset="0"/>
                <a:buChar char="‒"/>
                <a:defRPr sz="1800" b="0" i="0" kern="1200">
                  <a:solidFill>
                    <a:schemeClr val="tx1"/>
                  </a:solidFill>
                  <a:latin typeface="+mn-lt"/>
                  <a:ea typeface="Roboto" panose="02000000000000000000" pitchFamily="2" charset="0"/>
                  <a:cs typeface="Arial" panose="020B0604020202020204" pitchFamily="34" charset="0"/>
                </a:defRPr>
              </a:lvl5pPr>
              <a:lvl6pPr marL="3351263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0584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69905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79225" indent="-304662" algn="l" defTabSz="121864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dirty="0"/>
                <a:t>2.5ppt drop across the scale (3 at bottom only really 1)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B469296-8B92-6878-B443-355D52EA463E}"/>
                </a:ext>
              </a:extLst>
            </p:cNvPr>
            <p:cNvGrpSpPr/>
            <p:nvPr/>
          </p:nvGrpSpPr>
          <p:grpSpPr>
            <a:xfrm>
              <a:off x="4629149" y="4065161"/>
              <a:ext cx="1466850" cy="859433"/>
              <a:chOff x="4629149" y="2836799"/>
              <a:chExt cx="1466850" cy="859433"/>
            </a:xfrm>
          </p:grpSpPr>
          <p:sp>
            <p:nvSpPr>
              <p:cNvPr id="10" name="Arrow: Pentagon 9">
                <a:extLst>
                  <a:ext uri="{FF2B5EF4-FFF2-40B4-BE49-F238E27FC236}">
                    <a16:creationId xmlns:a16="http://schemas.microsoft.com/office/drawing/2014/main" id="{6BE42E87-A651-972E-F610-E3FFB565190B}"/>
                  </a:ext>
                </a:extLst>
              </p:cNvPr>
              <p:cNvSpPr/>
              <p:nvPr/>
            </p:nvSpPr>
            <p:spPr>
              <a:xfrm>
                <a:off x="4629149" y="2836799"/>
                <a:ext cx="1466850" cy="859396"/>
              </a:xfrm>
              <a:prstGeom prst="homePlate">
                <a:avLst>
                  <a:gd name="adj" fmla="val 20000"/>
                </a:avLst>
              </a:prstGeom>
              <a:solidFill>
                <a:srgbClr val="33A7AB"/>
              </a:solidFill>
              <a:ln w="19050" cap="flat" cmpd="sng" algn="ctr">
                <a:noFill/>
                <a:prstDash val="sysDot"/>
                <a:headEnd type="none" w="med" len="med"/>
                <a:tailEnd type="none" w="med" len="med"/>
              </a:ln>
              <a:effectLst/>
            </p:spPr>
            <p:txBody>
              <a:bodyPr lIns="91440" tIns="91440" rIns="91440" bIns="91440" rtlCol="0" anchor="ctr">
                <a:noAutofit/>
              </a:bodyPr>
              <a:lstStyle/>
              <a:p>
                <a:pPr defTabSz="914411">
                  <a:defRPr/>
                </a:pPr>
                <a:endParaRPr lang="en-US" sz="1200" b="1" kern="0">
                  <a:solidFill>
                    <a:schemeClr val="accent1"/>
                  </a:solidFill>
                  <a:latin typeface="Proxima Nova Rg"/>
                </a:endParaRPr>
              </a:p>
            </p:txBody>
          </p:sp>
          <p:sp>
            <p:nvSpPr>
              <p:cNvPr id="28" name="SmartArt Placeholder 95">
                <a:extLst>
                  <a:ext uri="{FF2B5EF4-FFF2-40B4-BE49-F238E27FC236}">
                    <a16:creationId xmlns:a16="http://schemas.microsoft.com/office/drawing/2014/main" id="{BB2122B1-4B64-8F3E-846E-E2AD68B6D1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29150" y="2837395"/>
                <a:ext cx="1123950" cy="858837"/>
              </a:xfrm>
              <a:prstGeom prst="homePlate">
                <a:avLst>
                  <a:gd name="adj" fmla="val 19911"/>
                </a:avLst>
              </a:prstGeom>
            </p:spPr>
            <p:txBody>
              <a:bodyPr anchor="ctr"/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itchFamily="34" charset="0"/>
                  <a:buNone/>
                  <a:defRPr kumimoji="0" lang="en-US" sz="1200" b="1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Proxima Nova Rg"/>
                    <a:ea typeface="+mn-ea"/>
                    <a:cs typeface="+mn-cs"/>
                  </a:defRPr>
                </a:lvl1pPr>
                <a:lvl2pPr marL="215957" indent="-215957" algn="l" rtl="0" eaLnBrk="1" fontAlgn="base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  <a:cs typeface="Arial" panose="020B0604020202020204" pitchFamily="34" charset="0"/>
                  </a:defRPr>
                </a:lvl2pPr>
                <a:lvl3pPr marL="431914" indent="-215957" algn="l" rtl="0" eaLnBrk="1" fontAlgn="base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itchFamily="34" charset="0"/>
                  <a:buChar char="‒"/>
                  <a:tabLst/>
                  <a:defRPr sz="1800" b="0" i="0" kern="120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  <a:cs typeface="Arial" panose="020B0604020202020204" pitchFamily="34" charset="0"/>
                  </a:defRPr>
                </a:lvl3pPr>
                <a:lvl4pPr marL="611878" indent="-215957" algn="l" rtl="0" eaLnBrk="1" fontAlgn="base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  <a:cs typeface="Arial" panose="020B0604020202020204" pitchFamily="34" charset="0"/>
                  </a:defRPr>
                </a:lvl4pPr>
                <a:lvl5pPr marL="863827" indent="-215957" algn="l" rtl="0" eaLnBrk="1" fontAlgn="base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itchFamily="34" charset="0"/>
                  <a:buChar char="‒"/>
                  <a:defRPr sz="1800" b="0" i="0" kern="120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  <a:cs typeface="Arial" panose="020B0604020202020204" pitchFamily="34" charset="0"/>
                  </a:defRPr>
                </a:lvl5pPr>
                <a:lvl6pPr marL="3351263" indent="-304662" algn="l" defTabSz="121864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69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0584" indent="-304662" algn="l" defTabSz="121864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69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69905" indent="-304662" algn="l" defTabSz="121864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69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79225" indent="-304662" algn="l" defTabSz="121864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69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dirty="0"/>
                  <a:t>Cut income tax rates</a:t>
                </a:r>
              </a:p>
            </p:txBody>
          </p:sp>
          <p:pic>
            <p:nvPicPr>
              <p:cNvPr id="48" name="Graphic 47">
                <a:extLst>
                  <a:ext uri="{FF2B5EF4-FFF2-40B4-BE49-F238E27FC236}">
                    <a16:creationId xmlns:a16="http://schemas.microsoft.com/office/drawing/2014/main" id="{28CA00D6-BDAD-2E51-3A68-1561F087CC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685080" y="3113426"/>
                <a:ext cx="306146" cy="306146"/>
              </a:xfrm>
              <a:prstGeom prst="rect">
                <a:avLst/>
              </a:prstGeom>
            </p:spPr>
          </p:pic>
        </p:grp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85821D74-0F92-B40B-A4B6-F77F943235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425" y="552966"/>
            <a:ext cx="4746182" cy="289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324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33F3EE-0775-9B45-B061-E164FD81C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44C17A-B141-2E24-FE13-A687B000A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New tax scale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A60A99-44D2-47F8-E8DB-0CDD92B50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02" y="2672222"/>
            <a:ext cx="6478260" cy="3865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6C6855-882A-EDA1-D030-E107AA63E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825" y="183592"/>
            <a:ext cx="6677957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55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565EC-6053-AFD4-6D91-8731E0D17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22" hidden="1">
            <a:extLst>
              <a:ext uri="{FF2B5EF4-FFF2-40B4-BE49-F238E27FC236}">
                <a16:creationId xmlns:a16="http://schemas.microsoft.com/office/drawing/2014/main" id="{F1E3AF22-867D-5174-E0DC-4858080A61D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3" name="Object 22" hidden="1">
                        <a:extLst>
                          <a:ext uri="{FF2B5EF4-FFF2-40B4-BE49-F238E27FC236}">
                            <a16:creationId xmlns:a16="http://schemas.microsoft.com/office/drawing/2014/main" id="{38772D30-D2FE-852F-DC1C-E16D217887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C9D0ED-D8D5-D991-F973-7966024C7C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0AAA1759-B7B0-F8B4-193B-FD9E0DEFF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86" y="292991"/>
            <a:ext cx="11459365" cy="700597"/>
          </a:xfrm>
        </p:spPr>
        <p:txBody>
          <a:bodyPr/>
          <a:lstStyle/>
          <a:p>
            <a:r>
              <a:rPr lang="en-AU" dirty="0"/>
              <a:t>About intergenerational inequity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090535B-BA4C-7638-22E0-3F3E069CBFC9}"/>
              </a:ext>
            </a:extLst>
          </p:cNvPr>
          <p:cNvSpPr txBox="1">
            <a:spLocks/>
          </p:cNvSpPr>
          <p:nvPr/>
        </p:nvSpPr>
        <p:spPr>
          <a:xfrm flipH="1">
            <a:off x="10946922" y="6401006"/>
            <a:ext cx="561476" cy="273403"/>
          </a:xfrm>
          <a:prstGeom prst="rect">
            <a:avLst/>
          </a:prstGeom>
        </p:spPr>
        <p:txBody>
          <a:bodyPr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z="1001"/>
              <a:pPr/>
              <a:t>5</a:t>
            </a:fld>
            <a:endParaRPr lang="en-US" sz="100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5C7F82-80BF-EA77-D58F-8F04A43A90F3}"/>
              </a:ext>
            </a:extLst>
          </p:cNvPr>
          <p:cNvSpPr txBox="1"/>
          <p:nvPr/>
        </p:nvSpPr>
        <p:spPr>
          <a:xfrm>
            <a:off x="269286" y="808922"/>
            <a:ext cx="5120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Important issue. However, it is also complicated.</a:t>
            </a:r>
            <a:endParaRPr lang="en-NZ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BA8F81-BEB5-0B9B-8E27-553513380A77}"/>
              </a:ext>
            </a:extLst>
          </p:cNvPr>
          <p:cNvSpPr txBox="1"/>
          <p:nvPr/>
        </p:nvSpPr>
        <p:spPr>
          <a:xfrm>
            <a:off x="317815" y="1232520"/>
            <a:ext cx="109564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much are delayed milestones a product of increased longevity risk? (e61 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does the intergenerational transfer change if we think in terms of shares of GDP vs real amounts?</a:t>
            </a:r>
            <a:endParaRPr lang="en-NZ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699A42-83A2-6A6B-B8A0-9541BD022FD8}"/>
              </a:ext>
            </a:extLst>
          </p:cNvPr>
          <p:cNvSpPr txBox="1"/>
          <p:nvPr/>
        </p:nvSpPr>
        <p:spPr>
          <a:xfrm>
            <a:off x="367691" y="6254710"/>
            <a:ext cx="11051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Productivity key (next slide)</a:t>
            </a:r>
            <a:endParaRPr lang="en-NZ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309392D-9AD2-FC33-421C-05189FB4F3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365" y="2210116"/>
            <a:ext cx="3578489" cy="395517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936736D-D92E-8048-32D0-833DF180D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946" y="2523628"/>
            <a:ext cx="5300438" cy="323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02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D1B78-D3E6-F3AC-EC70-9B86485FE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22" hidden="1">
            <a:extLst>
              <a:ext uri="{FF2B5EF4-FFF2-40B4-BE49-F238E27FC236}">
                <a16:creationId xmlns:a16="http://schemas.microsoft.com/office/drawing/2014/main" id="{A26683DC-F42B-33F7-B079-1EEC47A669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3" name="Object 22" hidden="1">
                        <a:extLst>
                          <a:ext uri="{FF2B5EF4-FFF2-40B4-BE49-F238E27FC236}">
                            <a16:creationId xmlns:a16="http://schemas.microsoft.com/office/drawing/2014/main" id="{F1E3AF22-867D-5174-E0DC-4858080A61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46B827-E5C0-FADB-0119-1BF5CCC33F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B3F234F6-FC9F-C8C2-A188-57BADF139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86" y="292991"/>
            <a:ext cx="11459365" cy="700597"/>
          </a:xfrm>
        </p:spPr>
        <p:txBody>
          <a:bodyPr/>
          <a:lstStyle/>
          <a:p>
            <a:r>
              <a:rPr lang="en-AU" dirty="0"/>
              <a:t>About intergenerational inequity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E5C73A-3B6E-0A72-74A4-6805D489AEB3}"/>
              </a:ext>
            </a:extLst>
          </p:cNvPr>
          <p:cNvSpPr txBox="1">
            <a:spLocks/>
          </p:cNvSpPr>
          <p:nvPr/>
        </p:nvSpPr>
        <p:spPr>
          <a:xfrm flipH="1">
            <a:off x="10946922" y="6401006"/>
            <a:ext cx="561476" cy="273403"/>
          </a:xfrm>
          <a:prstGeom prst="rect">
            <a:avLst/>
          </a:prstGeom>
        </p:spPr>
        <p:txBody>
          <a:bodyPr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z="1001"/>
              <a:pPr/>
              <a:t>6</a:t>
            </a:fld>
            <a:endParaRPr lang="en-US" sz="100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871B22-C8DD-F932-EAE8-C3537E126B7E}"/>
              </a:ext>
            </a:extLst>
          </p:cNvPr>
          <p:cNvSpPr txBox="1"/>
          <p:nvPr/>
        </p:nvSpPr>
        <p:spPr>
          <a:xfrm>
            <a:off x="269286" y="851253"/>
            <a:ext cx="11051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Intergenerational transfers are a product of r &lt; g. Is our concern that this has flipped?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Productivity outcomes are key for a view on this.</a:t>
            </a:r>
            <a:endParaRPr lang="en-N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345069-2E9E-A289-C293-137C42A1A8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71" y="1885752"/>
            <a:ext cx="4229194" cy="44040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39D7A7-2CE2-BF28-9748-B047D43BC27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615" y="1931709"/>
            <a:ext cx="4351712" cy="453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076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F837A-FB8C-75A7-9D24-737F943CA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22" hidden="1">
            <a:extLst>
              <a:ext uri="{FF2B5EF4-FFF2-40B4-BE49-F238E27FC236}">
                <a16:creationId xmlns:a16="http://schemas.microsoft.com/office/drawing/2014/main" id="{9CEA372B-6929-9C26-946E-8C481A9E86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3" name="Object 22" hidden="1">
                        <a:extLst>
                          <a:ext uri="{FF2B5EF4-FFF2-40B4-BE49-F238E27FC236}">
                            <a16:creationId xmlns:a16="http://schemas.microsoft.com/office/drawing/2014/main" id="{F1E3AF22-867D-5174-E0DC-4858080A61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A1D60-42A2-9A83-7F3D-C6A23162E1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DE776C4D-140B-3E07-3133-3200AFAD5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About the relative taxation of labour and capital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D90E396-C352-599D-9BFD-8E4F75142928}"/>
              </a:ext>
            </a:extLst>
          </p:cNvPr>
          <p:cNvSpPr txBox="1">
            <a:spLocks/>
          </p:cNvSpPr>
          <p:nvPr/>
        </p:nvSpPr>
        <p:spPr>
          <a:xfrm flipH="1">
            <a:off x="10946922" y="6401006"/>
            <a:ext cx="561476" cy="273403"/>
          </a:xfrm>
          <a:prstGeom prst="rect">
            <a:avLst/>
          </a:prstGeom>
        </p:spPr>
        <p:txBody>
          <a:bodyPr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z="1001"/>
              <a:pPr/>
              <a:t>7</a:t>
            </a:fld>
            <a:endParaRPr lang="en-US" sz="100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B8900-537D-134A-483B-D18FAC9DF710}"/>
              </a:ext>
            </a:extLst>
          </p:cNvPr>
          <p:cNvSpPr txBox="1"/>
          <p:nvPr/>
        </p:nvSpPr>
        <p:spPr>
          <a:xfrm>
            <a:off x="370417" y="1151971"/>
            <a:ext cx="11183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Say we agree that </a:t>
            </a:r>
            <a:r>
              <a:rPr lang="en-US" dirty="0" err="1"/>
              <a:t>labour</a:t>
            </a:r>
            <a:r>
              <a:rPr lang="en-US" dirty="0"/>
              <a:t> and capital should be taxed at the same rate. Is the current system concessionary?</a:t>
            </a:r>
            <a:endParaRPr lang="en-N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25D9A1-0BF8-6B3F-4740-8186499599F9}"/>
              </a:ext>
            </a:extLst>
          </p:cNvPr>
          <p:cNvSpPr txBox="1"/>
          <p:nvPr/>
        </p:nvSpPr>
        <p:spPr>
          <a:xfrm>
            <a:off x="161795" y="5706029"/>
            <a:ext cx="88912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This view of real is without applying Atkinson-Stiglitz (1976).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would recommend non-taxation of the normal rate of return, and so lower rates.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Same logic “sacrificing the use of a dollar to consume now, opportunity cost is </a:t>
            </a:r>
            <a:r>
              <a:rPr lang="en-US" sz="1600" i="1" dirty="0"/>
              <a:t>risk-free rate</a:t>
            </a:r>
            <a:r>
              <a:rPr lang="en-US" sz="1600" dirty="0"/>
              <a:t>.”</a:t>
            </a:r>
            <a:endParaRPr lang="en-NZ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F18FD1-92A7-B79C-23A7-51D7B96E4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50" y="1682489"/>
            <a:ext cx="5094630" cy="30350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313A2E-4730-DD98-5C00-46C7212B24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1262" y="1638185"/>
            <a:ext cx="5107136" cy="37636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8547B3-1CAD-9075-3910-13E5B0A7BC1E}"/>
              </a:ext>
            </a:extLst>
          </p:cNvPr>
          <p:cNvSpPr txBox="1"/>
          <p:nvPr/>
        </p:nvSpPr>
        <p:spPr>
          <a:xfrm>
            <a:off x="6484967" y="5401849"/>
            <a:ext cx="517024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700" dirty="0">
                <a:hlinkClick r:id="rId7"/>
              </a:rPr>
              <a:t>https://crawford.anu.edu.au/sites/default/files/2025-04/20271%20ANU%20-%20TTPI%20Policy%20Report-FF%5B2%5D.pdf</a:t>
            </a:r>
            <a:r>
              <a:rPr lang="en-NZ" sz="7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67818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946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JRKMSIZCicbhc4bAXGX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61 slide master">
  <a:themeElements>
    <a:clrScheme name="e61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F54"/>
      </a:accent1>
      <a:accent2>
        <a:srgbClr val="008080"/>
      </a:accent2>
      <a:accent3>
        <a:srgbClr val="33A7AB"/>
      </a:accent3>
      <a:accent4>
        <a:srgbClr val="FFA557"/>
      </a:accent4>
      <a:accent5>
        <a:srgbClr val="F88379"/>
      </a:accent5>
      <a:accent6>
        <a:srgbClr val="B40000"/>
      </a:accent6>
      <a:hlink>
        <a:srgbClr val="0563C1"/>
      </a:hlink>
      <a:folHlink>
        <a:srgbClr val="954F72"/>
      </a:folHlink>
    </a:clrScheme>
    <a:fontScheme name="Custom 2">
      <a:majorFont>
        <a:latin typeface="Proxima Nova Rg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19050">
          <a:noFill/>
          <a:prstDash val="sysDot"/>
          <a:headEnd type="none" w="med" len="med"/>
          <a:tailEnd type="none" w="med" len="med"/>
        </a:ln>
      </a:spPr>
      <a:bodyPr rtlCol="0" anchor="ctr"/>
      <a:lstStyle>
        <a:defPPr algn="ctr">
          <a:defRPr b="1" dirty="0" smtClean="0">
            <a:solidFill>
              <a:schemeClr val="bg1"/>
            </a:solidFill>
            <a:latin typeface="Graphik" panose="020B0503030202060203" pitchFamily="34" charset="77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tx1"/>
          </a:solidFill>
          <a:prstDash val="solid"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Week was AS white paper" id="{946B6305-961C-4669-8E45-14BB381B43F5}" vid="{E385CE98-AC48-4CC6-BD78-8E4D78196A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A1619F266734FBC2B48FB95398739" ma:contentTypeVersion="18" ma:contentTypeDescription="Create a new document." ma:contentTypeScope="" ma:versionID="8dc4163b27f0ec44a22c6d7358323f5f">
  <xsd:schema xmlns:xsd="http://www.w3.org/2001/XMLSchema" xmlns:xs="http://www.w3.org/2001/XMLSchema" xmlns:p="http://schemas.microsoft.com/office/2006/metadata/properties" xmlns:ns2="aa802c90-64f7-4260-a678-c5c09559402a" xmlns:ns3="d4025935-85eb-43e8-ab32-734675053e7f" targetNamespace="http://schemas.microsoft.com/office/2006/metadata/properties" ma:root="true" ma:fieldsID="a1176a965c39d1ac1c7d6ef690b32559" ns2:_="" ns3:_="">
    <xsd:import namespace="aa802c90-64f7-4260-a678-c5c09559402a"/>
    <xsd:import namespace="d4025935-85eb-43e8-ab32-734675053e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802c90-64f7-4260-a678-c5c0955940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bce0e04-9c7f-4626-8cb4-29f8b9ace2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025935-85eb-43e8-ab32-734675053e7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d7d9116-efc1-484d-8b57-8af332a5bfd6}" ma:internalName="TaxCatchAll" ma:showField="CatchAllData" ma:web="d4025935-85eb-43e8-ab32-734675053e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025935-85eb-43e8-ab32-734675053e7f" xsi:nil="true"/>
    <lcf76f155ced4ddcb4097134ff3c332f xmlns="aa802c90-64f7-4260-a678-c5c09559402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4E5144-405F-49D2-89C0-6C01A508B4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802c90-64f7-4260-a678-c5c09559402a"/>
    <ds:schemaRef ds:uri="d4025935-85eb-43e8-ab32-734675053e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E36B762-179B-48EA-90B2-E74079BA15DE}">
  <ds:schemaRefs>
    <ds:schemaRef ds:uri="http://purl.org/dc/dcmitype/"/>
    <ds:schemaRef ds:uri="http://purl.org/dc/terms/"/>
    <ds:schemaRef ds:uri="aa802c90-64f7-4260-a678-c5c09559402a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d4025935-85eb-43e8-ab32-734675053e7f"/>
  </ds:schemaRefs>
</ds:datastoreItem>
</file>

<file path=customXml/itemProps3.xml><?xml version="1.0" encoding="utf-8"?>
<ds:datastoreItem xmlns:ds="http://schemas.openxmlformats.org/officeDocument/2006/customXml" ds:itemID="{529E81E1-445C-4E91-8E35-C5BD736A3B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Week was AS white paper</Template>
  <TotalTime>69</TotalTime>
  <Words>455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Graphik</vt:lpstr>
      <vt:lpstr>GT Sectra Fine</vt:lpstr>
      <vt:lpstr>Proxima Nova Rg</vt:lpstr>
      <vt:lpstr>System Font</vt:lpstr>
      <vt:lpstr>Wingdings</vt:lpstr>
      <vt:lpstr>e61 slide master</vt:lpstr>
      <vt:lpstr>think-cell Slide</vt:lpstr>
      <vt:lpstr>Allegra Spender’s Tax White Paper</vt:lpstr>
      <vt:lpstr>Intergenerational inequity the guiding concern</vt:lpstr>
      <vt:lpstr>Proposals</vt:lpstr>
      <vt:lpstr>New tax scale</vt:lpstr>
      <vt:lpstr>About intergenerational inequity</vt:lpstr>
      <vt:lpstr>About intergenerational inequity</vt:lpstr>
      <vt:lpstr>About the relative taxation of labour and capital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Nolan</dc:creator>
  <cp:lastModifiedBy>Matt Nolan</cp:lastModifiedBy>
  <cp:revision>5</cp:revision>
  <dcterms:created xsi:type="dcterms:W3CDTF">2026-03-26T21:20:34Z</dcterms:created>
  <dcterms:modified xsi:type="dcterms:W3CDTF">2026-03-26T22:29:54Z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0x010100E38A1619F266734FBC2B48FB95398739</vt:lpwstr>
  </property>
  <property fmtid="{D5CDD505-2E9C-101B-9397-08002B2CF9AE}" pid="3" name="MediaServiceImageTags">
    <vt:lpwstr/>
  </property>
</Properties>
</file>