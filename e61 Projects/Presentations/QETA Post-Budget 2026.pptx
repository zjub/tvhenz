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2"/>
  </p:notesMasterIdLst>
  <p:handoutMasterIdLst>
    <p:handoutMasterId r:id="rId23"/>
  </p:handoutMasterIdLst>
  <p:sldIdLst>
    <p:sldId id="309" r:id="rId5"/>
    <p:sldId id="2147140428" r:id="rId6"/>
    <p:sldId id="2147140436" r:id="rId7"/>
    <p:sldId id="2147140429" r:id="rId8"/>
    <p:sldId id="2147140434" r:id="rId9"/>
    <p:sldId id="2147140437" r:id="rId10"/>
    <p:sldId id="2147140433" r:id="rId11"/>
    <p:sldId id="2147140435" r:id="rId12"/>
    <p:sldId id="2147140432" r:id="rId13"/>
    <p:sldId id="2147140431" r:id="rId14"/>
    <p:sldId id="2147140439" r:id="rId15"/>
    <p:sldId id="2147140438" r:id="rId16"/>
    <p:sldId id="2147140440" r:id="rId17"/>
    <p:sldId id="2147140441" r:id="rId18"/>
    <p:sldId id="2147140442" r:id="rId19"/>
    <p:sldId id="2147140444" r:id="rId20"/>
    <p:sldId id="2147140443" r:id="rId21"/>
  </p:sldIdLst>
  <p:sldSz cx="12192000" cy="6858000"/>
  <p:notesSz cx="6858000" cy="9144000"/>
  <p:custDataLst>
    <p:tags r:id="rId2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95BA906-B677-4ED9-B365-ED690E2CB720}">
          <p14:sldIdLst>
            <p14:sldId id="309"/>
            <p14:sldId id="2147140428"/>
            <p14:sldId id="2147140436"/>
            <p14:sldId id="2147140429"/>
            <p14:sldId id="2147140434"/>
            <p14:sldId id="2147140437"/>
            <p14:sldId id="2147140433"/>
            <p14:sldId id="2147140435"/>
            <p14:sldId id="2147140432"/>
            <p14:sldId id="2147140431"/>
            <p14:sldId id="2147140439"/>
            <p14:sldId id="2147140438"/>
            <p14:sldId id="2147140440"/>
            <p14:sldId id="2147140441"/>
            <p14:sldId id="2147140442"/>
            <p14:sldId id="2147140444"/>
            <p14:sldId id="214714044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2212BB9-A5CF-D335-3301-776C81AF3ABE}" name="Lachlan Vass" initials="LV" userId="S::lachlan.vass@e61.in::3865f71c-c396-40c5-8390-2fc8d944de27" providerId="AD"/>
  <p188:author id="{34CD6AE3-4402-C73C-3D6D-D595530990B9}" name="Jack Buckley" initials="JB" userId="S::jack.buckley@e61.in::28ddcf48-0b29-47ef-8181-0ce27c074e2e" providerId="AD"/>
  <p188:author id="{71CA22F3-774C-2056-8AF6-7BA1CB40250A}" name="Sinn, Joshua" initials="SJ" userId="S::joshua.sinn@accenture.com::611c4376-2cbd-4772-b570-fe288a3c2a7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A7AB"/>
    <a:srgbClr val="004F54"/>
    <a:srgbClr val="2061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2"/>
    <p:restoredTop sz="94656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C9F452D-FA17-885C-CC89-0DC68658B2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B9CDAA-6A69-3DFF-BE4E-6602CC25B0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F87968-E7C3-4FA2-86D7-7CFDDCA2896A}" type="datetimeFigureOut">
              <a:rPr lang="en-US" smtClean="0"/>
              <a:t>05-Aug-26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F01E9-DBAA-1EA2-4D9A-7E77B5DFA54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DBB76F-B80E-EE0E-9F0D-2AC6378957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08A632-F1EE-40DC-8EB4-831F2F70E7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0771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16A7BE-E113-476D-8DE0-A6138461ACE1}" type="datetimeFigureOut">
              <a:rPr lang="en-US" smtClean="0"/>
              <a:t>05-Aug-26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3F2214-1F6F-4D6B-854F-093941A8F6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11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3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3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3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3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3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3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3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3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3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3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3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3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3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3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3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3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3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3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3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3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4" Type="http://schemas.openxmlformats.org/officeDocument/2006/relationships/image" Target="../media/image3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5.png"/><Relationship Id="rId4" Type="http://schemas.openxmlformats.org/officeDocument/2006/relationships/image" Target="../media/image4.emf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3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1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8354464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2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466308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3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492673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4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1279117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5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60692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p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Appendix</a:t>
            </a:r>
            <a:endParaRPr lang="en-AU" sz="1200" dirty="0">
              <a:solidFill>
                <a:schemeClr val="tx1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827969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1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22514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2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5263565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3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4079992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4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483268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5/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27566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74556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2756601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7447676" y="274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745810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Ap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5106101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Appendix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5102139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5381707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164627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2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6403866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3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34356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641323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4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343770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FB1B00-60DD-AE89-42C0-D20DA9257E77}"/>
              </a:ext>
            </a:extLst>
          </p:cNvPr>
          <p:cNvSpPr/>
          <p:nvPr userDrawn="1"/>
        </p:nvSpPr>
        <p:spPr>
          <a:xfrm>
            <a:off x="6672434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18931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343565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503FAF-4D61-241B-6D38-A468ADF7204E}"/>
              </a:ext>
            </a:extLst>
          </p:cNvPr>
          <p:cNvSpPr/>
          <p:nvPr userDrawn="1"/>
        </p:nvSpPr>
        <p:spPr>
          <a:xfrm>
            <a:off x="6664510" y="34356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343562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9181775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29954204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2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11309126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3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7687056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cker Alt 4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4617C1-998F-BABB-B672-58757F8B49B4}"/>
              </a:ext>
            </a:extLst>
          </p:cNvPr>
          <p:cNvSpPr/>
          <p:nvPr userDrawn="1"/>
        </p:nvSpPr>
        <p:spPr>
          <a:xfrm>
            <a:off x="0" y="2949"/>
            <a:ext cx="12192000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180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4E814A-67AD-0376-8018-D396961209F9}"/>
              </a:ext>
            </a:extLst>
          </p:cNvPr>
          <p:cNvSpPr/>
          <p:nvPr userDrawn="1"/>
        </p:nvSpPr>
        <p:spPr>
          <a:xfrm>
            <a:off x="407100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B0EECD-F4E6-FE01-373F-F6EF721113FE}"/>
              </a:ext>
            </a:extLst>
          </p:cNvPr>
          <p:cNvSpPr/>
          <p:nvPr userDrawn="1"/>
        </p:nvSpPr>
        <p:spPr>
          <a:xfrm>
            <a:off x="407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D886A-7DD0-384E-66D1-7C73E4B404D2}"/>
              </a:ext>
            </a:extLst>
          </p:cNvPr>
          <p:cNvSpPr/>
          <p:nvPr userDrawn="1"/>
        </p:nvSpPr>
        <p:spPr>
          <a:xfrm>
            <a:off x="3539767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9EB9D1-14EF-8CB4-5D66-915D1D663FA7}"/>
              </a:ext>
            </a:extLst>
          </p:cNvPr>
          <p:cNvSpPr/>
          <p:nvPr userDrawn="1"/>
        </p:nvSpPr>
        <p:spPr>
          <a:xfrm>
            <a:off x="6672434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bg1">
                    <a:lumMod val="85000"/>
                  </a:schemeClr>
                </a:solidFill>
                <a:latin typeface="+mj-lt"/>
                <a:cs typeface="Arial" panose="020B0604020202020204" pitchFamily="34" charset="0"/>
              </a:rPr>
              <a:t>Methodology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1D390B-CE01-6D47-0B58-0D1BA5C82FA5}"/>
              </a:ext>
            </a:extLst>
          </p:cNvPr>
          <p:cNvSpPr/>
          <p:nvPr userDrawn="1"/>
        </p:nvSpPr>
        <p:spPr>
          <a:xfrm>
            <a:off x="9805100" y="68807"/>
            <a:ext cx="1979801" cy="2931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AU" sz="120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3BB1E6-BF42-C8B4-4A21-11143FDD27D8}"/>
              </a:ext>
            </a:extLst>
          </p:cNvPr>
          <p:cNvSpPr/>
          <p:nvPr userDrawn="1"/>
        </p:nvSpPr>
        <p:spPr>
          <a:xfrm>
            <a:off x="3535805" y="2744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295B5C-8C45-B6D5-118C-D92163FD82D9}"/>
              </a:ext>
            </a:extLst>
          </p:cNvPr>
          <p:cNvSpPr/>
          <p:nvPr userDrawn="1"/>
        </p:nvSpPr>
        <p:spPr>
          <a:xfrm>
            <a:off x="6664510" y="2743"/>
            <a:ext cx="1979801" cy="54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0F1C8B-5896-88A6-5EDA-164A77B5481A}"/>
              </a:ext>
            </a:extLst>
          </p:cNvPr>
          <p:cNvSpPr/>
          <p:nvPr userDrawn="1"/>
        </p:nvSpPr>
        <p:spPr>
          <a:xfrm>
            <a:off x="9793214" y="274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</p:spTree>
    <p:extLst>
      <p:ext uri="{BB962C8B-B14F-4D97-AF65-F5344CB8AC3E}">
        <p14:creationId xmlns:p14="http://schemas.microsoft.com/office/powerpoint/2010/main" val="39753665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CCB03E8-089D-0ACD-1D05-C59964D50E2F}"/>
              </a:ext>
            </a:extLst>
          </p:cNvPr>
          <p:cNvSpPr/>
          <p:nvPr userDrawn="1"/>
        </p:nvSpPr>
        <p:spPr>
          <a:xfrm>
            <a:off x="0" y="350761"/>
            <a:ext cx="1979801" cy="5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AU" sz="1801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42143CB0-80E3-8AB0-053D-E52E19E92F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99" y="26127"/>
            <a:ext cx="1980000" cy="291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algn="ctr">
              <a:defRPr lang="en-US" sz="1200" smtClean="0">
                <a:solidFill>
                  <a:schemeClr val="tx1"/>
                </a:solidFill>
                <a:latin typeface="+mj-lt"/>
                <a:ea typeface="+mn-ea"/>
              </a:defRPr>
            </a:lvl1pPr>
            <a:lvl2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2pPr>
            <a:lvl3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3pPr>
            <a:lvl4pPr>
              <a:defRPr lang="en-US" sz="1800" smtClean="0">
                <a:solidFill>
                  <a:schemeClr val="lt1"/>
                </a:solidFill>
                <a:ea typeface="+mn-ea"/>
                <a:cs typeface="+mn-cs"/>
              </a:defRPr>
            </a:lvl4pPr>
            <a:lvl5pPr>
              <a:defRPr lang="en-AU" sz="1800">
                <a:solidFill>
                  <a:schemeClr val="lt1"/>
                </a:solidFill>
                <a:ea typeface="+mn-ea"/>
                <a:cs typeface="+mn-cs"/>
              </a:defRPr>
            </a:lvl5pPr>
          </a:lstStyle>
          <a:p>
            <a:pPr lvl="0" defTabSz="914400" latinLnBrk="0"/>
            <a:r>
              <a:rPr lang="en-US"/>
              <a:t>Section name here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2766863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Object 13" hidden="1">
            <a:extLst>
              <a:ext uri="{FF2B5EF4-FFF2-40B4-BE49-F238E27FC236}">
                <a16:creationId xmlns:a16="http://schemas.microsoft.com/office/drawing/2014/main" id="{9027F242-DDAF-B053-93FE-EC12F9D0D99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3291952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14" name="Object 13" hidden="1">
                        <a:extLst>
                          <a:ext uri="{FF2B5EF4-FFF2-40B4-BE49-F238E27FC236}">
                            <a16:creationId xmlns:a16="http://schemas.microsoft.com/office/drawing/2014/main" id="{9027F242-DDAF-B053-93FE-EC12F9D0D9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5F1EE6-CC2E-D070-A90B-647278E145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49CA66-3B81-6EAF-89CE-191E07E89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Source: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F070BEA7-0BC2-CD56-A017-D27D458E7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580221"/>
            <a:ext cx="11459365" cy="700597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4267445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EF090DBB-DBAB-499B-B31E-9C5FEBA1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607693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81" imgH="381" progId="TCLayout.ActiveDocument.1">
                  <p:embed/>
                </p:oleObj>
              </mc:Choice>
              <mc:Fallback>
                <p:oleObj name="think-cell Slide" r:id="rId3" imgW="381" imgH="38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EF090DBB-DBAB-499B-B31E-9C5FEBA1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Rectangle 28">
            <a:extLst>
              <a:ext uri="{FF2B5EF4-FFF2-40B4-BE49-F238E27FC236}">
                <a16:creationId xmlns:a16="http://schemas.microsoft.com/office/drawing/2014/main" id="{2AED96BB-361A-4F3E-A7CB-D1560FDE9F21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D3CA51-1D19-4ADC-908F-13F64C03CB2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07417" y="3925156"/>
            <a:ext cx="4698834" cy="1181862"/>
          </a:xfrm>
          <a:prstGeom prst="rect">
            <a:avLst/>
          </a:prstGeom>
        </p:spPr>
        <p:txBody>
          <a:bodyPr vert="horz" wrap="square" lIns="0" tIns="0" rIns="0" bIns="0" anchor="b">
            <a:spAutoFit/>
          </a:bodyPr>
          <a:lstStyle>
            <a:lvl1pPr algn="ctr">
              <a:defRPr sz="3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2FDB2B-16C1-4564-B415-DBBBCF0037B4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3811" y="1475802"/>
            <a:ext cx="2726046" cy="1953198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44C01ECE-843C-4618-8C3A-082A62CB3D4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07417" y="5334153"/>
            <a:ext cx="4698834" cy="30777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ctr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6" indent="0">
              <a:buNone/>
              <a:defRPr/>
            </a:lvl2pPr>
            <a:lvl3pPr marL="914411" indent="0">
              <a:buNone/>
              <a:defRPr/>
            </a:lvl3pPr>
            <a:lvl4pPr marL="1371617" indent="0">
              <a:buNone/>
              <a:defRPr/>
            </a:lvl4pPr>
            <a:lvl5pPr marL="1828823" indent="0">
              <a:buNone/>
              <a:defRPr/>
            </a:lvl5pPr>
          </a:lstStyle>
          <a:p>
            <a:pPr lvl="0"/>
            <a:r>
              <a:rPr lang="en-US"/>
              <a:t>Event title – event date</a:t>
            </a:r>
          </a:p>
        </p:txBody>
      </p:sp>
      <p:sp>
        <p:nvSpPr>
          <p:cNvPr id="3" name="Picture Placeholder 7">
            <a:extLst>
              <a:ext uri="{FF2B5EF4-FFF2-40B4-BE49-F238E27FC236}">
                <a16:creationId xmlns:a16="http://schemas.microsoft.com/office/drawing/2014/main" id="{9F417C3A-BBD1-0EAC-6A37-12CE6587C5B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" y="0"/>
            <a:ext cx="6921666" cy="6858000"/>
          </a:xfrm>
          <a:prstGeom prst="rect">
            <a:avLst/>
          </a:prstGeom>
          <a:noFill/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Insert image </a:t>
            </a:r>
          </a:p>
          <a:p>
            <a:r>
              <a:rPr lang="en-US"/>
              <a:t>(try: https://unsplash.com/)</a:t>
            </a:r>
          </a:p>
        </p:txBody>
      </p:sp>
    </p:spTree>
    <p:extLst>
      <p:ext uri="{BB962C8B-B14F-4D97-AF65-F5344CB8AC3E}">
        <p14:creationId xmlns:p14="http://schemas.microsoft.com/office/powerpoint/2010/main" val="22100435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 2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49093" y="381001"/>
            <a:ext cx="7997522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49093" y="3970736"/>
            <a:ext cx="6884562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>
                    <a:lumMod val="95000"/>
                  </a:schemeClr>
                </a:solidFill>
                <a:latin typeface="GT Sectra Fine"/>
              </a:defRPr>
            </a:lvl1pPr>
            <a:lvl2pPr marL="457206" indent="0" algn="ctr">
              <a:buNone/>
              <a:defRPr sz="2000"/>
            </a:lvl2pPr>
            <a:lvl3pPr marL="914411" indent="0" algn="ctr">
              <a:buNone/>
              <a:defRPr sz="1801"/>
            </a:lvl3pPr>
            <a:lvl4pPr marL="1371617" indent="0" algn="ctr">
              <a:buNone/>
              <a:defRPr sz="1600"/>
            </a:lvl4pPr>
            <a:lvl5pPr marL="1828823" indent="0" algn="ctr">
              <a:buNone/>
              <a:defRPr sz="1600"/>
            </a:lvl5pPr>
            <a:lvl6pPr marL="2286029" indent="0" algn="ctr">
              <a:buNone/>
              <a:defRPr sz="1600"/>
            </a:lvl6pPr>
            <a:lvl7pPr marL="2743234" indent="0" algn="ctr">
              <a:buNone/>
              <a:defRPr sz="1600"/>
            </a:lvl7pPr>
            <a:lvl8pPr marL="3200440" indent="0" algn="ctr">
              <a:buNone/>
              <a:defRPr sz="1600"/>
            </a:lvl8pPr>
            <a:lvl9pPr marL="3657646" indent="0" algn="ctr">
              <a:buNone/>
              <a:defRPr sz="1600"/>
            </a:lvl9pPr>
          </a:lstStyle>
          <a:p>
            <a:pPr marL="0" lvl="0" indent="0" algn="l" defTabSz="914411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49093" y="5352585"/>
            <a:ext cx="4114798" cy="530687"/>
          </a:xfrm>
        </p:spPr>
        <p:txBody>
          <a:bodyPr/>
          <a:lstStyle>
            <a:lvl1pPr marL="0" indent="0" algn="l" defTabSz="914411" rtl="0" eaLnBrk="1" latinLnBrk="0" hangingPunct="1">
              <a:spcAft>
                <a:spcPts val="0"/>
              </a:spcAft>
              <a:buNone/>
              <a:defRPr lang="en-US" sz="16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11" rtl="0" eaLnBrk="1" latinLnBrk="0" hangingPunct="1">
              <a:spcAft>
                <a:spcPts val="0"/>
              </a:spcAft>
              <a:defRPr lang="en-US" sz="1401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Date (DD MMMM YYYY)</a:t>
            </a:r>
          </a:p>
        </p:txBody>
      </p:sp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E5A68FC7-26B5-D447-0F4F-4539456AF0C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3521" y="4788067"/>
            <a:ext cx="1965317" cy="1298408"/>
          </a:xfrm>
          <a:prstGeom prst="rect">
            <a:avLst/>
          </a:prstGeom>
        </p:spPr>
      </p:pic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1F6C5752-FCAA-86D8-96A8-435178EF85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9092" y="5004444"/>
            <a:ext cx="4114800" cy="348141"/>
          </a:xfrm>
          <a:prstGeom prst="rect">
            <a:avLst/>
          </a:prstGeom>
        </p:spPr>
        <p:txBody>
          <a:bodyPr/>
          <a:lstStyle>
            <a:lvl1pPr>
              <a:defRPr lang="en-US" sz="1600" b="0" i="0" kern="1200" spc="0" dirty="0" smtClean="0">
                <a:solidFill>
                  <a:schemeClr val="tx1">
                    <a:lumMod val="95000"/>
                  </a:schemeClr>
                </a:solidFill>
                <a:latin typeface="+mj-lt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Presenters</a:t>
            </a:r>
          </a:p>
        </p:txBody>
      </p:sp>
    </p:spTree>
    <p:extLst>
      <p:ext uri="{BB962C8B-B14F-4D97-AF65-F5344CB8AC3E}">
        <p14:creationId xmlns:p14="http://schemas.microsoft.com/office/powerpoint/2010/main" val="30914830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 userDrawn="1">
          <p15:clr>
            <a:srgbClr val="5ACBF0"/>
          </p15:clr>
        </p15:guide>
        <p15:guide id="2" orient="horz" pos="2520" userDrawn="1">
          <p15:clr>
            <a:srgbClr val="5ACBF0"/>
          </p15:clr>
        </p15:guide>
        <p15:guide id="3" pos="720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1001" y="2182000"/>
            <a:ext cx="3267012" cy="286957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bg2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1"/>
            </a:lvl2pPr>
            <a:lvl3pPr marL="228604">
              <a:buFont typeface="Arial" panose="020B0604020202020204" pitchFamily="34" charset="0"/>
              <a:buChar char="•"/>
              <a:defRPr sz="1801"/>
            </a:lvl3pPr>
            <a:lvl4pPr marL="457206">
              <a:buFont typeface="System Font"/>
              <a:buChar char="–"/>
              <a:defRPr sz="1600"/>
            </a:lvl4pPr>
            <a:lvl5pPr marL="685809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agenda summary here in GT Sectra Fine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2" y="1371601"/>
            <a:ext cx="3267012" cy="810399"/>
          </a:xfrm>
          <a:prstGeom prst="rect">
            <a:avLst/>
          </a:prstGeom>
        </p:spPr>
        <p:txBody>
          <a:bodyPr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966973" y="137160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7" name="Text Placeholder 17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66973" y="1976479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66973" y="2581356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66973" y="3186234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966973" y="3791113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966973" y="439599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966973" y="5000868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9" name="Text Placeholder 17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966973" y="5605747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284358" y="137160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4284358" y="1976479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84358" y="2581356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284358" y="3186234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284358" y="3791113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4284358" y="439599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84358" y="5000868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84358" y="5605747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</a:extLst>
          </p:cNvPr>
          <p:cNvCxnSpPr>
            <a:cxnSpLocks/>
          </p:cNvCxnSpPr>
          <p:nvPr userDrawn="1"/>
        </p:nvCxnSpPr>
        <p:spPr>
          <a:xfrm>
            <a:off x="4045241" y="1371601"/>
            <a:ext cx="0" cy="33327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 Placeholder 17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857959" y="137160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857959" y="1976479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8" name="Text Placeholder 17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8857959" y="2581356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9" name="Text Placeholder 17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8857959" y="3186234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0" name="Text Placeholder 17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857959" y="3791113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1" name="Text Placeholder 17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857959" y="4395990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2" name="Text Placeholder 17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857959" y="5000868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3" name="Text Placeholder 17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8857959" y="5605747"/>
            <a:ext cx="2953038" cy="485340"/>
          </a:xfrm>
          <a:prstGeom prst="rect">
            <a:avLst/>
          </a:prstGeo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4" name="Text Placeholder 17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195094" y="137160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5" name="Text Placeholder 17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195094" y="1976479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6" name="Text Placeholder 17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8195094" y="2581356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7" name="Text Placeholder 17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195094" y="3186234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8" name="Text Placeholder 1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195094" y="3791113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9" name="Text Placeholder 17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195094" y="4395990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0" name="Text Placeholder 17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8195094" y="5000868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1" name="Text Placeholder 17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195094" y="5605747"/>
            <a:ext cx="558000" cy="485340"/>
          </a:xfrm>
          <a:prstGeom prst="rect">
            <a:avLst/>
          </a:prstGeom>
        </p:spPr>
        <p:txBody>
          <a:bodyPr anchor="ctr"/>
          <a:lstStyle>
            <a:lvl1pPr marL="0" marR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1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C4F5B-DE83-214A-95EA-68339F579CF1}"/>
              </a:ext>
            </a:extLst>
          </p:cNvPr>
          <p:cNvSpPr txBox="1"/>
          <p:nvPr userDrawn="1"/>
        </p:nvSpPr>
        <p:spPr>
          <a:xfrm>
            <a:off x="9290304" y="660196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4">
              <a:spcAft>
                <a:spcPts val="1200"/>
              </a:spcAft>
            </a:pPr>
            <a:endParaRPr lang="en-US" sz="1801" noProof="0"/>
          </a:p>
        </p:txBody>
      </p:sp>
    </p:spTree>
    <p:extLst>
      <p:ext uri="{BB962C8B-B14F-4D97-AF65-F5344CB8AC3E}">
        <p14:creationId xmlns:p14="http://schemas.microsoft.com/office/powerpoint/2010/main" val="2758299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break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D8A76DE-ECA0-60F4-575C-02C4077408B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09254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D8A76DE-ECA0-60F4-575C-02C4077408B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7B9E7BD-B7D1-FF01-F546-0CADB6C2F4C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25550" y="2909333"/>
            <a:ext cx="9389031" cy="1039334"/>
          </a:xfrm>
          <a:prstGeom prst="rect">
            <a:avLst/>
          </a:prstGeom>
        </p:spPr>
        <p:txBody>
          <a:bodyPr anchor="ctr"/>
          <a:lstStyle>
            <a:lvl1pPr>
              <a:defRPr sz="3200" b="1"/>
            </a:lvl1pPr>
          </a:lstStyle>
          <a:p>
            <a:pPr lvl="0"/>
            <a:r>
              <a:rPr lang="en-US"/>
              <a:t>## - Place section title here in sentence case, max 2 lines </a:t>
            </a:r>
          </a:p>
        </p:txBody>
      </p:sp>
    </p:spTree>
    <p:extLst>
      <p:ext uri="{BB962C8B-B14F-4D97-AF65-F5344CB8AC3E}">
        <p14:creationId xmlns:p14="http://schemas.microsoft.com/office/powerpoint/2010/main" val="6094456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ags" Target="../tags/tag3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Relationship Id="rId30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DBCE4D4F-8CCC-404C-840E-8A45E07645C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8"/>
            </p:custDataLst>
            <p:extLst>
              <p:ext uri="{D42A27DB-BD31-4B8C-83A1-F6EECF244321}">
                <p14:modId xmlns:p14="http://schemas.microsoft.com/office/powerpoint/2010/main" val="105608378"/>
              </p:ext>
            </p:extLst>
          </p:nvPr>
        </p:nvGraphicFramePr>
        <p:xfrm>
          <a:off x="1588" y="1587"/>
          <a:ext cx="1589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0" imgW="395" imgH="394" progId="TCLayout.ActiveDocument.1">
                  <p:embed/>
                </p:oleObj>
              </mc:Choice>
              <mc:Fallback>
                <p:oleObj name="think-cell Slide" r:id="rId30" imgW="395" imgH="394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DBCE4D4F-8CCC-404C-840E-8A45E07645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1"/>
                      <a:stretch>
                        <a:fillRect/>
                      </a:stretch>
                    </p:blipFill>
                    <p:spPr>
                      <a:xfrm>
                        <a:off x="1588" y="1587"/>
                        <a:ext cx="1589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DC4AAB9D-85C6-43AB-8696-D55AD6DDE24E}"/>
              </a:ext>
            </a:extLst>
          </p:cNvPr>
          <p:cNvSpPr/>
          <p:nvPr userDrawn="1">
            <p:custDataLst>
              <p:tags r:id="rId29"/>
            </p:custDataLst>
          </p:nvPr>
        </p:nvSpPr>
        <p:spPr>
          <a:xfrm>
            <a:off x="0" y="1"/>
            <a:ext cx="158812" cy="158713"/>
          </a:xfrm>
          <a:prstGeom prst="rect">
            <a:avLst/>
          </a:prstGeom>
          <a:solidFill>
            <a:schemeClr val="accent2"/>
          </a:solidFill>
          <a:ln w="19050">
            <a:noFill/>
            <a:prstDash val="sys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lang="en-US" sz="3598" b="1" i="0" baseline="0">
              <a:solidFill>
                <a:schemeClr val="bg1"/>
              </a:solidFill>
              <a:latin typeface="Graphik" panose="020B0503030202060203" pitchFamily="34" charset="0"/>
              <a:cs typeface="Arial" panose="020B0604020202020204" pitchFamily="34" charset="0"/>
              <a:sym typeface="Graphik" panose="020B0503030202060203" pitchFamily="34" charset="0"/>
            </a:endParaRP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E029236F-8D4F-46BA-A33A-11E2F113A7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H="1">
            <a:off x="10946922" y="6401006"/>
            <a:ext cx="561476" cy="273402"/>
          </a:xfrm>
          <a:prstGeom prst="rect">
            <a:avLst/>
          </a:prstGeom>
        </p:spPr>
        <p:txBody>
          <a:bodyPr tIns="0" bIns="0" anchor="b"/>
          <a:lstStyle>
            <a:lvl1pPr algn="l">
              <a:defRPr sz="1001" b="0">
                <a:solidFill>
                  <a:schemeClr val="tx1"/>
                </a:solidFill>
                <a:latin typeface="+mj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Footer Placeholder 6">
            <a:extLst>
              <a:ext uri="{FF2B5EF4-FFF2-40B4-BE49-F238E27FC236}">
                <a16:creationId xmlns:a16="http://schemas.microsoft.com/office/drawing/2014/main" id="{37E62055-3E0F-4EBB-A962-F9600119E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5739" y="6402651"/>
            <a:ext cx="3733634" cy="270112"/>
          </a:xfrm>
          <a:prstGeom prst="rect">
            <a:avLst/>
          </a:prstGeom>
        </p:spPr>
        <p:txBody>
          <a:bodyPr tIns="0" bIns="0" anchor="ctr"/>
          <a:lstStyle>
            <a:lvl1pPr algn="l">
              <a:defRPr sz="800">
                <a:solidFill>
                  <a:schemeClr val="tx1">
                    <a:alpha val="50000"/>
                  </a:schemeClr>
                </a:solidFill>
                <a:latin typeface="+mn-lt"/>
              </a:defRPr>
            </a:lvl1pPr>
          </a:lstStyle>
          <a:p>
            <a:r>
              <a:rPr lang="en-GB"/>
              <a:t>Source:</a:t>
            </a:r>
          </a:p>
        </p:txBody>
      </p:sp>
      <p:pic>
        <p:nvPicPr>
          <p:cNvPr id="9" name="Picture 8" descr="Logo&#10;&#10;Description automatically generated">
            <a:extLst>
              <a:ext uri="{FF2B5EF4-FFF2-40B4-BE49-F238E27FC236}">
                <a16:creationId xmlns:a16="http://schemas.microsoft.com/office/drawing/2014/main" id="{A66CE9E3-35BA-4A0B-8098-8A65954FE472}"/>
              </a:ext>
            </a:extLst>
          </p:cNvPr>
          <p:cNvPicPr>
            <a:picLocks noChangeAspect="1"/>
          </p:cNvPicPr>
          <p:nvPr userDrawn="1"/>
        </p:nvPicPr>
        <p:blipFill>
          <a:blip r:embed="rId3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8897" y="6393635"/>
            <a:ext cx="350924" cy="28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98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20" r:id="rId2"/>
    <p:sldLayoutId id="2147483721" r:id="rId3"/>
    <p:sldLayoutId id="2147483722" r:id="rId4"/>
    <p:sldLayoutId id="2147483726" r:id="rId5"/>
    <p:sldLayoutId id="2147483740" r:id="rId6"/>
    <p:sldLayoutId id="2147483725" r:id="rId7"/>
    <p:sldLayoutId id="2147483727" r:id="rId8"/>
    <p:sldLayoutId id="2147483728" r:id="rId9"/>
    <p:sldLayoutId id="2147483729" r:id="rId10"/>
    <p:sldLayoutId id="2147483730" r:id="rId11"/>
    <p:sldLayoutId id="2147483739" r:id="rId12"/>
    <p:sldLayoutId id="2147483735" r:id="rId13"/>
    <p:sldLayoutId id="2147483736" r:id="rId14"/>
    <p:sldLayoutId id="2147483737" r:id="rId15"/>
    <p:sldLayoutId id="2147483738" r:id="rId16"/>
    <p:sldLayoutId id="2147483731" r:id="rId17"/>
    <p:sldLayoutId id="2147483732" r:id="rId18"/>
    <p:sldLayoutId id="2147483733" r:id="rId19"/>
    <p:sldLayoutId id="2147483734" r:id="rId20"/>
    <p:sldLayoutId id="2147483710" r:id="rId21"/>
    <p:sldLayoutId id="2147483719" r:id="rId22"/>
    <p:sldLayoutId id="2147483706" r:id="rId23"/>
    <p:sldLayoutId id="2147483712" r:id="rId24"/>
    <p:sldLayoutId id="2147483707" r:id="rId25"/>
    <p:sldLayoutId id="2147483708" r:id="rId26"/>
  </p:sldLayoutIdLst>
  <p:hf hdr="0" ftr="0" dt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buFont typeface="Arial" charset="0"/>
        <a:defRPr lang="en-AU" sz="2800" b="1" i="0" kern="1200" cap="none" spc="-149" baseline="0" dirty="0" smtClean="0">
          <a:solidFill>
            <a:schemeClr val="tx1"/>
          </a:solidFill>
          <a:latin typeface="+mj-lt"/>
          <a:ea typeface="Roboto Black" panose="02000000000000000000" pitchFamily="2" charset="0"/>
          <a:cs typeface="Arial" panose="020B0604020202020204" pitchFamily="34" charset="0"/>
        </a:defRPr>
      </a:lvl1pPr>
      <a:lvl2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2pPr>
      <a:lvl3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3pPr>
      <a:lvl4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4pPr>
      <a:lvl5pPr algn="l" rtl="0" eaLnBrk="1" fontAlgn="base" hangingPunct="1">
        <a:lnSpc>
          <a:spcPts val="3465"/>
        </a:lnSpc>
        <a:spcBef>
          <a:spcPct val="0"/>
        </a:spcBef>
        <a:spcAft>
          <a:spcPct val="0"/>
        </a:spcAft>
        <a:buFont typeface="Arial" charset="0"/>
        <a:defRPr sz="3198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5pPr>
      <a:lvl6pPr marL="609329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6pPr>
      <a:lvl7pPr marL="1218657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7pPr>
      <a:lvl8pPr marL="1827986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8pPr>
      <a:lvl9pPr marL="2437314" algn="l" rtl="0" eaLnBrk="1" fontAlgn="base" hangingPunct="1">
        <a:spcBef>
          <a:spcPct val="0"/>
        </a:spcBef>
        <a:spcAft>
          <a:spcPct val="0"/>
        </a:spcAft>
        <a:buFont typeface="Arial" pitchFamily="-105" charset="-52"/>
        <a:defRPr sz="3499">
          <a:solidFill>
            <a:schemeClr val="tx1"/>
          </a:solidFill>
          <a:latin typeface="Arial" pitchFamily="-105" charset="-52"/>
          <a:ea typeface="Arial" pitchFamily="-105" charset="-52"/>
          <a:cs typeface="Arial" pitchFamily="-105" charset="-52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None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1pPr>
      <a:lvl2pPr marL="215960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•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2pPr>
      <a:lvl3pPr marL="431920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‒"/>
        <a:tabLst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3pPr>
      <a:lvl4pPr marL="611885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•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4pPr>
      <a:lvl5pPr marL="863838" indent="-215960" algn="l" rtl="0" eaLnBrk="1" fontAlgn="base" hangingPunct="1">
        <a:lnSpc>
          <a:spcPct val="100000"/>
        </a:lnSpc>
        <a:spcBef>
          <a:spcPts val="601"/>
        </a:spcBef>
        <a:spcAft>
          <a:spcPct val="0"/>
        </a:spcAft>
        <a:buFont typeface="Arial" pitchFamily="34" charset="0"/>
        <a:buChar char="‒"/>
        <a:defRPr sz="1801" b="0" i="0" kern="1200">
          <a:solidFill>
            <a:schemeClr val="tx1"/>
          </a:solidFill>
          <a:latin typeface="+mn-lt"/>
          <a:ea typeface="Roboto" panose="02000000000000000000" pitchFamily="2" charset="0"/>
          <a:cs typeface="Arial" panose="020B0604020202020204" pitchFamily="34" charset="0"/>
        </a:defRPr>
      </a:lvl5pPr>
      <a:lvl6pPr marL="3351304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6pPr>
      <a:lvl7pPr marL="3960634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7pPr>
      <a:lvl8pPr marL="4569963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8pPr>
      <a:lvl9pPr marL="5179290" indent="-304665" algn="l" defTabSz="1218657" rtl="0" eaLnBrk="1" latinLnBrk="0" hangingPunct="1">
        <a:spcBef>
          <a:spcPct val="20000"/>
        </a:spcBef>
        <a:buFont typeface="Arial" pitchFamily="34" charset="0"/>
        <a:buChar char="•"/>
        <a:defRPr sz="26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329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657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7986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314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6643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5971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5298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4626" algn="l" defTabSz="121865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19" userDrawn="1">
          <p15:clr>
            <a:srgbClr val="F26B43"/>
          </p15:clr>
        </p15:guide>
        <p15:guide id="2" pos="226" userDrawn="1">
          <p15:clr>
            <a:srgbClr val="F26B43"/>
          </p15:clr>
        </p15:guide>
        <p15:guide id="3" pos="7452" userDrawn="1">
          <p15:clr>
            <a:srgbClr val="F26B43"/>
          </p15:clr>
        </p15:guide>
        <p15:guide id="4" pos="1276" userDrawn="1">
          <p15:clr>
            <a:srgbClr val="F26B43"/>
          </p15:clr>
        </p15:guide>
        <p15:guide id="5" pos="1460" userDrawn="1">
          <p15:clr>
            <a:srgbClr val="F26B43"/>
          </p15:clr>
        </p15:guide>
        <p15:guide id="6" pos="2514" userDrawn="1">
          <p15:clr>
            <a:srgbClr val="F26B43"/>
          </p15:clr>
        </p15:guide>
        <p15:guide id="7" pos="2697" userDrawn="1">
          <p15:clr>
            <a:srgbClr val="F26B43"/>
          </p15:clr>
        </p15:guide>
        <p15:guide id="8" pos="3929" userDrawn="1">
          <p15:clr>
            <a:srgbClr val="F26B43"/>
          </p15:clr>
        </p15:guide>
        <p15:guide id="9" pos="3748" userDrawn="1">
          <p15:clr>
            <a:srgbClr val="F26B43"/>
          </p15:clr>
        </p15:guide>
        <p15:guide id="10" pos="4981" userDrawn="1">
          <p15:clr>
            <a:srgbClr val="F26B43"/>
          </p15:clr>
        </p15:guide>
        <p15:guide id="11" pos="5163" userDrawn="1">
          <p15:clr>
            <a:srgbClr val="F26B43"/>
          </p15:clr>
        </p15:guide>
        <p15:guide id="12" pos="6219" userDrawn="1">
          <p15:clr>
            <a:srgbClr val="F26B43"/>
          </p15:clr>
        </p15:guide>
        <p15:guide id="13" pos="6398" userDrawn="1">
          <p15:clr>
            <a:srgbClr val="F26B43"/>
          </p15:clr>
        </p15:guide>
        <p15:guide id="14" orient="horz" pos="807" userDrawn="1">
          <p15:clr>
            <a:srgbClr val="F26B43"/>
          </p15:clr>
        </p15:guide>
        <p15:guide id="15" orient="horz" pos="876" userDrawn="1">
          <p15:clr>
            <a:srgbClr val="F26B43"/>
          </p15:clr>
        </p15:guide>
        <p15:guide id="16" orient="horz" pos="4031" userDrawn="1">
          <p15:clr>
            <a:srgbClr val="F26B43"/>
          </p15:clr>
        </p15:guide>
        <p15:guide id="17" orient="horz" pos="597" userDrawn="1">
          <p15:clr>
            <a:srgbClr val="F26B43"/>
          </p15:clr>
        </p15:guide>
        <p15:guide id="18" orient="horz" pos="2435" userDrawn="1">
          <p15:clr>
            <a:srgbClr val="F26B43"/>
          </p15:clr>
        </p15:guide>
        <p15:guide id="19" orient="horz" pos="3756" userDrawn="1">
          <p15:clr>
            <a:srgbClr val="F26B43"/>
          </p15:clr>
        </p15:guide>
        <p15:guide id="20" orient="horz" pos="419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Layout" Target="../slideLayouts/slideLayout24.xml"/><Relationship Id="rId1" Type="http://schemas.openxmlformats.org/officeDocument/2006/relationships/tags" Target="../tags/tag28.xml"/><Relationship Id="rId4" Type="http://schemas.openxmlformats.org/officeDocument/2006/relationships/image" Target="../media/image1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29.xml"/><Relationship Id="rId5" Type="http://schemas.openxmlformats.org/officeDocument/2006/relationships/image" Target="../media/image7.png"/><Relationship Id="rId4" Type="http://schemas.openxmlformats.org/officeDocument/2006/relationships/image" Target="../media/image1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oleObject" Target="../embeddings/oleObject13.bin"/><Relationship Id="rId7" Type="http://schemas.openxmlformats.org/officeDocument/2006/relationships/image" Target="../media/image8.png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0.xml"/><Relationship Id="rId6" Type="http://schemas.openxmlformats.org/officeDocument/2006/relationships/hyperlink" Target="https://e61.in/same-amount-different-tax-capital-income-tax-calculator/" TargetMode="External"/><Relationship Id="rId5" Type="http://schemas.openxmlformats.org/officeDocument/2006/relationships/hyperlink" Target="https://e61.in/e61-capital-income-tax-calculator/" TargetMode="External"/><Relationship Id="rId4" Type="http://schemas.openxmlformats.org/officeDocument/2006/relationships/image" Target="../media/image1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1.xml"/><Relationship Id="rId4" Type="http://schemas.openxmlformats.org/officeDocument/2006/relationships/image" Target="../media/image1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1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7" Type="http://schemas.openxmlformats.org/officeDocument/2006/relationships/image" Target="../media/image13.png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3.xml"/><Relationship Id="rId6" Type="http://schemas.openxmlformats.org/officeDocument/2006/relationships/image" Target="../media/image12.png"/><Relationship Id="rId5" Type="http://schemas.openxmlformats.org/officeDocument/2006/relationships/hyperlink" Target="https://e61.in/housing-leverage-and-the-capital-gains-tax-discount/" TargetMode="External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7" Type="http://schemas.openxmlformats.org/officeDocument/2006/relationships/image" Target="../media/image15.png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4.xml"/><Relationship Id="rId6" Type="http://schemas.openxmlformats.org/officeDocument/2006/relationships/image" Target="../media/image14.png"/><Relationship Id="rId5" Type="http://schemas.openxmlformats.org/officeDocument/2006/relationships/hyperlink" Target="https://e61.in/submission-to-the-senate-select-committee-on-the-operation-of-the-capital-gains-tax-discount/" TargetMode="External"/><Relationship Id="rId4" Type="http://schemas.openxmlformats.org/officeDocument/2006/relationships/image" Target="../media/image1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oleObject" Target="../embeddings/oleObject13.bin"/><Relationship Id="rId7" Type="http://schemas.openxmlformats.org/officeDocument/2006/relationships/image" Target="../media/image16.png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5.xml"/><Relationship Id="rId6" Type="http://schemas.openxmlformats.org/officeDocument/2006/relationships/hyperlink" Target="https://e61.in/submission-to-the-senate-select-committee-on-the-operation-of-the-capital-gains-tax-discount/" TargetMode="External"/><Relationship Id="rId5" Type="http://schemas.openxmlformats.org/officeDocument/2006/relationships/hyperlink" Target="https://e61.in/housing-leverage-and-the-capital-gains-tax-discount/" TargetMode="External"/><Relationship Id="rId4" Type="http://schemas.openxmlformats.org/officeDocument/2006/relationships/image" Target="../media/image1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6.xml"/><Relationship Id="rId6" Type="http://schemas.openxmlformats.org/officeDocument/2006/relationships/image" Target="../media/image18.jpg"/><Relationship Id="rId5" Type="http://schemas.openxmlformats.org/officeDocument/2006/relationships/hyperlink" Target="https://www.pbo.gov.au/publications-and-data/publications/budget-charts/2026-27-Budget-Snapshot" TargetMode="External"/><Relationship Id="rId4" Type="http://schemas.openxmlformats.org/officeDocument/2006/relationships/image" Target="../media/image1.em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7.xml"/><Relationship Id="rId5" Type="http://schemas.openxmlformats.org/officeDocument/2006/relationships/image" Target="../media/image19.png"/><Relationship Id="rId4" Type="http://schemas.openxmlformats.org/officeDocument/2006/relationships/image" Target="../media/image1.em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8.xml"/><Relationship Id="rId5" Type="http://schemas.openxmlformats.org/officeDocument/2006/relationships/image" Target="../media/image20.png"/><Relationship Id="rId4" Type="http://schemas.openxmlformats.org/officeDocument/2006/relationships/image" Target="../media/image1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39.xml"/><Relationship Id="rId4" Type="http://schemas.openxmlformats.org/officeDocument/2006/relationships/image" Target="../media/image1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4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1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4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4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7" Type="http://schemas.openxmlformats.org/officeDocument/2006/relationships/image" Target="../media/image28.png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43.xml"/><Relationship Id="rId6" Type="http://schemas.openxmlformats.org/officeDocument/2006/relationships/image" Target="../media/image27.png"/><Relationship Id="rId5" Type="http://schemas.openxmlformats.org/officeDocument/2006/relationships/hyperlink" Target="https://e61.in/what-are-we-discounting-for-thinking-through-cgt-reform-options-utilising-property-data/" TargetMode="External"/><Relationship Id="rId4" Type="http://schemas.openxmlformats.org/officeDocument/2006/relationships/image" Target="../media/image1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Layout" Target="../slideLayouts/slideLayout22.xml"/><Relationship Id="rId1" Type="http://schemas.openxmlformats.org/officeDocument/2006/relationships/tags" Target="../tags/tag44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1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F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507B959-9E35-3EC1-53CB-968CEE0AEF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507B959-9E35-3EC1-53CB-968CEE0AEF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6">
            <a:extLst>
              <a:ext uri="{FF2B5EF4-FFF2-40B4-BE49-F238E27FC236}">
                <a16:creationId xmlns:a16="http://schemas.microsoft.com/office/drawing/2014/main" id="{36DFE691-484D-0A62-B4FF-81300FDD9C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AU" dirty="0"/>
              <a:t>Understanding the CGT changes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8BAD583D-414C-8D2B-DA03-8F81A23522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U" dirty="0"/>
              <a:t>Presentation to the Queensland Economics Teachers’ Association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7F4955A-2927-2A7F-F09E-0AAD319A9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AU" dirty="0"/>
              <a:t>5 August 2026</a:t>
            </a:r>
          </a:p>
        </p:txBody>
      </p:sp>
    </p:spTree>
    <p:extLst>
      <p:ext uri="{BB962C8B-B14F-4D97-AF65-F5344CB8AC3E}">
        <p14:creationId xmlns:p14="http://schemas.microsoft.com/office/powerpoint/2010/main" val="15373719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64164-6017-314E-E9A6-4E8428E66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2EBBDD18-8338-F56C-B291-0A34138D14A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EF0666CC-3DE9-4F3C-EF9E-EF19985254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01E0E2-4838-366E-C3E5-92CBC4B34B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A88DD2-9C4C-B9A1-D808-12621E5D5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417" y="403873"/>
            <a:ext cx="11459365" cy="700597"/>
          </a:xfrm>
        </p:spPr>
        <p:txBody>
          <a:bodyPr/>
          <a:lstStyle/>
          <a:p>
            <a:r>
              <a:rPr lang="en-US" dirty="0"/>
              <a:t>Key policy directions of Federal Budget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DEDBDD-1826-E333-B4B1-1A243A7618FD}"/>
              </a:ext>
            </a:extLst>
          </p:cNvPr>
          <p:cNvSpPr txBox="1"/>
          <p:nvPr/>
        </p:nvSpPr>
        <p:spPr>
          <a:xfrm>
            <a:off x="370417" y="991947"/>
            <a:ext cx="96812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Budget 2026 took place given rising concerns about </a:t>
            </a:r>
            <a:r>
              <a:rPr lang="en-AU" dirty="0">
                <a:solidFill>
                  <a:schemeClr val="accent3"/>
                </a:solidFill>
              </a:rPr>
              <a:t>fiscal sustainability</a:t>
            </a:r>
            <a:r>
              <a:rPr lang="en-AU" dirty="0"/>
              <a:t>, </a:t>
            </a:r>
            <a:r>
              <a:rPr lang="en-AU" dirty="0">
                <a:solidFill>
                  <a:schemeClr val="accent5"/>
                </a:solidFill>
              </a:rPr>
              <a:t>intergenerational equity</a:t>
            </a:r>
            <a:r>
              <a:rPr lang="en-AU" dirty="0"/>
              <a:t>, and </a:t>
            </a:r>
            <a:r>
              <a:rPr lang="en-AU" dirty="0">
                <a:solidFill>
                  <a:schemeClr val="accent1"/>
                </a:solidFill>
              </a:rPr>
              <a:t>productivity growth</a:t>
            </a:r>
            <a:r>
              <a:rPr lang="en-AU" dirty="0"/>
              <a:t> – three topics that are closely linked.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F200C6-B159-78BE-6055-71D115428ADE}"/>
              </a:ext>
            </a:extLst>
          </p:cNvPr>
          <p:cNvSpPr txBox="1"/>
          <p:nvPr/>
        </p:nvSpPr>
        <p:spPr>
          <a:xfrm>
            <a:off x="362219" y="1988227"/>
            <a:ext cx="5809982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AU" sz="1600" b="1" dirty="0">
                <a:solidFill>
                  <a:schemeClr val="bg1">
                    <a:lumMod val="50000"/>
                  </a:schemeClr>
                </a:solidFill>
              </a:rPr>
              <a:t>NDIS reforms</a:t>
            </a: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endParaRPr lang="en-AU" sz="1600" dirty="0">
              <a:solidFill>
                <a:schemeClr val="bg1">
                  <a:lumMod val="50000"/>
                </a:schemeClr>
              </a:solidFill>
            </a:endParaRP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Details are currently limited – but these savings were the main drivers of surplus returning.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Thriving kids program a significant part, however a lot of community and social support likely to be removed.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endParaRPr lang="en-AU" sz="1600" dirty="0">
              <a:solidFill>
                <a:schemeClr val="bg1">
                  <a:lumMod val="50000"/>
                </a:schemeClr>
              </a:solidFill>
            </a:endParaRP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AU" sz="1600" b="1" dirty="0">
                <a:solidFill>
                  <a:schemeClr val="bg1">
                    <a:lumMod val="50000"/>
                  </a:schemeClr>
                </a:solidFill>
              </a:rPr>
              <a:t>Tax reforms</a:t>
            </a: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endParaRPr lang="en-AU" sz="1600" dirty="0">
              <a:solidFill>
                <a:schemeClr val="bg1">
                  <a:lumMod val="50000"/>
                </a:schemeClr>
              </a:solidFill>
            </a:endParaRP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WATO and the future taxation of labour income.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Liquidity and R&amp;D policies for small and young firms.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dirty="0">
                <a:solidFill>
                  <a:schemeClr val="bg1">
                    <a:lumMod val="50000"/>
                  </a:schemeClr>
                </a:solidFill>
              </a:rPr>
              <a:t>Minimum trust tax rate.</a:t>
            </a:r>
          </a:p>
          <a:p>
            <a:pPr marL="800100" lvl="1" indent="-3429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sz="1600" b="1" dirty="0">
                <a:solidFill>
                  <a:schemeClr val="accent3">
                    <a:lumMod val="50000"/>
                  </a:schemeClr>
                </a:solidFill>
              </a:rPr>
              <a:t>Capital gains and negative gearing.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1C9893-42F1-9C15-105C-9F675CD7A5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7" y="1629743"/>
            <a:ext cx="5341423" cy="4702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251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DA847-21CE-9729-974A-AFE855A24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3BDDBE8-1987-5384-B32F-56EFA0DF52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ABB9CBC-6DA6-9AFC-AFA6-E022FEC7F5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82E212-2DF4-4F6B-87E8-43D37398DF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77D214-144D-E2E3-F1E8-57B652866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Taxation of income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376E34-ED54-32D7-B50B-1E9101B4A63F}"/>
              </a:ext>
            </a:extLst>
          </p:cNvPr>
          <p:cNvSpPr txBox="1"/>
          <p:nvPr/>
        </p:nvSpPr>
        <p:spPr>
          <a:xfrm>
            <a:off x="370417" y="1017088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Understanding taxation of capital gains requires thinking about </a:t>
            </a:r>
            <a:r>
              <a:rPr lang="en-AU" b="1" i="1" dirty="0">
                <a:solidFill>
                  <a:schemeClr val="accent2"/>
                </a:solidFill>
              </a:rPr>
              <a:t>income tax</a:t>
            </a:r>
            <a:r>
              <a:rPr lang="en-AU" dirty="0"/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214302-DD50-AE5C-904C-7E5F23089FDC}"/>
              </a:ext>
            </a:extLst>
          </p:cNvPr>
          <p:cNvSpPr txBox="1"/>
          <p:nvPr/>
        </p:nvSpPr>
        <p:spPr>
          <a:xfrm>
            <a:off x="370417" y="2452412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Tax changes in the </a:t>
            </a:r>
            <a:r>
              <a:rPr lang="en-AU" i="1" dirty="0"/>
              <a:t>capacity to consume</a:t>
            </a:r>
            <a:r>
              <a:rPr lang="en-AU" dirty="0"/>
              <a:t> irrespective of how we do so (</a:t>
            </a:r>
            <a:r>
              <a:rPr lang="en-AU" dirty="0">
                <a:hlinkClick r:id="rId5"/>
              </a:rPr>
              <a:t>https://e61.in/e61-capital-income-tax-calculator/</a:t>
            </a:r>
            <a:r>
              <a:rPr lang="en-AU" dirty="0"/>
              <a:t>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B56CC1-6607-B13A-2A18-913AED79043A}"/>
              </a:ext>
            </a:extLst>
          </p:cNvPr>
          <p:cNvSpPr txBox="1"/>
          <p:nvPr/>
        </p:nvSpPr>
        <p:spPr>
          <a:xfrm>
            <a:off x="370417" y="1492022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6"/>
              </a:rPr>
              <a:t>Tax capital like wages</a:t>
            </a:r>
            <a:r>
              <a:rPr lang="en-AU" dirty="0"/>
              <a:t>? Intergenerational equity? Equity-efficiency trade-off.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921FFC-FCA9-4528-4B62-F3467CF89EAD}"/>
              </a:ext>
            </a:extLst>
          </p:cNvPr>
          <p:cNvSpPr txBox="1"/>
          <p:nvPr/>
        </p:nvSpPr>
        <p:spPr>
          <a:xfrm>
            <a:off x="370417" y="199674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What is income?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11C591-ABB2-82C5-528D-CA60C1415F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5514" y="3582722"/>
            <a:ext cx="3231820" cy="31605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D472B1-9D68-5A5F-A34B-6BBE6CD334C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80473" y="3651566"/>
            <a:ext cx="3186533" cy="302284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2DD4D2D-A3CB-1416-C0FF-C490D822C783}"/>
              </a:ext>
            </a:extLst>
          </p:cNvPr>
          <p:cNvSpPr txBox="1"/>
          <p:nvPr/>
        </p:nvSpPr>
        <p:spPr>
          <a:xfrm>
            <a:off x="2044666" y="3213390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Fixer-upper sale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E1B8EB-BCC7-F68D-7B33-F4C6B61BB2FD}"/>
              </a:ext>
            </a:extLst>
          </p:cNvPr>
          <p:cNvSpPr txBox="1"/>
          <p:nvPr/>
        </p:nvSpPr>
        <p:spPr>
          <a:xfrm>
            <a:off x="6686770" y="3217236"/>
            <a:ext cx="3836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High inflation property investor</a:t>
            </a:r>
          </a:p>
        </p:txBody>
      </p:sp>
    </p:spTree>
    <p:extLst>
      <p:ext uri="{BB962C8B-B14F-4D97-AF65-F5344CB8AC3E}">
        <p14:creationId xmlns:p14="http://schemas.microsoft.com/office/powerpoint/2010/main" val="1512222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8" grpId="0"/>
      <p:bldP spid="12" grpId="0"/>
      <p:bldP spid="11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7EF9E-4B46-BA1C-689C-4290A6CB2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1ABB9CBC-6DA6-9AFC-AFA6-E022FEC7F52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2EBBDD18-8338-F56C-B291-0A34138D14A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AAE1D-A72C-B006-0E8F-C1F9BA60327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5E485F-54F8-637E-78F3-3193ADF60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Taxation of income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B6AFC-BDD6-D283-7ABD-151874FF4396}"/>
              </a:ext>
            </a:extLst>
          </p:cNvPr>
          <p:cNvSpPr txBox="1"/>
          <p:nvPr/>
        </p:nvSpPr>
        <p:spPr>
          <a:xfrm>
            <a:off x="370417" y="116661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Understanding taxation of capital gains requires thinking about </a:t>
            </a:r>
            <a:r>
              <a:rPr lang="en-AU" i="1" dirty="0"/>
              <a:t>income tax</a:t>
            </a:r>
            <a:r>
              <a:rPr lang="en-AU" dirty="0"/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BD21E47-0932-7DD9-62A2-EC9A48D168A9}"/>
              </a:ext>
            </a:extLst>
          </p:cNvPr>
          <p:cNvSpPr txBox="1"/>
          <p:nvPr/>
        </p:nvSpPr>
        <p:spPr>
          <a:xfrm>
            <a:off x="370417" y="3059668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Tax changes in the </a:t>
            </a:r>
            <a:r>
              <a:rPr lang="en-AU" i="1" dirty="0"/>
              <a:t>capacity to consume</a:t>
            </a:r>
            <a:r>
              <a:rPr lang="en-AU" dirty="0"/>
              <a:t> irrespective of how we do so.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12641D-08EC-C155-298C-936EEC4B735E}"/>
              </a:ext>
            </a:extLst>
          </p:cNvPr>
          <p:cNvSpPr txBox="1"/>
          <p:nvPr/>
        </p:nvSpPr>
        <p:spPr>
          <a:xfrm>
            <a:off x="370417" y="1753005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Tax capital like wages? Intergenerational equity? Equity-efficiency trade-off.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BC3DDD-EF3F-3BAB-EA30-B37F1C4EEC55}"/>
              </a:ext>
            </a:extLst>
          </p:cNvPr>
          <p:cNvSpPr txBox="1"/>
          <p:nvPr/>
        </p:nvSpPr>
        <p:spPr>
          <a:xfrm>
            <a:off x="370417" y="2404750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What is income?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12DCE7-5719-DD1C-98BD-EF08B375F584}"/>
              </a:ext>
            </a:extLst>
          </p:cNvPr>
          <p:cNvSpPr txBox="1"/>
          <p:nvPr/>
        </p:nvSpPr>
        <p:spPr>
          <a:xfrm>
            <a:off x="324470" y="3714673"/>
            <a:ext cx="109031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Capital income as a return to savings.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b="1" dirty="0">
                <a:solidFill>
                  <a:schemeClr val="accent3">
                    <a:lumMod val="75000"/>
                  </a:schemeClr>
                </a:solidFill>
              </a:rPr>
              <a:t>Inflation</a:t>
            </a:r>
            <a:r>
              <a:rPr lang="en-AU" dirty="0"/>
              <a:t> reduces the value of nominal savings – not income.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A </a:t>
            </a:r>
            <a:r>
              <a:rPr lang="en-AU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normal rate of return</a:t>
            </a:r>
            <a:r>
              <a:rPr lang="en-AU" dirty="0"/>
              <a:t> compensates for deferring consumption – necessary to maintain present value of savings, so not income.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743202-5D1E-CE5E-9EAC-88017383DA08}"/>
              </a:ext>
            </a:extLst>
          </p:cNvPr>
          <p:cNvSpPr txBox="1"/>
          <p:nvPr/>
        </p:nvSpPr>
        <p:spPr>
          <a:xfrm>
            <a:off x="370417" y="5111642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To tax all true income the same way we can either tax consumption, or tax labour income + capital income above a normal rate of return.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8C2B5C7-768D-2448-A472-5B2894716119}"/>
              </a:ext>
            </a:extLst>
          </p:cNvPr>
          <p:cNvSpPr txBox="1"/>
          <p:nvPr/>
        </p:nvSpPr>
        <p:spPr>
          <a:xfrm>
            <a:off x="370417" y="5891376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Hard to create the </a:t>
            </a:r>
            <a:r>
              <a:rPr lang="en-AU" b="1" dirty="0">
                <a:solidFill>
                  <a:schemeClr val="accent4">
                    <a:lumMod val="75000"/>
                  </a:schemeClr>
                </a:solidFill>
              </a:rPr>
              <a:t>redistribution</a:t>
            </a:r>
            <a:r>
              <a:rPr lang="en-AU" dirty="0"/>
              <a:t> we may want with consumption taxes (progressivity). Hence an income tax is needed.</a:t>
            </a:r>
          </a:p>
        </p:txBody>
      </p:sp>
    </p:spTree>
    <p:extLst>
      <p:ext uri="{BB962C8B-B14F-4D97-AF65-F5344CB8AC3E}">
        <p14:creationId xmlns:p14="http://schemas.microsoft.com/office/powerpoint/2010/main" val="4228773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1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25C1B-C207-8642-0B0A-235A9B3C1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7999A48-644A-84C4-4CD8-E08838BD39F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ABB9CBC-6DA6-9AFC-AFA6-E022FEC7F5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166B4-56FF-9B05-8A3E-322D10F579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1023E0-91E2-C528-450A-413ADBEB6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317" y="417443"/>
            <a:ext cx="11459365" cy="700597"/>
          </a:xfrm>
        </p:spPr>
        <p:txBody>
          <a:bodyPr/>
          <a:lstStyle/>
          <a:p>
            <a:r>
              <a:rPr lang="en-US" dirty="0"/>
              <a:t>What are capital gains and negative gearing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213C5F8-0FCF-0CB8-26E8-BD91767A8BD5}"/>
              </a:ext>
            </a:extLst>
          </p:cNvPr>
          <p:cNvSpPr txBox="1"/>
          <p:nvPr/>
        </p:nvSpPr>
        <p:spPr>
          <a:xfrm>
            <a:off x="370417" y="116661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A </a:t>
            </a:r>
            <a:r>
              <a:rPr lang="en-AU" b="1" dirty="0"/>
              <a:t>capital gain</a:t>
            </a:r>
            <a:r>
              <a:rPr lang="en-AU" dirty="0"/>
              <a:t> is an additional form of capital income.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46BFDCD-B5A2-2F0F-EEAC-BAB0BDFEEA46}"/>
              </a:ext>
            </a:extLst>
          </p:cNvPr>
          <p:cNvSpPr txBox="1"/>
          <p:nvPr/>
        </p:nvSpPr>
        <p:spPr>
          <a:xfrm>
            <a:off x="370417" y="1753005"/>
            <a:ext cx="1090319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Like other capital income, some of the dollar amount is not “income”.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Is taxed on </a:t>
            </a:r>
            <a:r>
              <a:rPr lang="en-AU" i="1" dirty="0"/>
              <a:t>realisation</a:t>
            </a:r>
            <a:r>
              <a:rPr lang="en-AU" dirty="0"/>
              <a:t> – this gives capital gain a </a:t>
            </a:r>
            <a:r>
              <a:rPr lang="en-AU" i="1" dirty="0"/>
              <a:t>deferral benefit</a:t>
            </a:r>
            <a:r>
              <a:rPr lang="en-AU" dirty="0"/>
              <a:t> relative to other capital income currently.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Due to progressive taxes, capital gains are taxed at a higher rate than if they were taxed each year.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91CCE7A-AAB1-252E-14B3-083B876784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337" y="3776219"/>
            <a:ext cx="2689676" cy="276148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E6224D3-A789-2D19-E3B3-23F3CA04F22A}"/>
              </a:ext>
            </a:extLst>
          </p:cNvPr>
          <p:cNvSpPr txBox="1"/>
          <p:nvPr/>
        </p:nvSpPr>
        <p:spPr>
          <a:xfrm>
            <a:off x="501029" y="3324282"/>
            <a:ext cx="38282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b="1" dirty="0"/>
              <a:t>Discount and income averaging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A824E8A-2E3C-9E88-48F6-48A4CCCFB2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7714" y="3324282"/>
            <a:ext cx="5549934" cy="341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114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266E1-9BB6-69EC-BC38-9E70064D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1DBAA6C6-2754-C040-35B8-5A27FEF7FFE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7999A48-644A-84C4-4CD8-E08838BD39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6A11A9-AE2C-8B9B-B067-1AD180B876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A03D88-7EBA-06B5-8DF5-2FD9B6BAC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6317" y="417443"/>
            <a:ext cx="11459365" cy="700597"/>
          </a:xfrm>
        </p:spPr>
        <p:txBody>
          <a:bodyPr/>
          <a:lstStyle/>
          <a:p>
            <a:r>
              <a:rPr lang="en-US" dirty="0"/>
              <a:t>What are capital gains and negative gearing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A129AD-2B6B-9AE6-3396-03F985A8D50A}"/>
              </a:ext>
            </a:extLst>
          </p:cNvPr>
          <p:cNvSpPr txBox="1"/>
          <p:nvPr/>
        </p:nvSpPr>
        <p:spPr>
          <a:xfrm>
            <a:off x="381756" y="968986"/>
            <a:ext cx="109031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Negative gearing </a:t>
            </a:r>
            <a:r>
              <a:rPr lang="en-AU" dirty="0"/>
              <a:t>is when annual revenue for an asset in a year is less than the costs, due to </a:t>
            </a:r>
            <a:r>
              <a:rPr lang="en-AU" u="sng" dirty="0">
                <a:hlinkClick r:id="rId5"/>
              </a:rPr>
              <a:t>borrowing expenses</a:t>
            </a:r>
            <a:r>
              <a:rPr lang="en-AU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27FA5D-F220-4D4A-FCAC-E17BAB5EC449}"/>
              </a:ext>
            </a:extLst>
          </p:cNvPr>
          <p:cNvSpPr txBox="1"/>
          <p:nvPr/>
        </p:nvSpPr>
        <p:spPr>
          <a:xfrm>
            <a:off x="366317" y="1637239"/>
            <a:ext cx="10903190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Only allow expenses related to </a:t>
            </a:r>
            <a:r>
              <a:rPr lang="en-AU" b="1" dirty="0"/>
              <a:t>taxed</a:t>
            </a:r>
            <a:r>
              <a:rPr lang="en-AU" dirty="0"/>
              <a:t> income. Allowing deductibility of inflation component of interest inconsistent with discount/indexation.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Quarantining losses both </a:t>
            </a:r>
            <a:r>
              <a:rPr lang="en-AU" dirty="0">
                <a:solidFill>
                  <a:schemeClr val="accent6"/>
                </a:solidFill>
              </a:rPr>
              <a:t>punishes those with genuine losses</a:t>
            </a:r>
            <a:r>
              <a:rPr lang="en-AU" dirty="0"/>
              <a:t> (as all expenses are deferred) and </a:t>
            </a:r>
            <a:r>
              <a:rPr lang="en-AU" dirty="0">
                <a:solidFill>
                  <a:schemeClr val="accent3"/>
                </a:solidFill>
              </a:rPr>
              <a:t>over-credits those making positive annual rental income</a:t>
            </a:r>
            <a:r>
              <a:rPr lang="en-AU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DFB417-5F2A-3774-B220-2EE6592A23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251" y="3015928"/>
            <a:ext cx="5175654" cy="352177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C9441D8-6949-42B3-97E2-05617DFC47C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095" y="3057859"/>
            <a:ext cx="5375256" cy="334314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375138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2F8E5-41A0-3ABC-4DD8-30E2C15D9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4E3CD6D-7C03-04E5-3F28-BE6DFCDE019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450181C-6C9A-9739-99CF-AD4C5359FD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CF04FF-A3DC-C476-30D3-4B2F61B5F2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ADFC11-A675-538F-94FC-CFF9CF760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prior treatment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308C70-5C97-36EC-A1D0-A57121E55447}"/>
              </a:ext>
            </a:extLst>
          </p:cNvPr>
          <p:cNvSpPr txBox="1"/>
          <p:nvPr/>
        </p:nvSpPr>
        <p:spPr>
          <a:xfrm>
            <a:off x="370417" y="1166613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Horizontal </a:t>
            </a:r>
            <a:r>
              <a:rPr lang="en-AU" b="1" dirty="0">
                <a:hlinkClick r:id="rId5"/>
              </a:rPr>
              <a:t>inequity</a:t>
            </a:r>
            <a:endParaRPr lang="en-AU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AD3668-7AF6-B38C-C0AC-E0CC5C6EDCC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527822"/>
            <a:ext cx="4270248" cy="50098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631548-956F-C20E-8497-007ECEE3B4B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37" y="1609124"/>
            <a:ext cx="4397555" cy="499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594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5B8FB-5FB1-0A0C-706C-853FAC99E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B4B163B6-5A84-AD77-0417-7033003C4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4E3CD6D-7C03-04E5-3F28-BE6DFCDE019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6A6161-8885-B281-40F3-2D4D016CEA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C4B2D-D5D8-3BDF-B719-C6887DB5F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835" y="183592"/>
            <a:ext cx="11459365" cy="700597"/>
          </a:xfrm>
        </p:spPr>
        <p:txBody>
          <a:bodyPr/>
          <a:lstStyle/>
          <a:p>
            <a:r>
              <a:rPr lang="en-US" dirty="0"/>
              <a:t>Issues with prior treatment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40209D-F521-E930-DF7F-FB66723F6EBF}"/>
              </a:ext>
            </a:extLst>
          </p:cNvPr>
          <p:cNvSpPr txBox="1"/>
          <p:nvPr/>
        </p:nvSpPr>
        <p:spPr>
          <a:xfrm>
            <a:off x="448922" y="3969238"/>
            <a:ext cx="1090319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Incentive to </a:t>
            </a:r>
            <a:r>
              <a:rPr lang="en-AU" b="1" dirty="0">
                <a:hlinkClick r:id="rId5"/>
              </a:rPr>
              <a:t>borrow too much</a:t>
            </a:r>
            <a:endParaRPr lang="en-AU" b="1" dirty="0"/>
          </a:p>
          <a:p>
            <a:endParaRPr lang="en-AU" b="1" dirty="0"/>
          </a:p>
          <a:p>
            <a:r>
              <a:rPr lang="en-AU" dirty="0"/>
              <a:t>Increasing leverage allows an investor to</a:t>
            </a:r>
            <a:br>
              <a:rPr lang="en-AU" dirty="0"/>
            </a:br>
            <a:r>
              <a:rPr lang="en-AU" dirty="0"/>
              <a:t>increase their return on equity (</a:t>
            </a:r>
            <a:r>
              <a:rPr lang="en-AU" dirty="0" err="1"/>
              <a:t>RoE</a:t>
            </a:r>
            <a:r>
              <a:rPr lang="en-AU" dirty="0"/>
              <a:t>) post-tax</a:t>
            </a:r>
            <a:br>
              <a:rPr lang="en-AU" dirty="0"/>
            </a:br>
            <a:r>
              <a:rPr lang="en-AU" dirty="0"/>
              <a:t>by more than the pre-tax increase.</a:t>
            </a:r>
            <a:br>
              <a:rPr lang="en-AU" dirty="0"/>
            </a:br>
            <a:br>
              <a:rPr lang="en-AU" dirty="0"/>
            </a:br>
            <a:r>
              <a:rPr lang="en-AU" dirty="0"/>
              <a:t>-&gt; Can turn a pre-tax negative return </a:t>
            </a:r>
            <a:br>
              <a:rPr lang="en-AU" dirty="0"/>
            </a:br>
            <a:r>
              <a:rPr lang="en-AU" dirty="0"/>
              <a:t>	positive post-tax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EE279-9661-A311-8659-5454251A6A6B}"/>
              </a:ext>
            </a:extLst>
          </p:cNvPr>
          <p:cNvSpPr txBox="1"/>
          <p:nvPr/>
        </p:nvSpPr>
        <p:spPr>
          <a:xfrm>
            <a:off x="448922" y="1066059"/>
            <a:ext cx="1090319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Vertical </a:t>
            </a:r>
            <a:r>
              <a:rPr lang="en-AU" b="1" dirty="0">
                <a:hlinkClick r:id="rId6"/>
              </a:rPr>
              <a:t>inequity</a:t>
            </a:r>
            <a:endParaRPr lang="en-AU" b="1" dirty="0"/>
          </a:p>
          <a:p>
            <a:endParaRPr lang="en-AU" b="1" dirty="0"/>
          </a:p>
          <a:p>
            <a:r>
              <a:rPr lang="en-AU" dirty="0"/>
              <a:t>Capital gains tend to go to those with high</a:t>
            </a:r>
            <a:br>
              <a:rPr lang="en-AU" dirty="0"/>
            </a:br>
            <a:r>
              <a:rPr lang="en-AU" dirty="0"/>
              <a:t>decade-long income.</a:t>
            </a:r>
            <a:br>
              <a:rPr lang="en-AU" dirty="0"/>
            </a:br>
            <a:br>
              <a:rPr lang="en-AU" dirty="0"/>
            </a:br>
            <a:r>
              <a:rPr lang="en-AU" dirty="0"/>
              <a:t>Implies that the tax-system may be less</a:t>
            </a:r>
            <a:br>
              <a:rPr lang="en-AU" dirty="0"/>
            </a:br>
            <a:r>
              <a:rPr lang="en-AU" dirty="0"/>
              <a:t>progressive than intended.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2FF6502-0844-D9C2-CA51-89A9D1CC01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0518" y="748680"/>
            <a:ext cx="5847913" cy="2791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832AF59-CB4C-D06E-09F1-F3CA011577C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7849" y="3787368"/>
            <a:ext cx="3743848" cy="2681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1486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7E36CF-84D4-AF67-BBD0-0E1A0D6EE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9B37E3C-DC45-B942-68FB-F97B14A17D62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261234B0-5267-CF16-FDC5-9DD62AE7C88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38FBE-3499-FB0E-701F-C5D7AFD429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747464-9493-21D7-B566-225D46518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Implications for revenue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95DD49-39B5-C99A-0A2A-A1B9C031137C}"/>
              </a:ext>
            </a:extLst>
          </p:cNvPr>
          <p:cNvSpPr txBox="1"/>
          <p:nvPr/>
        </p:nvSpPr>
        <p:spPr>
          <a:xfrm>
            <a:off x="370417" y="1062478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It was not clear these reforms should increase revenue – </a:t>
            </a:r>
            <a:r>
              <a:rPr lang="en-AU" b="1" dirty="0">
                <a:hlinkClick r:id="rId5"/>
              </a:rPr>
              <a:t>but it does</a:t>
            </a:r>
            <a:r>
              <a:rPr lang="en-AU" b="1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EF1187-6E18-4C74-A92D-B876C89E7A13}"/>
              </a:ext>
            </a:extLst>
          </p:cNvPr>
          <p:cNvSpPr txBox="1"/>
          <p:nvPr/>
        </p:nvSpPr>
        <p:spPr>
          <a:xfrm>
            <a:off x="370417" y="4489738"/>
            <a:ext cx="83106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>
                <a:solidFill>
                  <a:schemeClr val="bg1">
                    <a:lumMod val="50000"/>
                  </a:schemeClr>
                </a:solidFill>
              </a:rPr>
              <a:t>Gain from change in </a:t>
            </a:r>
            <a:r>
              <a:rPr lang="en-AU" b="1" dirty="0">
                <a:solidFill>
                  <a:schemeClr val="bg1">
                    <a:lumMod val="50000"/>
                  </a:schemeClr>
                </a:solidFill>
              </a:rPr>
              <a:t>distribution of tax rates</a:t>
            </a:r>
            <a:r>
              <a:rPr lang="en-AU" dirty="0">
                <a:solidFill>
                  <a:schemeClr val="bg1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CEC6B1-AB69-4D14-F097-692DA7803FD7}"/>
              </a:ext>
            </a:extLst>
          </p:cNvPr>
          <p:cNvSpPr txBox="1"/>
          <p:nvPr/>
        </p:nvSpPr>
        <p:spPr>
          <a:xfrm>
            <a:off x="7320188" y="2782669"/>
            <a:ext cx="3486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Consistency would also discount other capital income.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61409E-E106-1978-75B5-B45A4E581F6F}"/>
              </a:ext>
            </a:extLst>
          </p:cNvPr>
          <p:cNvCxnSpPr/>
          <p:nvPr/>
        </p:nvCxnSpPr>
        <p:spPr>
          <a:xfrm>
            <a:off x="6829737" y="3132352"/>
            <a:ext cx="411480" cy="0"/>
          </a:xfrm>
          <a:prstGeom prst="straightConnector1">
            <a:avLst/>
          </a:prstGeom>
          <a:ln w="38100">
            <a:solidFill>
              <a:schemeClr val="tx1"/>
            </a:solidFill>
            <a:prstDash val="solid"/>
            <a:headEnd type="none" w="med" len="med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Figure 7">
            <a:extLst>
              <a:ext uri="{FF2B5EF4-FFF2-40B4-BE49-F238E27FC236}">
                <a16:creationId xmlns:a16="http://schemas.microsoft.com/office/drawing/2014/main" id="{5D7EFDDD-DF5F-3245-1F42-CDEC7E8663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" y="1604864"/>
            <a:ext cx="5794144" cy="28848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C4BD942-598F-E63F-3A4E-6C943DA3198C}"/>
              </a:ext>
            </a:extLst>
          </p:cNvPr>
          <p:cNvSpPr txBox="1"/>
          <p:nvPr/>
        </p:nvSpPr>
        <p:spPr>
          <a:xfrm>
            <a:off x="370417" y="4832895"/>
            <a:ext cx="938872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800" dirty="0">
                <a:solidFill>
                  <a:schemeClr val="bg1">
                    <a:lumMod val="50000"/>
                  </a:schemeClr>
                </a:solidFill>
              </a:rPr>
              <a:t>Asymmetric treatment of losses.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800" dirty="0">
                <a:solidFill>
                  <a:schemeClr val="bg1">
                    <a:lumMod val="50000"/>
                  </a:schemeClr>
                </a:solidFill>
              </a:rPr>
              <a:t>No “income averaging” – over-taxation of </a:t>
            </a:r>
            <a:r>
              <a:rPr lang="en-AU" sz="1800" i="1" dirty="0">
                <a:solidFill>
                  <a:schemeClr val="bg1">
                    <a:lumMod val="50000"/>
                  </a:schemeClr>
                </a:solidFill>
              </a:rPr>
              <a:t>lumpy</a:t>
            </a:r>
            <a:r>
              <a:rPr lang="en-AU" sz="1800" dirty="0">
                <a:solidFill>
                  <a:schemeClr val="bg1">
                    <a:lumMod val="50000"/>
                  </a:schemeClr>
                </a:solidFill>
              </a:rPr>
              <a:t> income such as capital gains, incentives for </a:t>
            </a:r>
            <a:r>
              <a:rPr lang="en-AU" sz="1800" b="1" dirty="0">
                <a:solidFill>
                  <a:schemeClr val="bg1">
                    <a:lumMod val="50000"/>
                  </a:schemeClr>
                </a:solidFill>
              </a:rPr>
              <a:t>strategic timing</a:t>
            </a:r>
            <a:r>
              <a:rPr lang="en-AU" sz="1800" dirty="0">
                <a:solidFill>
                  <a:schemeClr val="bg1">
                    <a:lumMod val="50000"/>
                  </a:schemeClr>
                </a:solidFill>
              </a:rPr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C0AD33-BBDE-F200-6F02-224857C00680}"/>
              </a:ext>
            </a:extLst>
          </p:cNvPr>
          <p:cNvSpPr txBox="1"/>
          <p:nvPr/>
        </p:nvSpPr>
        <p:spPr>
          <a:xfrm>
            <a:off x="370417" y="5756225"/>
            <a:ext cx="6095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800" dirty="0">
                <a:solidFill>
                  <a:schemeClr val="bg1">
                    <a:lumMod val="50000"/>
                  </a:schemeClr>
                </a:solidFill>
              </a:rPr>
              <a:t>Minimum rates.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1C76AB-91BC-AC4C-F956-FE272BCE9153}"/>
              </a:ext>
            </a:extLst>
          </p:cNvPr>
          <p:cNvSpPr txBox="1"/>
          <p:nvPr/>
        </p:nvSpPr>
        <p:spPr>
          <a:xfrm>
            <a:off x="370417" y="6168375"/>
            <a:ext cx="60953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800" dirty="0">
                <a:solidFill>
                  <a:schemeClr val="bg1">
                    <a:lumMod val="50000"/>
                  </a:schemeClr>
                </a:solidFill>
              </a:rPr>
              <a:t>Is inflation the correct discount rate?</a:t>
            </a:r>
          </a:p>
        </p:txBody>
      </p:sp>
    </p:spTree>
    <p:extLst>
      <p:ext uri="{BB962C8B-B14F-4D97-AF65-F5344CB8AC3E}">
        <p14:creationId xmlns:p14="http://schemas.microsoft.com/office/powerpoint/2010/main" val="2584866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5" grpId="0"/>
      <p:bldP spid="10" grpId="0"/>
      <p:bldP spid="12" grpId="0"/>
      <p:bldP spid="1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2D194-6FC4-F6C2-6304-FC462B0FC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1450181C-6C9A-9739-99CF-AD4C5359FD1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ABB9CBC-6DA6-9AFC-AFA6-E022FEC7F52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FAFAB-7D37-A92C-247B-126FAD1DAC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37A670-36AA-CC09-B296-4C4B661C5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Trade-offs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4BD812-C79A-FCEC-2246-F4850105B375}"/>
              </a:ext>
            </a:extLst>
          </p:cNvPr>
          <p:cNvSpPr txBox="1"/>
          <p:nvPr/>
        </p:nvSpPr>
        <p:spPr>
          <a:xfrm>
            <a:off x="370417" y="1280818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Capital mobility and investment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07045B-159B-4AEA-D823-8650ED4F9BDA}"/>
              </a:ext>
            </a:extLst>
          </p:cNvPr>
          <p:cNvSpPr txBox="1"/>
          <p:nvPr/>
        </p:nvSpPr>
        <p:spPr>
          <a:xfrm>
            <a:off x="370417" y="1761571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Changing residence shifts taxation of “passive” housing capital gains.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68751C-401B-6A3C-AE41-159621942661}"/>
              </a:ext>
            </a:extLst>
          </p:cNvPr>
          <p:cNvSpPr txBox="1"/>
          <p:nvPr/>
        </p:nvSpPr>
        <p:spPr>
          <a:xfrm>
            <a:off x="370417" y="2228091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Mobile ideas and finance can move – incidence passes through to consumers and business.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E91D39-9DAC-6049-C189-73F1B1845722}"/>
              </a:ext>
            </a:extLst>
          </p:cNvPr>
          <p:cNvSpPr txBox="1"/>
          <p:nvPr/>
        </p:nvSpPr>
        <p:spPr>
          <a:xfrm>
            <a:off x="370417" y="2695808"/>
            <a:ext cx="1090319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Domestic value-add is less mobile.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International evidence suggests mobility from CGT is limited.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Also suggests the general tax rate mobility is lower for sources that generate high returns (location specific rents).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BAF6CE5-4AD5-181F-3C58-513988435E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559" y="3914005"/>
            <a:ext cx="5622913" cy="2623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51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1" grpId="0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37D20-65C6-3D4F-CF10-7D751FF23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96BCACE-3C28-5EFD-F678-5248A243F2E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450181C-6C9A-9739-99CF-AD4C5359FD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88640-3E4A-3D14-BAEB-8047325BD3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9CAEC2-43AB-F06D-5B1D-12E13AF16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Trade-offs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C78E88-9573-046D-8C3A-23E6D09DD918}"/>
              </a:ext>
            </a:extLst>
          </p:cNvPr>
          <p:cNvSpPr txBox="1"/>
          <p:nvPr/>
        </p:nvSpPr>
        <p:spPr>
          <a:xfrm>
            <a:off x="436129" y="1206482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Compliance costs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1D2B76-FA0C-DC25-3903-93394017D582}"/>
              </a:ext>
            </a:extLst>
          </p:cNvPr>
          <p:cNvSpPr txBox="1"/>
          <p:nvPr/>
        </p:nvSpPr>
        <p:spPr>
          <a:xfrm>
            <a:off x="492989" y="1762719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Different rules for different assets.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7F12C4-69D4-4C77-26A8-B334D2191E24}"/>
              </a:ext>
            </a:extLst>
          </p:cNvPr>
          <p:cNvSpPr txBox="1"/>
          <p:nvPr/>
        </p:nvSpPr>
        <p:spPr>
          <a:xfrm>
            <a:off x="492989" y="2243472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Complicated minimum tax rules (especially alongside trusts).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015CF2-B4D9-7C0E-A2E5-E4C557786B28}"/>
              </a:ext>
            </a:extLst>
          </p:cNvPr>
          <p:cNvSpPr txBox="1"/>
          <p:nvPr/>
        </p:nvSpPr>
        <p:spPr>
          <a:xfrm>
            <a:off x="492989" y="2798214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Transitional valuations.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0C1CF4-AB7A-B9D3-F22E-D66160B3AAED}"/>
              </a:ext>
            </a:extLst>
          </p:cNvPr>
          <p:cNvSpPr txBox="1"/>
          <p:nvPr/>
        </p:nvSpPr>
        <p:spPr>
          <a:xfrm>
            <a:off x="370417" y="3619078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Taxation of risk?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F83006-157B-D37A-12CA-0CFD6C4E2605}"/>
              </a:ext>
            </a:extLst>
          </p:cNvPr>
          <p:cNvSpPr txBox="1"/>
          <p:nvPr/>
        </p:nvSpPr>
        <p:spPr>
          <a:xfrm>
            <a:off x="427277" y="4175315"/>
            <a:ext cx="109031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The reforms increase the taxation of risk.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0E9D27-8386-DB85-9515-312085C5D56A}"/>
              </a:ext>
            </a:extLst>
          </p:cNvPr>
          <p:cNvSpPr txBox="1"/>
          <p:nvPr/>
        </p:nvSpPr>
        <p:spPr>
          <a:xfrm>
            <a:off x="436129" y="4654573"/>
            <a:ext cx="5659871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In the absence of “asymmetry” this would be </a:t>
            </a:r>
            <a:r>
              <a:rPr lang="en-AU" b="1" dirty="0"/>
              <a:t>neutral/positive</a:t>
            </a:r>
            <a:r>
              <a:rPr lang="en-AU" dirty="0"/>
              <a:t> with respect to risk.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Progressive taxes.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Differential treatment of losses.</a:t>
            </a:r>
          </a:p>
          <a:p>
            <a:pPr marL="742950" lvl="1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AU" dirty="0"/>
              <a:t>Minimum rates.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31F2AF3-7884-490E-B09B-CE96CCC609E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7048" y="2881935"/>
            <a:ext cx="5721350" cy="34353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69165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3" grpId="0"/>
      <p:bldP spid="14" grpId="0"/>
      <p:bldP spid="1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4D1B1-1AA1-A1E1-AF58-96EFD69F9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73E357FF-1AE4-28F9-DDC9-7A1ACE1CA9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1450181C-6C9A-9739-99CF-AD4C5359FD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483A3-6B48-0D1E-96EA-635C453E37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AA9D0A-40F4-E594-2858-26EBD831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86" y="2601045"/>
            <a:ext cx="3637766" cy="700597"/>
          </a:xfrm>
        </p:spPr>
        <p:txBody>
          <a:bodyPr/>
          <a:lstStyle/>
          <a:p>
            <a:r>
              <a:rPr lang="en-US" sz="6600" dirty="0">
                <a:solidFill>
                  <a:schemeClr val="accent2"/>
                </a:solidFill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527269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AFEE-4D13-858C-DAE2-E3C0650CD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08EA7791-4497-DB35-0A8A-E38D76814D5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96BCACE-3C28-5EFD-F678-5248A243F2E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F7B40-2570-519E-E191-922E67EF56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39F4A8-7877-5C34-A864-3E28DBD92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plots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9D063-4CA8-A98E-B502-D2E5910F5EF9}"/>
              </a:ext>
            </a:extLst>
          </p:cNvPr>
          <p:cNvSpPr txBox="1"/>
          <p:nvPr/>
        </p:nvSpPr>
        <p:spPr>
          <a:xfrm>
            <a:off x="436129" y="1895950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Flat tax incentive for risk-averse individual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AD9E6A-68DB-E3C7-A112-1648A8C1410D}"/>
              </a:ext>
            </a:extLst>
          </p:cNvPr>
          <p:cNvSpPr txBox="1"/>
          <p:nvPr/>
        </p:nvSpPr>
        <p:spPr>
          <a:xfrm>
            <a:off x="1257385" y="4260189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Deferral without imputation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AF6AB8-5634-4159-B441-DD4DB584C7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580221"/>
            <a:ext cx="4813680" cy="293535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6E4636F-8C5F-44BA-BB65-39D89581AF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4713" y="3630394"/>
            <a:ext cx="4841939" cy="290731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397375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9CCA0-CE01-99DB-F187-E9125EC74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DF9AE53F-513F-C2C9-7961-DF5BE89264C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08EA7791-4497-DB35-0A8A-E38D76814D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AE10CB-7C9F-3CD5-2EC5-5B08DCBF4B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6A0441-5DCE-E35D-DDEC-3ABBA940B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plots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83A783-74C8-8EA6-4500-B0C38BCADBEC}"/>
              </a:ext>
            </a:extLst>
          </p:cNvPr>
          <p:cNvSpPr txBox="1"/>
          <p:nvPr/>
        </p:nvSpPr>
        <p:spPr>
          <a:xfrm>
            <a:off x="754465" y="1974189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Deferral with imputation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67C447-9CF6-4DFD-B3E1-A3E2C5795BC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7413" y="580221"/>
            <a:ext cx="4953635" cy="297240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764C52-0BA7-483B-98E8-F474046104E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958" y="3952113"/>
            <a:ext cx="4073906" cy="253377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C657E9A-5872-8E74-6D0F-F16ECBEDCA89}"/>
              </a:ext>
            </a:extLst>
          </p:cNvPr>
          <p:cNvSpPr txBox="1"/>
          <p:nvPr/>
        </p:nvSpPr>
        <p:spPr>
          <a:xfrm>
            <a:off x="754465" y="4659477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Change in real tax rates by capital gain</a:t>
            </a:r>
          </a:p>
        </p:txBody>
      </p:sp>
    </p:spTree>
    <p:extLst>
      <p:ext uri="{BB962C8B-B14F-4D97-AF65-F5344CB8AC3E}">
        <p14:creationId xmlns:p14="http://schemas.microsoft.com/office/powerpoint/2010/main" val="20459148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900CE-7509-F92D-D61C-354AACCF1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0D270039-2CC0-26EE-5469-0238F507F77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DF9AE53F-513F-C2C9-7961-DF5BE89264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4F3F0B-7912-A4A1-E3A7-824184CC61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15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DA710D-A976-4276-57FD-6B6384FF1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plots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27A0E8-1E31-24B0-CBBA-A10240980397}"/>
              </a:ext>
            </a:extLst>
          </p:cNvPr>
          <p:cNvSpPr txBox="1"/>
          <p:nvPr/>
        </p:nvSpPr>
        <p:spPr>
          <a:xfrm>
            <a:off x="754465" y="1974189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Progressivity and risk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B2FCB7-C070-0099-D56C-D0AC9159459C}"/>
              </a:ext>
            </a:extLst>
          </p:cNvPr>
          <p:cNvSpPr txBox="1"/>
          <p:nvPr/>
        </p:nvSpPr>
        <p:spPr>
          <a:xfrm>
            <a:off x="754465" y="4659477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Income averaging and risk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43AEDE-76E5-4E71-BCA6-909709CECCF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8487" y="221070"/>
            <a:ext cx="4796535" cy="3052292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6FBF8D0-C8BB-41DF-9686-521C264EF10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8487" y="3513794"/>
            <a:ext cx="4994913" cy="312313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570832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427CB-AD14-2EE2-46BB-0404551F5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34B542C-D9DD-FA62-C066-1B31686C6E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0D270039-2CC0-26EE-5469-0238F507F7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91CA0F-A399-2DF1-4D26-2C074407B3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24BD16-F054-D42A-E33E-B1A3DFC45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plots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CBB123-2AEE-B314-44EF-DDECB6A5056E}"/>
              </a:ext>
            </a:extLst>
          </p:cNvPr>
          <p:cNvSpPr txBox="1"/>
          <p:nvPr/>
        </p:nvSpPr>
        <p:spPr>
          <a:xfrm>
            <a:off x="754465" y="1974189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Housing </a:t>
            </a:r>
            <a:r>
              <a:rPr lang="en-AU" b="1" dirty="0">
                <a:hlinkClick r:id="rId5"/>
              </a:rPr>
              <a:t>median tax rates</a:t>
            </a:r>
            <a:endParaRPr lang="en-AU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2D910E-4B43-ACFE-B910-EF53018442BB}"/>
              </a:ext>
            </a:extLst>
          </p:cNvPr>
          <p:cNvSpPr txBox="1"/>
          <p:nvPr/>
        </p:nvSpPr>
        <p:spPr>
          <a:xfrm>
            <a:off x="754465" y="4659477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Housing CGT revenue estimates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088DD6-EAA3-FE3A-2C4A-8A0FC5F35D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6789" y="3466234"/>
            <a:ext cx="4868437" cy="317069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1DCFC6B-0327-5C6B-CA04-730053B209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4861" y="221070"/>
            <a:ext cx="3165160" cy="3095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068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979C5-E00D-E1B5-BF85-B2A24BD82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70592FBE-007B-89AF-2F2C-172F9B54E1D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9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0D270039-2CC0-26EE-5469-0238F507F7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9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205B3C-049D-2150-B57B-2C4745AD32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F9AC08D-23A9-440E-BCB9-AA1E9877CC38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9B871C-DB8D-A2F9-5DCB-B2DCAF19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plots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CAFC64-C9A9-AB4E-B922-5DF401DF6BD4}"/>
              </a:ext>
            </a:extLst>
          </p:cNvPr>
          <p:cNvSpPr txBox="1"/>
          <p:nvPr/>
        </p:nvSpPr>
        <p:spPr>
          <a:xfrm>
            <a:off x="640469" y="1235110"/>
            <a:ext cx="92856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b="1" dirty="0"/>
              <a:t>Breakeven international tax and “allowance” (with 2.5% inflation)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6BA7E3-85AE-A0DE-EB60-1D48F60254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469" y="1875784"/>
            <a:ext cx="4333867" cy="41818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1F48879-AA3F-64B5-3BB4-013FF06170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6375" y="1815861"/>
            <a:ext cx="4115541" cy="4204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92742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7037&quot;&gt;&lt;version val=&quot;32946&quot;/&gt;&lt;CPresentation id=&quot;1&quot;&gt;&lt;m_precDefaultNumber&gt;&lt;m_yearfmt&gt;&lt;begin val=&quot;0&quot;/&gt;&lt;end val=&quot;4&quot;/&gt;&lt;/m_yearfmt&gt;&lt;/m_precDefaultNumber&gt;&lt;m_precDefaultPercent&gt;&lt;m_yearfmt&gt;&lt;begin val=&quot;0&quot;/&gt;&lt;end val=&quot;4&quot;/&gt;&lt;/m_yearfmt&gt;&lt;/m_precDefaultPercent&gt;&lt;m_precDefaultDate&gt;&lt;m_yearfmt&gt;&lt;begin val=&quot;0&quot;/&gt;&lt;end val=&quot;4&quot;/&gt;&lt;/m_yearfmt&gt;&lt;/m_precDefaultDate&gt;&lt;m_precDefaultDay&gt;&lt;m_bNumberIsYear val=&quot;0&quot;/&gt;&lt;m_strFormatTime&gt;%#d&lt;/m_strFormatTime&gt;&lt;m_yearfmt&gt;&lt;begin val=&quot;0&quot;/&gt;&lt;end val=&quot;4&quot;/&gt;&lt;/m_yearfmt&gt;&lt;/m_precDefaultDay&gt;&lt;m_precDefaultWeek&gt;&lt;m_bNumberIsYear val=&quot;0&quot;/&gt;&lt;m_strFormatTime&gt;%4&lt;/m_strFormatTime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bNumberIsYear val=&quot;0&quot;/&gt;&lt;m_strFormatTime&gt;Q%5&lt;/m_strFormatTime&gt;&lt;m_yearfmt&gt;&lt;begin val=&quot;0&quot;/&gt;&lt;end val=&quot;4&quot;/&gt;&lt;/m_yearfmt&gt;&lt;/m_precDefaultQuarter&gt;&lt;m_precDefaultYear&gt;&lt;m_bNumberIsYear val=&quot;0&quot;/&gt;&lt;m_strFormatTime&gt;%Y&lt;/m_strFormatTime&gt;&lt;m_yearfmt&gt;&lt;begin val=&quot;0&quot;/&gt;&lt;end val=&quot;0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OJRKMSIZCicbhc4bAXGXQ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e61 slide master">
  <a:themeElements>
    <a:clrScheme name="e61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4F54"/>
      </a:accent1>
      <a:accent2>
        <a:srgbClr val="008080"/>
      </a:accent2>
      <a:accent3>
        <a:srgbClr val="33A7AB"/>
      </a:accent3>
      <a:accent4>
        <a:srgbClr val="FFA557"/>
      </a:accent4>
      <a:accent5>
        <a:srgbClr val="F88379"/>
      </a:accent5>
      <a:accent6>
        <a:srgbClr val="B40000"/>
      </a:accent6>
      <a:hlink>
        <a:srgbClr val="0563C1"/>
      </a:hlink>
      <a:folHlink>
        <a:srgbClr val="954F72"/>
      </a:folHlink>
    </a:clrScheme>
    <a:fontScheme name="Custom 2">
      <a:majorFont>
        <a:latin typeface="Proxima Nova Rg"/>
        <a:ea typeface=""/>
        <a:cs typeface=""/>
      </a:majorFont>
      <a:minorFont>
        <a:latin typeface="Proxima Nova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2"/>
        </a:solidFill>
        <a:ln w="19050">
          <a:noFill/>
          <a:prstDash val="sysDot"/>
          <a:headEnd type="none" w="med" len="med"/>
          <a:tailEnd type="none" w="med" len="med"/>
        </a:ln>
      </a:spPr>
      <a:bodyPr rtlCol="0" anchor="ctr"/>
      <a:lstStyle>
        <a:defPPr algn="ctr">
          <a:defRPr b="1" dirty="0" smtClean="0">
            <a:solidFill>
              <a:schemeClr val="bg1"/>
            </a:solidFill>
            <a:latin typeface="Graphik" panose="020B0503030202060203" pitchFamily="34" charset="77"/>
          </a:defRPr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9050">
          <a:solidFill>
            <a:schemeClr val="tx1"/>
          </a:solidFill>
          <a:prstDash val="solid"/>
          <a:headEnd type="none" w="med" len="med"/>
          <a:tailEnd type="none" w="med" len="med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e61 general template.potx" id="{90061909-20C7-47C0-9BA3-1FCA4037CBDA}" vid="{47FE1831-D1E7-41D2-8A16-5B5B5DBA35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38A1619F266734FBC2B48FB95398739" ma:contentTypeVersion="18" ma:contentTypeDescription="Create a new document." ma:contentTypeScope="" ma:versionID="8dc4163b27f0ec44a22c6d7358323f5f">
  <xsd:schema xmlns:xsd="http://www.w3.org/2001/XMLSchema" xmlns:xs="http://www.w3.org/2001/XMLSchema" xmlns:p="http://schemas.microsoft.com/office/2006/metadata/properties" xmlns:ns2="aa802c90-64f7-4260-a678-c5c09559402a" xmlns:ns3="d4025935-85eb-43e8-ab32-734675053e7f" targetNamespace="http://schemas.microsoft.com/office/2006/metadata/properties" ma:root="true" ma:fieldsID="a1176a965c39d1ac1c7d6ef690b32559" ns2:_="" ns3:_="">
    <xsd:import namespace="aa802c90-64f7-4260-a678-c5c09559402a"/>
    <xsd:import namespace="d4025935-85eb-43e8-ab32-734675053e7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a802c90-64f7-4260-a678-c5c09559402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bce0e04-9c7f-4626-8cb4-29f8b9ace21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4025935-85eb-43e8-ab32-734675053e7f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bd7d9116-efc1-484d-8b57-8af332a5bfd6}" ma:internalName="TaxCatchAll" ma:showField="CatchAllData" ma:web="d4025935-85eb-43e8-ab32-734675053e7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4025935-85eb-43e8-ab32-734675053e7f" xsi:nil="true"/>
    <lcf76f155ced4ddcb4097134ff3c332f xmlns="aa802c90-64f7-4260-a678-c5c09559402a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54E5144-405F-49D2-89C0-6C01A508B4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a802c90-64f7-4260-a678-c5c09559402a"/>
    <ds:schemaRef ds:uri="d4025935-85eb-43e8-ab32-734675053e7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E36B762-179B-48EA-90B2-E74079BA15DE}">
  <ds:schemaRefs>
    <ds:schemaRef ds:uri="http://schemas.microsoft.com/office/2006/documentManagement/types"/>
    <ds:schemaRef ds:uri="http://schemas.openxmlformats.org/package/2006/metadata/core-properties"/>
    <ds:schemaRef ds:uri="http://purl.org/dc/terms/"/>
    <ds:schemaRef ds:uri="aa802c90-64f7-4260-a678-c5c09559402a"/>
    <ds:schemaRef ds:uri="http://purl.org/dc/elements/1.1/"/>
    <ds:schemaRef ds:uri="http://schemas.microsoft.com/office/2006/metadata/properties"/>
    <ds:schemaRef ds:uri="http://www.w3.org/XML/1998/namespace"/>
    <ds:schemaRef ds:uri="http://schemas.microsoft.com/office/infopath/2007/PartnerControls"/>
    <ds:schemaRef ds:uri="d4025935-85eb-43e8-ab32-734675053e7f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29E81E1-445C-4E91-8E35-C5BD736A3B7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2450</TotalTime>
  <Words>819</Words>
  <Application>Microsoft Office PowerPoint</Application>
  <PresentationFormat>Widescreen</PresentationFormat>
  <Paragraphs>109</Paragraphs>
  <Slides>17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5" baseType="lpstr">
      <vt:lpstr>Arial</vt:lpstr>
      <vt:lpstr>Calibri</vt:lpstr>
      <vt:lpstr>Graphik</vt:lpstr>
      <vt:lpstr>GT Sectra Fine</vt:lpstr>
      <vt:lpstr>Proxima Nova Rg</vt:lpstr>
      <vt:lpstr>System Font</vt:lpstr>
      <vt:lpstr>e61 slide master</vt:lpstr>
      <vt:lpstr>think-cell Slide</vt:lpstr>
      <vt:lpstr>Understanding the CGT changes</vt:lpstr>
      <vt:lpstr>Key policy directions of Federal Budget 2026</vt:lpstr>
      <vt:lpstr>Taxation of income</vt:lpstr>
      <vt:lpstr>Taxation of income</vt:lpstr>
      <vt:lpstr>What are capital gains and negative gearing</vt:lpstr>
      <vt:lpstr>What are capital gains and negative gearing</vt:lpstr>
      <vt:lpstr>Issues with prior treatment</vt:lpstr>
      <vt:lpstr>Issues with prior treatment</vt:lpstr>
      <vt:lpstr>Implications for revenue</vt:lpstr>
      <vt:lpstr>Trade-offs</vt:lpstr>
      <vt:lpstr>Trade-offs</vt:lpstr>
      <vt:lpstr>Q&amp;A</vt:lpstr>
      <vt:lpstr>Additional plots</vt:lpstr>
      <vt:lpstr>Additional plots</vt:lpstr>
      <vt:lpstr>Additional plots</vt:lpstr>
      <vt:lpstr>Additional plots</vt:lpstr>
      <vt:lpstr>Additional plots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 Buckley</dc:creator>
  <cp:lastModifiedBy>Matt Nolan</cp:lastModifiedBy>
  <cp:revision>60</cp:revision>
  <dcterms:created xsi:type="dcterms:W3CDTF">2022-09-20T23:20:20Z</dcterms:created>
  <dcterms:modified xsi:type="dcterms:W3CDTF">2026-08-05T05:02:44Z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0x010100E38A1619F266734FBC2B48FB95398739</vt:lpwstr>
  </property>
  <property fmtid="{D5CDD505-2E9C-101B-9397-08002B2CF9AE}" pid="3" name="MediaServiceImageTags">
    <vt:lpwstr/>
  </property>
</Properties>
</file>