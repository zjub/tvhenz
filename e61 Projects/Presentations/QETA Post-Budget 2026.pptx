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309" r:id="rId5"/>
    <p:sldId id="2147140428" r:id="rId6"/>
    <p:sldId id="2147140436" r:id="rId7"/>
    <p:sldId id="2147140429" r:id="rId8"/>
    <p:sldId id="2147140434" r:id="rId9"/>
    <p:sldId id="2147140437" r:id="rId10"/>
    <p:sldId id="2147140433" r:id="rId11"/>
    <p:sldId id="2147140435" r:id="rId12"/>
    <p:sldId id="2147140432" r:id="rId13"/>
    <p:sldId id="2147140431" r:id="rId14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5BA906-B677-4ED9-B365-ED690E2CB720}">
          <p14:sldIdLst>
            <p14:sldId id="309"/>
            <p14:sldId id="2147140428"/>
            <p14:sldId id="2147140436"/>
            <p14:sldId id="2147140429"/>
            <p14:sldId id="2147140434"/>
            <p14:sldId id="2147140437"/>
            <p14:sldId id="2147140433"/>
            <p14:sldId id="2147140435"/>
            <p14:sldId id="2147140432"/>
            <p14:sldId id="214714043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212BB9-A5CF-D335-3301-776C81AF3ABE}" name="Lachlan Vass" initials="LV" userId="S::lachlan.vass@e61.in::3865f71c-c396-40c5-8390-2fc8d944de27" providerId="AD"/>
  <p188:author id="{34CD6AE3-4402-C73C-3D6D-D595530990B9}" name="Jack Buckley" initials="JB" userId="S::jack.buckley@e61.in::28ddcf48-0b29-47ef-8181-0ce27c074e2e" providerId="AD"/>
  <p188:author id="{71CA22F3-774C-2056-8AF6-7BA1CB40250A}" name="Sinn, Joshua" initials="SJ" userId="S::joshua.sinn@accenture.com::611c4376-2cbd-4772-b570-fe288a3c2a7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A7AB"/>
    <a:srgbClr val="004F54"/>
    <a:srgbClr val="206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56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9F452D-FA17-885C-CC89-0DC68658B2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9CDAA-6A69-3DFF-BE4E-6602CC25B0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87968-E7C3-4FA2-86D7-7CFDDCA2896A}" type="datetimeFigureOut">
              <a:rPr lang="en-US" smtClean="0"/>
              <a:t>04-Aug-26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F01E9-DBAA-1EA2-4D9A-7E77B5DFA5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BB76F-B80E-EE0E-9F0D-2AC6378957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8A632-F1EE-40DC-8EB4-831F2F70E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771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6A7BE-E113-476D-8DE0-A6138461ACE1}" type="datetimeFigureOut">
              <a:rPr lang="en-US" smtClean="0"/>
              <a:t>04-Aug-26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F2214-1F6F-4D6B-854F-093941A8F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1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3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1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83544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2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46630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3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49267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4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12791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5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60692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Appendix</a:t>
            </a:r>
            <a:endParaRPr lang="en-AU" sz="12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827969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1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22514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2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526356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3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407999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4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48326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5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74581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Appendix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538170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164627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2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640386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641323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4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18177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2995420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2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130912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7687056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4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97536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CB03E8-089D-0ACD-1D05-C59964D50E2F}"/>
              </a:ext>
            </a:extLst>
          </p:cNvPr>
          <p:cNvSpPr/>
          <p:nvPr userDrawn="1"/>
        </p:nvSpPr>
        <p:spPr>
          <a:xfrm>
            <a:off x="0" y="35076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2143CB0-80E3-8AB0-053D-E52E19E92F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99" y="26127"/>
            <a:ext cx="1980000" cy="29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US" sz="1200" smtClean="0">
                <a:solidFill>
                  <a:schemeClr val="tx1"/>
                </a:solidFill>
                <a:latin typeface="+mj-lt"/>
                <a:ea typeface="+mn-ea"/>
              </a:defRPr>
            </a:lvl1pPr>
            <a:lvl2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2pPr>
            <a:lvl3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3pPr>
            <a:lvl4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4pPr>
            <a:lvl5pPr>
              <a:defRPr lang="en-AU" sz="1800">
                <a:solidFill>
                  <a:schemeClr val="lt1"/>
                </a:solidFill>
                <a:ea typeface="+mn-ea"/>
                <a:cs typeface="+mn-cs"/>
              </a:defRPr>
            </a:lvl5pPr>
          </a:lstStyle>
          <a:p>
            <a:pPr lvl="0" defTabSz="914400" latinLnBrk="0"/>
            <a:r>
              <a:rPr lang="en-US"/>
              <a:t>Section name here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6686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26744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F090DBB-DBAB-499B-B31E-9C5FEBA1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769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" imgH="381" progId="TCLayout.ActiveDocument.1">
                  <p:embed/>
                </p:oleObj>
              </mc:Choice>
              <mc:Fallback>
                <p:oleObj name="think-cell Slide" r:id="rId3" imgW="381" imgH="38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F090DBB-DBAB-499B-B31E-9C5FEBA1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2AED96BB-361A-4F3E-A7CB-D1560FDE9F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3CA51-1D19-4ADC-908F-13F64C03CB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7417" y="3925156"/>
            <a:ext cx="4698834" cy="1181862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algn="ctr"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2FDB2B-16C1-4564-B415-DBBBCF0037B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811" y="1475802"/>
            <a:ext cx="2726046" cy="1953198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4C01ECE-843C-4618-8C3A-082A62CB3D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7417" y="5334153"/>
            <a:ext cx="469883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6" indent="0">
              <a:buNone/>
              <a:defRPr/>
            </a:lvl2pPr>
            <a:lvl3pPr marL="91441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en-US"/>
              <a:t>Event title – event date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F417C3A-BBD1-0EAC-6A37-12CE6587C5B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6921666" cy="6858000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Insert image </a:t>
            </a:r>
          </a:p>
          <a:p>
            <a:r>
              <a:rPr lang="en-US"/>
              <a:t>(try: https://unsplash.com/)</a:t>
            </a:r>
          </a:p>
        </p:txBody>
      </p:sp>
    </p:spTree>
    <p:extLst>
      <p:ext uri="{BB962C8B-B14F-4D97-AF65-F5344CB8AC3E}">
        <p14:creationId xmlns:p14="http://schemas.microsoft.com/office/powerpoint/2010/main" val="2210043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2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3970736"/>
            <a:ext cx="6884562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>
                    <a:lumMod val="95000"/>
                  </a:schemeClr>
                </a:solidFill>
                <a:latin typeface="GT Sectra Fine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pPr marL="0" lvl="0" indent="0" algn="l" defTabSz="9144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5"/>
            <a:ext cx="4114798" cy="530687"/>
          </a:xfrm>
        </p:spPr>
        <p:txBody>
          <a:bodyPr/>
          <a:lstStyle>
            <a:lvl1pPr marL="0" indent="0" algn="l" defTabSz="914411" rtl="0" eaLnBrk="1" latinLnBrk="0" hangingPunct="1">
              <a:spcAft>
                <a:spcPts val="0"/>
              </a:spcAft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Date (DD MMMM YYYY)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5A68FC7-26B5-D447-0F4F-4539456AF0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3521" y="4788067"/>
            <a:ext cx="1965317" cy="1298408"/>
          </a:xfrm>
          <a:prstGeom prst="rect">
            <a:avLst/>
          </a:prstGeom>
        </p:spPr>
      </p:pic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F6C5752-FCAA-86D8-96A8-435178EF85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9092" y="5004444"/>
            <a:ext cx="4114800" cy="348141"/>
          </a:xfrm>
          <a:prstGeom prst="rect">
            <a:avLst/>
          </a:prstGeom>
        </p:spPr>
        <p:txBody>
          <a:bodyPr/>
          <a:lstStyle>
            <a:lvl1pPr>
              <a:defRPr lang="en-US" sz="1600" b="0" i="0" kern="1200" spc="0" dirty="0" smtClean="0">
                <a:solidFill>
                  <a:schemeClr val="tx1">
                    <a:lumMod val="95000"/>
                  </a:schemeClr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Presenters</a:t>
            </a:r>
          </a:p>
        </p:txBody>
      </p:sp>
    </p:spTree>
    <p:extLst>
      <p:ext uri="{BB962C8B-B14F-4D97-AF65-F5344CB8AC3E}">
        <p14:creationId xmlns:p14="http://schemas.microsoft.com/office/powerpoint/2010/main" val="3091483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720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86957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2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1"/>
            </a:lvl2pPr>
            <a:lvl3pPr marL="228604">
              <a:buFont typeface="Arial" panose="020B0604020202020204" pitchFamily="34" charset="0"/>
              <a:buChar char="•"/>
              <a:defRPr sz="1801"/>
            </a:lvl3pPr>
            <a:lvl4pPr marL="457206">
              <a:buFont typeface="System Font"/>
              <a:buChar char="–"/>
              <a:defRPr sz="1600"/>
            </a:lvl4pPr>
            <a:lvl5pPr marL="685809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2" cy="810399"/>
          </a:xfrm>
          <a:prstGeom prst="rect">
            <a:avLst/>
          </a:prstGeo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3" y="137160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3" y="1976479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3" y="2581356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3" y="3186234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3" y="3791113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3" y="439599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3" y="5000868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3" y="5605747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84358" y="137160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84358" y="197647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84358" y="2581356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84358" y="3186234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84358" y="3791113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84358" y="439599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84358" y="5000868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284358" y="5605747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>
            <a:cxnSpLocks/>
          </p:cNvCxnSpPr>
          <p:nvPr userDrawn="1"/>
        </p:nvCxnSpPr>
        <p:spPr>
          <a:xfrm>
            <a:off x="4045241" y="1371601"/>
            <a:ext cx="0" cy="33327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9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3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95094" y="137160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95094" y="197647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195094" y="2581356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195094" y="3186234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95094" y="3791113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195094" y="439599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95094" y="5000868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95094" y="5605747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4">
              <a:spcAft>
                <a:spcPts val="1200"/>
              </a:spcAft>
            </a:pPr>
            <a:endParaRPr lang="en-US" sz="1801" noProof="0"/>
          </a:p>
        </p:txBody>
      </p:sp>
    </p:spTree>
    <p:extLst>
      <p:ext uri="{BB962C8B-B14F-4D97-AF65-F5344CB8AC3E}">
        <p14:creationId xmlns:p14="http://schemas.microsoft.com/office/powerpoint/2010/main" val="275829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D8A76DE-ECA0-60F4-575C-02C4077408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9254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D8A76DE-ECA0-60F4-575C-02C4077408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7B9E7BD-B7D1-FF01-F546-0CADB6C2F4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5550" y="2909333"/>
            <a:ext cx="9389031" cy="1039334"/>
          </a:xfrm>
          <a:prstGeom prst="rect">
            <a:avLst/>
          </a:prstGeom>
        </p:spPr>
        <p:txBody>
          <a:bodyPr anchor="ctr"/>
          <a:lstStyle>
            <a:lvl1pPr>
              <a:defRPr sz="3200" b="1"/>
            </a:lvl1pPr>
          </a:lstStyle>
          <a:p>
            <a:pPr lvl="0"/>
            <a:r>
              <a:rPr lang="en-US"/>
              <a:t>## - Place section title here in sentence case, max 2 lines </a:t>
            </a:r>
          </a:p>
        </p:txBody>
      </p:sp>
    </p:spTree>
    <p:extLst>
      <p:ext uri="{BB962C8B-B14F-4D97-AF65-F5344CB8AC3E}">
        <p14:creationId xmlns:p14="http://schemas.microsoft.com/office/powerpoint/2010/main" val="609445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BCE4D4F-8CCC-404C-840E-8A45E07645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105608378"/>
              </p:ext>
            </p:extLst>
          </p:nvPr>
        </p:nvGraphicFramePr>
        <p:xfrm>
          <a:off x="1588" y="1587"/>
          <a:ext cx="1589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0" imgW="395" imgH="394" progId="TCLayout.ActiveDocument.1">
                  <p:embed/>
                </p:oleObj>
              </mc:Choice>
              <mc:Fallback>
                <p:oleObj name="think-cell Slide" r:id="rId30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BCE4D4F-8CCC-404C-840E-8A45E07645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8" y="1587"/>
                        <a:ext cx="1589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C4AAB9D-85C6-43AB-8696-D55AD6DDE24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0" y="1"/>
            <a:ext cx="158812" cy="158713"/>
          </a:xfrm>
          <a:prstGeom prst="rect">
            <a:avLst/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598" b="1" i="0" baseline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  <a:sym typeface="Graphik" panose="020B0503030202060203" pitchFamily="34" charset="0"/>
            </a:endParaRP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029236F-8D4F-46BA-A33A-11E2F113A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0946922" y="6401006"/>
            <a:ext cx="561476" cy="273402"/>
          </a:xfrm>
          <a:prstGeom prst="rect">
            <a:avLst/>
          </a:prstGeom>
        </p:spPr>
        <p:txBody>
          <a:bodyPr tIns="0" bIns="0" anchor="b"/>
          <a:lstStyle>
            <a:lvl1pPr algn="l">
              <a:defRPr sz="1001" b="0">
                <a:solidFill>
                  <a:schemeClr val="tx1"/>
                </a:solidFill>
                <a:latin typeface="+mj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37E62055-3E0F-4EBB-A962-F9600119E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5739" y="6402651"/>
            <a:ext cx="3733634" cy="270112"/>
          </a:xfrm>
          <a:prstGeom prst="rect">
            <a:avLst/>
          </a:prstGeom>
        </p:spPr>
        <p:txBody>
          <a:bodyPr tIns="0" bIns="0" anchor="ctr"/>
          <a:lstStyle>
            <a:lvl1pPr algn="l">
              <a:defRPr sz="8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r>
              <a:rPr lang="en-GB"/>
              <a:t>Source: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66CE9E3-35BA-4A0B-8098-8A65954FE472}"/>
              </a:ext>
            </a:extLst>
          </p:cNvPr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8897" y="6393635"/>
            <a:ext cx="350924" cy="28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0" r:id="rId2"/>
    <p:sldLayoutId id="2147483721" r:id="rId3"/>
    <p:sldLayoutId id="2147483722" r:id="rId4"/>
    <p:sldLayoutId id="2147483726" r:id="rId5"/>
    <p:sldLayoutId id="2147483740" r:id="rId6"/>
    <p:sldLayoutId id="2147483725" r:id="rId7"/>
    <p:sldLayoutId id="2147483727" r:id="rId8"/>
    <p:sldLayoutId id="2147483728" r:id="rId9"/>
    <p:sldLayoutId id="2147483729" r:id="rId10"/>
    <p:sldLayoutId id="2147483730" r:id="rId11"/>
    <p:sldLayoutId id="2147483739" r:id="rId12"/>
    <p:sldLayoutId id="2147483735" r:id="rId13"/>
    <p:sldLayoutId id="2147483736" r:id="rId14"/>
    <p:sldLayoutId id="2147483737" r:id="rId15"/>
    <p:sldLayoutId id="2147483738" r:id="rId16"/>
    <p:sldLayoutId id="2147483731" r:id="rId17"/>
    <p:sldLayoutId id="2147483732" r:id="rId18"/>
    <p:sldLayoutId id="2147483733" r:id="rId19"/>
    <p:sldLayoutId id="2147483734" r:id="rId20"/>
    <p:sldLayoutId id="2147483710" r:id="rId21"/>
    <p:sldLayoutId id="2147483719" r:id="rId22"/>
    <p:sldLayoutId id="2147483706" r:id="rId23"/>
    <p:sldLayoutId id="2147483712" r:id="rId24"/>
    <p:sldLayoutId id="2147483707" r:id="rId25"/>
    <p:sldLayoutId id="2147483708" r:id="rId26"/>
  </p:sldLayoutIdLst>
  <p:hf hdr="0" ftr="0" dt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buFont typeface="Arial" charset="0"/>
        <a:defRPr lang="en-AU" sz="2800" b="1" i="0" kern="1200" cap="none" spc="-149" baseline="0" dirty="0" smtClean="0">
          <a:solidFill>
            <a:schemeClr val="tx1"/>
          </a:solidFill>
          <a:latin typeface="+mj-lt"/>
          <a:ea typeface="Roboto Black" panose="02000000000000000000" pitchFamily="2" charset="0"/>
          <a:cs typeface="Arial" panose="020B0604020202020204" pitchFamily="34" charset="0"/>
        </a:defRPr>
      </a:lvl1pPr>
      <a:lvl2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2pPr>
      <a:lvl3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3pPr>
      <a:lvl4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4pPr>
      <a:lvl5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5pPr>
      <a:lvl6pPr marL="609329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6pPr>
      <a:lvl7pPr marL="1218657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7pPr>
      <a:lvl8pPr marL="1827986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8pPr>
      <a:lvl9pPr marL="2437314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None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1pPr>
      <a:lvl2pPr marL="215960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•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2pPr>
      <a:lvl3pPr marL="431920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‒"/>
        <a:tabLst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3pPr>
      <a:lvl4pPr marL="611885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•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4pPr>
      <a:lvl5pPr marL="863838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‒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5pPr>
      <a:lvl6pPr marL="3351304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0634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69963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79290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329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657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986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314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643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971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298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626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9" userDrawn="1">
          <p15:clr>
            <a:srgbClr val="F26B43"/>
          </p15:clr>
        </p15:guide>
        <p15:guide id="2" pos="226" userDrawn="1">
          <p15:clr>
            <a:srgbClr val="F26B43"/>
          </p15:clr>
        </p15:guide>
        <p15:guide id="3" pos="7452" userDrawn="1">
          <p15:clr>
            <a:srgbClr val="F26B43"/>
          </p15:clr>
        </p15:guide>
        <p15:guide id="4" pos="1276" userDrawn="1">
          <p15:clr>
            <a:srgbClr val="F26B43"/>
          </p15:clr>
        </p15:guide>
        <p15:guide id="5" pos="1460" userDrawn="1">
          <p15:clr>
            <a:srgbClr val="F26B43"/>
          </p15:clr>
        </p15:guide>
        <p15:guide id="6" pos="2514" userDrawn="1">
          <p15:clr>
            <a:srgbClr val="F26B43"/>
          </p15:clr>
        </p15:guide>
        <p15:guide id="7" pos="2697" userDrawn="1">
          <p15:clr>
            <a:srgbClr val="F26B43"/>
          </p15:clr>
        </p15:guide>
        <p15:guide id="8" pos="3929" userDrawn="1">
          <p15:clr>
            <a:srgbClr val="F26B43"/>
          </p15:clr>
        </p15:guide>
        <p15:guide id="9" pos="3748" userDrawn="1">
          <p15:clr>
            <a:srgbClr val="F26B43"/>
          </p15:clr>
        </p15:guide>
        <p15:guide id="10" pos="4981" userDrawn="1">
          <p15:clr>
            <a:srgbClr val="F26B43"/>
          </p15:clr>
        </p15:guide>
        <p15:guide id="11" pos="5163" userDrawn="1">
          <p15:clr>
            <a:srgbClr val="F26B43"/>
          </p15:clr>
        </p15:guide>
        <p15:guide id="12" pos="6219" userDrawn="1">
          <p15:clr>
            <a:srgbClr val="F26B43"/>
          </p15:clr>
        </p15:guide>
        <p15:guide id="13" pos="6398" userDrawn="1">
          <p15:clr>
            <a:srgbClr val="F26B43"/>
          </p15:clr>
        </p15:guide>
        <p15:guide id="14" orient="horz" pos="807" userDrawn="1">
          <p15:clr>
            <a:srgbClr val="F26B43"/>
          </p15:clr>
        </p15:guide>
        <p15:guide id="15" orient="horz" pos="876" userDrawn="1">
          <p15:clr>
            <a:srgbClr val="F26B43"/>
          </p15:clr>
        </p15:guide>
        <p15:guide id="16" orient="horz" pos="4031" userDrawn="1">
          <p15:clr>
            <a:srgbClr val="F26B43"/>
          </p15:clr>
        </p15:guide>
        <p15:guide id="17" orient="horz" pos="597" userDrawn="1">
          <p15:clr>
            <a:srgbClr val="F26B43"/>
          </p15:clr>
        </p15:guide>
        <p15:guide id="18" orient="horz" pos="2435" userDrawn="1">
          <p15:clr>
            <a:srgbClr val="F26B43"/>
          </p15:clr>
        </p15:guide>
        <p15:guide id="19" orient="horz" pos="3756" userDrawn="1">
          <p15:clr>
            <a:srgbClr val="F26B43"/>
          </p15:clr>
        </p15:guide>
        <p15:guide id="20" orient="horz" pos="41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8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29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0.xml"/><Relationship Id="rId6" Type="http://schemas.openxmlformats.org/officeDocument/2006/relationships/image" Target="../media/image8.png"/><Relationship Id="rId5" Type="http://schemas.openxmlformats.org/officeDocument/2006/relationships/hyperlink" Target="https://e61.in/e61-capital-income-tax-calculator/" TargetMode="Externa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1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3.xml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6.xml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7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F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507B959-9E35-3EC1-53CB-968CEE0AEF7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507B959-9E35-3EC1-53CB-968CEE0AEF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36DFE691-484D-0A62-B4FF-81300FDD9C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8BAD583D-414C-8D2B-DA03-8F81A23522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7F4955A-2927-2A7F-F09E-0AAD319A9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AU" dirty="0"/>
              <a:t>30 July 2026</a:t>
            </a:r>
          </a:p>
        </p:txBody>
      </p:sp>
    </p:spTree>
    <p:extLst>
      <p:ext uri="{BB962C8B-B14F-4D97-AF65-F5344CB8AC3E}">
        <p14:creationId xmlns:p14="http://schemas.microsoft.com/office/powerpoint/2010/main" val="1537371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64164-6017-314E-E9A6-4E8428E66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2EBBDD18-8338-F56C-B291-0A34138D14A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F0666CC-3DE9-4F3C-EF9E-EF19985254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1E0E2-4838-366E-C3E5-92CBC4B34B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A88DD2-9C4C-B9A1-D808-12621E5D5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403873"/>
            <a:ext cx="11459365" cy="700597"/>
          </a:xfrm>
        </p:spPr>
        <p:txBody>
          <a:bodyPr/>
          <a:lstStyle/>
          <a:p>
            <a:r>
              <a:rPr lang="en-US" dirty="0"/>
              <a:t>Key policy directions of Federal Budget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EDBDD-1826-E333-B4B1-1A243A7618FD}"/>
              </a:ext>
            </a:extLst>
          </p:cNvPr>
          <p:cNvSpPr txBox="1"/>
          <p:nvPr/>
        </p:nvSpPr>
        <p:spPr>
          <a:xfrm>
            <a:off x="370417" y="991947"/>
            <a:ext cx="9681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Budget 2026 took place given rising concerns about </a:t>
            </a:r>
            <a:r>
              <a:rPr lang="en-AU" dirty="0">
                <a:solidFill>
                  <a:schemeClr val="accent3"/>
                </a:solidFill>
              </a:rPr>
              <a:t>fiscal sustainability</a:t>
            </a:r>
            <a:r>
              <a:rPr lang="en-AU" dirty="0"/>
              <a:t>, </a:t>
            </a:r>
            <a:r>
              <a:rPr lang="en-AU" dirty="0">
                <a:solidFill>
                  <a:schemeClr val="accent5"/>
                </a:solidFill>
              </a:rPr>
              <a:t>intergenerational equity</a:t>
            </a:r>
            <a:r>
              <a:rPr lang="en-AU" dirty="0"/>
              <a:t>, and </a:t>
            </a:r>
            <a:r>
              <a:rPr lang="en-AU" dirty="0">
                <a:solidFill>
                  <a:schemeClr val="accent1"/>
                </a:solidFill>
              </a:rPr>
              <a:t>productivity growth</a:t>
            </a:r>
            <a:r>
              <a:rPr lang="en-AU" dirty="0"/>
              <a:t> – three topics that are closely linked.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F200C6-B159-78BE-6055-71D115428ADE}"/>
              </a:ext>
            </a:extLst>
          </p:cNvPr>
          <p:cNvSpPr txBox="1"/>
          <p:nvPr/>
        </p:nvSpPr>
        <p:spPr>
          <a:xfrm>
            <a:off x="362219" y="1988227"/>
            <a:ext cx="5809982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AU" sz="1600" b="1" dirty="0">
                <a:solidFill>
                  <a:schemeClr val="bg1">
                    <a:lumMod val="50000"/>
                  </a:schemeClr>
                </a:solidFill>
              </a:rPr>
              <a:t>NDIS reforms</a:t>
            </a:r>
            <a:r>
              <a:rPr lang="en-AU" sz="16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AU" sz="1600" dirty="0">
              <a:solidFill>
                <a:schemeClr val="bg1">
                  <a:lumMod val="50000"/>
                </a:schemeClr>
              </a:solidFill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>
                    <a:lumMod val="50000"/>
                  </a:schemeClr>
                </a:solidFill>
              </a:rPr>
              <a:t>Details are currently limited – but these savings were the main drivers of surplus returning.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>
                    <a:lumMod val="50000"/>
                  </a:schemeClr>
                </a:solidFill>
              </a:rPr>
              <a:t>Thriving kids program a significant part, however a lot of community and social support likely to be removed.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AU" sz="1600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AU" sz="1600" b="1" dirty="0">
                <a:solidFill>
                  <a:schemeClr val="bg1">
                    <a:lumMod val="50000"/>
                  </a:schemeClr>
                </a:solidFill>
              </a:rPr>
              <a:t>Tax reforms</a:t>
            </a:r>
            <a:r>
              <a:rPr lang="en-AU" sz="16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AU" sz="1600" dirty="0">
              <a:solidFill>
                <a:schemeClr val="bg1">
                  <a:lumMod val="50000"/>
                </a:schemeClr>
              </a:solidFill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>
                    <a:lumMod val="50000"/>
                  </a:schemeClr>
                </a:solidFill>
              </a:rPr>
              <a:t>WATO and the future taxation of labour income.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>
                    <a:lumMod val="50000"/>
                  </a:schemeClr>
                </a:solidFill>
              </a:rPr>
              <a:t>Liquidity and R&amp;D policies for small and young firms.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>
                    <a:lumMod val="50000"/>
                  </a:schemeClr>
                </a:solidFill>
              </a:rPr>
              <a:t>Minimum trust tax rate.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accent3">
                    <a:lumMod val="50000"/>
                  </a:schemeClr>
                </a:solidFill>
              </a:rPr>
              <a:t>Capital gains and negative gearing.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1C9893-42F1-9C15-105C-9F675CD7A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7" y="1629743"/>
            <a:ext cx="5341423" cy="470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25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DA847-21CE-9729-974A-AFE855A24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3BDDBE8-1987-5384-B32F-56EFA0DF5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ABB9CBC-6DA6-9AFC-AFA6-E022FEC7F5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2E212-2DF4-4F6B-87E8-43D37398DF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77D214-144D-E2E3-F1E8-57B652866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Taxation of income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376E34-ED54-32D7-B50B-1E9101B4A63F}"/>
              </a:ext>
            </a:extLst>
          </p:cNvPr>
          <p:cNvSpPr txBox="1"/>
          <p:nvPr/>
        </p:nvSpPr>
        <p:spPr>
          <a:xfrm>
            <a:off x="370417" y="1017088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Understanding taxation of capital gains requires thinking about </a:t>
            </a:r>
            <a:r>
              <a:rPr lang="en-AU" b="1" i="1" dirty="0">
                <a:solidFill>
                  <a:schemeClr val="accent2"/>
                </a:solidFill>
              </a:rPr>
              <a:t>income tax</a:t>
            </a:r>
            <a:r>
              <a:rPr lang="en-AU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214302-DD50-AE5C-904C-7E5F23089FDC}"/>
              </a:ext>
            </a:extLst>
          </p:cNvPr>
          <p:cNvSpPr txBox="1"/>
          <p:nvPr/>
        </p:nvSpPr>
        <p:spPr>
          <a:xfrm>
            <a:off x="370417" y="2452412"/>
            <a:ext cx="10903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Tax changes in the </a:t>
            </a:r>
            <a:r>
              <a:rPr lang="en-AU" i="1" dirty="0"/>
              <a:t>capacity to consume</a:t>
            </a:r>
            <a:r>
              <a:rPr lang="en-AU" dirty="0"/>
              <a:t> irrespective of how we do so (</a:t>
            </a:r>
            <a:r>
              <a:rPr lang="en-AU" dirty="0">
                <a:hlinkClick r:id="rId5"/>
              </a:rPr>
              <a:t>https://e61.in/e61-capital-income-tax-calculator/</a:t>
            </a:r>
            <a:r>
              <a:rPr lang="en-AU" dirty="0"/>
              <a:t>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B56CC1-6607-B13A-2A18-913AED79043A}"/>
              </a:ext>
            </a:extLst>
          </p:cNvPr>
          <p:cNvSpPr txBox="1"/>
          <p:nvPr/>
        </p:nvSpPr>
        <p:spPr>
          <a:xfrm>
            <a:off x="370417" y="1492022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Tax capital like wages? Intergenerational equity? Equity-efficiency trade-off.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921FFC-FCA9-4528-4B62-F3467CF89EAD}"/>
              </a:ext>
            </a:extLst>
          </p:cNvPr>
          <p:cNvSpPr txBox="1"/>
          <p:nvPr/>
        </p:nvSpPr>
        <p:spPr>
          <a:xfrm>
            <a:off x="370417" y="1996743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What is income?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11C591-ABB2-82C5-528D-CA60C1415F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5514" y="3582722"/>
            <a:ext cx="3231820" cy="31605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D472B1-9D68-5A5F-A34B-6BBE6CD334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0473" y="3651566"/>
            <a:ext cx="3186533" cy="30228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DD4D2D-A3CB-1416-C0FF-C490D822C783}"/>
              </a:ext>
            </a:extLst>
          </p:cNvPr>
          <p:cNvSpPr txBox="1"/>
          <p:nvPr/>
        </p:nvSpPr>
        <p:spPr>
          <a:xfrm>
            <a:off x="2044666" y="3213390"/>
            <a:ext cx="2071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Fixer-upper sale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E1B8EB-BCC7-F68D-7B33-F4C6B61BB2FD}"/>
              </a:ext>
            </a:extLst>
          </p:cNvPr>
          <p:cNvSpPr txBox="1"/>
          <p:nvPr/>
        </p:nvSpPr>
        <p:spPr>
          <a:xfrm>
            <a:off x="6686770" y="3217236"/>
            <a:ext cx="3836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High inflation property investor</a:t>
            </a:r>
          </a:p>
        </p:txBody>
      </p:sp>
    </p:spTree>
    <p:extLst>
      <p:ext uri="{BB962C8B-B14F-4D97-AF65-F5344CB8AC3E}">
        <p14:creationId xmlns:p14="http://schemas.microsoft.com/office/powerpoint/2010/main" val="1512222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/>
      <p:bldP spid="12" grpId="0"/>
      <p:bldP spid="11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7EF9E-4B46-BA1C-689C-4290A6CB2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ABB9CBC-6DA6-9AFC-AFA6-E022FEC7F52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2EBBDD18-8338-F56C-B291-0A34138D14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AAE1D-A72C-B006-0E8F-C1F9BA6032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5E485F-54F8-637E-78F3-3193ADF60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Taxation of income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6B6AFC-BDD6-D283-7ABD-151874FF4396}"/>
              </a:ext>
            </a:extLst>
          </p:cNvPr>
          <p:cNvSpPr txBox="1"/>
          <p:nvPr/>
        </p:nvSpPr>
        <p:spPr>
          <a:xfrm>
            <a:off x="370417" y="1166613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Understanding taxation of capital gains requires thinking about </a:t>
            </a:r>
            <a:r>
              <a:rPr lang="en-AU" i="1" dirty="0"/>
              <a:t>income tax</a:t>
            </a:r>
            <a:r>
              <a:rPr lang="en-AU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D21E47-0932-7DD9-62A2-EC9A48D168A9}"/>
              </a:ext>
            </a:extLst>
          </p:cNvPr>
          <p:cNvSpPr txBox="1"/>
          <p:nvPr/>
        </p:nvSpPr>
        <p:spPr>
          <a:xfrm>
            <a:off x="370417" y="3059668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Tax changes in the </a:t>
            </a:r>
            <a:r>
              <a:rPr lang="en-AU" i="1" dirty="0"/>
              <a:t>capacity to consume</a:t>
            </a:r>
            <a:r>
              <a:rPr lang="en-AU" dirty="0"/>
              <a:t> irrespective of how we do so.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12641D-08EC-C155-298C-936EEC4B735E}"/>
              </a:ext>
            </a:extLst>
          </p:cNvPr>
          <p:cNvSpPr txBox="1"/>
          <p:nvPr/>
        </p:nvSpPr>
        <p:spPr>
          <a:xfrm>
            <a:off x="370417" y="1753005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Tax capital like wages? Intergenerational equity? Equity-efficiency trade-off.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BC3DDD-EF3F-3BAB-EA30-B37F1C4EEC55}"/>
              </a:ext>
            </a:extLst>
          </p:cNvPr>
          <p:cNvSpPr txBox="1"/>
          <p:nvPr/>
        </p:nvSpPr>
        <p:spPr>
          <a:xfrm>
            <a:off x="370417" y="2404750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What is income?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12DCE7-5719-DD1C-98BD-EF08B375F584}"/>
              </a:ext>
            </a:extLst>
          </p:cNvPr>
          <p:cNvSpPr txBox="1"/>
          <p:nvPr/>
        </p:nvSpPr>
        <p:spPr>
          <a:xfrm>
            <a:off x="324470" y="3714673"/>
            <a:ext cx="109031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Capital income as a return to savings.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3">
                    <a:lumMod val="75000"/>
                  </a:schemeClr>
                </a:solidFill>
              </a:rPr>
              <a:t>Inflation</a:t>
            </a:r>
            <a:r>
              <a:rPr lang="en-AU" dirty="0"/>
              <a:t> reduces the value of nominal savings – not income.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 </a:t>
            </a:r>
            <a:r>
              <a:rPr lang="en-AU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normal rate of return</a:t>
            </a:r>
            <a:r>
              <a:rPr lang="en-AU" dirty="0"/>
              <a:t> compensates for deferring consumption – necessary to maintain present value of savings, so not income.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743202-5D1E-CE5E-9EAC-88017383DA08}"/>
              </a:ext>
            </a:extLst>
          </p:cNvPr>
          <p:cNvSpPr txBox="1"/>
          <p:nvPr/>
        </p:nvSpPr>
        <p:spPr>
          <a:xfrm>
            <a:off x="370417" y="5111642"/>
            <a:ext cx="10903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To tax all true income the same way we can either tax consumption, or tax labour income + capital income above a normal rate of return.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C2B5C7-768D-2448-A472-5B2894716119}"/>
              </a:ext>
            </a:extLst>
          </p:cNvPr>
          <p:cNvSpPr txBox="1"/>
          <p:nvPr/>
        </p:nvSpPr>
        <p:spPr>
          <a:xfrm>
            <a:off x="370417" y="5891376"/>
            <a:ext cx="10903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Hard to create the </a:t>
            </a:r>
            <a:r>
              <a:rPr lang="en-AU" b="1" dirty="0">
                <a:solidFill>
                  <a:schemeClr val="accent4">
                    <a:lumMod val="75000"/>
                  </a:schemeClr>
                </a:solidFill>
              </a:rPr>
              <a:t>redistribution</a:t>
            </a:r>
            <a:r>
              <a:rPr lang="en-AU" dirty="0"/>
              <a:t> we may want with consumption taxes (progressivity). Hence an income tax is needed.</a:t>
            </a:r>
          </a:p>
        </p:txBody>
      </p:sp>
    </p:spTree>
    <p:extLst>
      <p:ext uri="{BB962C8B-B14F-4D97-AF65-F5344CB8AC3E}">
        <p14:creationId xmlns:p14="http://schemas.microsoft.com/office/powerpoint/2010/main" val="422877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25C1B-C207-8642-0B0A-235A9B3C1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7999A48-644A-84C4-4CD8-E08838BD39F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ABB9CBC-6DA6-9AFC-AFA6-E022FEC7F5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166B4-56FF-9B05-8A3E-322D10F579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1023E0-91E2-C528-450A-413ADBEB6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17" y="417443"/>
            <a:ext cx="11459365" cy="700597"/>
          </a:xfrm>
        </p:spPr>
        <p:txBody>
          <a:bodyPr/>
          <a:lstStyle/>
          <a:p>
            <a:r>
              <a:rPr lang="en-US" dirty="0"/>
              <a:t>What are capital gains and negative gearing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3C5F8-0FCF-0CB8-26E8-BD91767A8BD5}"/>
              </a:ext>
            </a:extLst>
          </p:cNvPr>
          <p:cNvSpPr txBox="1"/>
          <p:nvPr/>
        </p:nvSpPr>
        <p:spPr>
          <a:xfrm>
            <a:off x="370417" y="1166613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A </a:t>
            </a:r>
            <a:r>
              <a:rPr lang="en-AU" b="1" dirty="0"/>
              <a:t>capital gain</a:t>
            </a:r>
            <a:r>
              <a:rPr lang="en-AU" dirty="0"/>
              <a:t> is an additional form of capital income.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6BFDCD-B5A2-2F0F-EEAC-BAB0BDFEEA46}"/>
              </a:ext>
            </a:extLst>
          </p:cNvPr>
          <p:cNvSpPr txBox="1"/>
          <p:nvPr/>
        </p:nvSpPr>
        <p:spPr>
          <a:xfrm>
            <a:off x="370417" y="1753005"/>
            <a:ext cx="1090319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Like other capital income, some of it is not “income”.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Is taxed on </a:t>
            </a:r>
            <a:r>
              <a:rPr lang="en-AU" i="1" dirty="0"/>
              <a:t>realisation</a:t>
            </a:r>
            <a:r>
              <a:rPr lang="en-AU" dirty="0"/>
              <a:t> – this gives capital gain a </a:t>
            </a:r>
            <a:r>
              <a:rPr lang="en-AU" i="1" dirty="0"/>
              <a:t>deferral benefit</a:t>
            </a:r>
            <a:r>
              <a:rPr lang="en-AU" dirty="0"/>
              <a:t> relative to other capital income currently.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Due to progressive taxes, capital gains are taxed at a higher rate than if they were taxed each year.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1CCE7A-AAB1-252E-14B3-083B876784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337" y="3776219"/>
            <a:ext cx="2689676" cy="27614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E6224D3-A789-2D19-E3B3-23F3CA04F22A}"/>
              </a:ext>
            </a:extLst>
          </p:cNvPr>
          <p:cNvSpPr txBox="1"/>
          <p:nvPr/>
        </p:nvSpPr>
        <p:spPr>
          <a:xfrm>
            <a:off x="501029" y="3324282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Discount and income averaging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A824E8A-2E3C-9E88-48F6-48A4CCCFB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7714" y="3324282"/>
            <a:ext cx="5549934" cy="341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11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266E1-9BB6-69EC-BC38-9E70064D0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DBAA6C6-2754-C040-35B8-5A27FEF7FFE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7999A48-644A-84C4-4CD8-E08838BD39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A11A9-AE2C-8B9B-B067-1AD180B87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03D88-7EBA-06B5-8DF5-2FD9B6BAC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17" y="417443"/>
            <a:ext cx="11459365" cy="700597"/>
          </a:xfrm>
        </p:spPr>
        <p:txBody>
          <a:bodyPr/>
          <a:lstStyle/>
          <a:p>
            <a:r>
              <a:rPr lang="en-US" dirty="0"/>
              <a:t>What are capital gains and negative gearing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A129AD-2B6B-9AE6-3396-03F985A8D50A}"/>
              </a:ext>
            </a:extLst>
          </p:cNvPr>
          <p:cNvSpPr txBox="1"/>
          <p:nvPr/>
        </p:nvSpPr>
        <p:spPr>
          <a:xfrm>
            <a:off x="366317" y="1225989"/>
            <a:ext cx="10903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Negative gearing </a:t>
            </a:r>
            <a:r>
              <a:rPr lang="en-AU" dirty="0"/>
              <a:t>is when annual revenue for an asset in a year is less than the costs, due to </a:t>
            </a:r>
            <a:r>
              <a:rPr lang="en-AU" u="sng" dirty="0"/>
              <a:t>borrowing expenses</a:t>
            </a:r>
            <a:r>
              <a:rPr lang="en-AU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27FA5D-F220-4D4A-FCAC-E17BAB5EC449}"/>
              </a:ext>
            </a:extLst>
          </p:cNvPr>
          <p:cNvSpPr txBox="1"/>
          <p:nvPr/>
        </p:nvSpPr>
        <p:spPr>
          <a:xfrm>
            <a:off x="366317" y="1932024"/>
            <a:ext cx="10903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Only allow expenses related to </a:t>
            </a:r>
            <a:r>
              <a:rPr lang="en-AU" b="1" dirty="0"/>
              <a:t>taxed</a:t>
            </a:r>
            <a:r>
              <a:rPr lang="en-AU" dirty="0"/>
              <a:t> income. Allowing deductibility of inflation component of interest inconsistent with discount/indexation.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DFB417-5F2A-3774-B220-2EE6592A23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3475" y="2879227"/>
            <a:ext cx="5175654" cy="352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513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2F8E5-41A0-3ABC-4DD8-30E2C15D9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4E3CD6D-7C03-04E5-3F28-BE6DFCDE019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450181C-6C9A-9739-99CF-AD4C5359FD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F04FF-A3DC-C476-30D3-4B2F61B5F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ADFC11-A675-538F-94FC-CFF9CF760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prior treatment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308C70-5C97-36EC-A1D0-A57121E55447}"/>
              </a:ext>
            </a:extLst>
          </p:cNvPr>
          <p:cNvSpPr txBox="1"/>
          <p:nvPr/>
        </p:nvSpPr>
        <p:spPr>
          <a:xfrm>
            <a:off x="370417" y="1166613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Horizontal inequity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AD3668-7AF6-B38C-C0AC-E0CC5C6EDC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7822"/>
            <a:ext cx="4270248" cy="50098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631548-956F-C20E-8497-007ECEE3B4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37" y="1609124"/>
            <a:ext cx="4397555" cy="499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94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5B8FB-5FB1-0A0C-706C-853FAC99E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4B163B6-5A84-AD77-0417-7033003C4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4E3CD6D-7C03-04E5-3F28-BE6DFCDE01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A6161-8885-B281-40F3-2D4D016CEA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C4B2D-D5D8-3BDF-B719-C6887DB5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35" y="183592"/>
            <a:ext cx="11459365" cy="700597"/>
          </a:xfrm>
        </p:spPr>
        <p:txBody>
          <a:bodyPr/>
          <a:lstStyle/>
          <a:p>
            <a:r>
              <a:rPr lang="en-US" dirty="0"/>
              <a:t>Issues with prior treatment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40209D-F521-E930-DF7F-FB66723F6EBF}"/>
              </a:ext>
            </a:extLst>
          </p:cNvPr>
          <p:cNvSpPr txBox="1"/>
          <p:nvPr/>
        </p:nvSpPr>
        <p:spPr>
          <a:xfrm>
            <a:off x="448922" y="3969238"/>
            <a:ext cx="109031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Incentive to borrow too much</a:t>
            </a:r>
          </a:p>
          <a:p>
            <a:endParaRPr lang="en-AU" b="1" dirty="0"/>
          </a:p>
          <a:p>
            <a:r>
              <a:rPr lang="en-AU" dirty="0"/>
              <a:t>Increasing leverage allows an investor to</a:t>
            </a:r>
            <a:br>
              <a:rPr lang="en-AU" dirty="0"/>
            </a:br>
            <a:r>
              <a:rPr lang="en-AU" dirty="0"/>
              <a:t>increase their return on equity (</a:t>
            </a:r>
            <a:r>
              <a:rPr lang="en-AU" dirty="0" err="1"/>
              <a:t>RoE</a:t>
            </a:r>
            <a:r>
              <a:rPr lang="en-AU" dirty="0"/>
              <a:t>) post-tax</a:t>
            </a:r>
            <a:br>
              <a:rPr lang="en-AU" dirty="0"/>
            </a:br>
            <a:r>
              <a:rPr lang="en-AU" dirty="0"/>
              <a:t>by more than the pre-tax increase.</a:t>
            </a:r>
            <a:br>
              <a:rPr lang="en-AU" dirty="0"/>
            </a:br>
            <a:br>
              <a:rPr lang="en-AU" dirty="0"/>
            </a:br>
            <a:r>
              <a:rPr lang="en-AU" dirty="0"/>
              <a:t>-&gt; Can turn a pre-tax negative return </a:t>
            </a:r>
            <a:br>
              <a:rPr lang="en-AU" dirty="0"/>
            </a:br>
            <a:r>
              <a:rPr lang="en-AU" dirty="0"/>
              <a:t>	positive post-tax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7EE279-9661-A311-8659-5454251A6A6B}"/>
              </a:ext>
            </a:extLst>
          </p:cNvPr>
          <p:cNvSpPr txBox="1"/>
          <p:nvPr/>
        </p:nvSpPr>
        <p:spPr>
          <a:xfrm>
            <a:off x="448922" y="1066059"/>
            <a:ext cx="109031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Vertical inequity</a:t>
            </a:r>
          </a:p>
          <a:p>
            <a:endParaRPr lang="en-AU" b="1" dirty="0"/>
          </a:p>
          <a:p>
            <a:r>
              <a:rPr lang="en-AU" dirty="0"/>
              <a:t>Capital gains tend to go to this with high</a:t>
            </a:r>
            <a:br>
              <a:rPr lang="en-AU" dirty="0"/>
            </a:br>
            <a:r>
              <a:rPr lang="en-AU" dirty="0"/>
              <a:t>decade-long income.</a:t>
            </a:r>
            <a:br>
              <a:rPr lang="en-AU" dirty="0"/>
            </a:br>
            <a:br>
              <a:rPr lang="en-AU" dirty="0"/>
            </a:br>
            <a:r>
              <a:rPr lang="en-AU" dirty="0"/>
              <a:t>Implies that the tax-system may be less</a:t>
            </a:r>
            <a:br>
              <a:rPr lang="en-AU" dirty="0"/>
            </a:br>
            <a:r>
              <a:rPr lang="en-AU" dirty="0"/>
              <a:t>progressive than intended.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FF6502-0844-D9C2-CA51-89A9D1CC0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518" y="748680"/>
            <a:ext cx="5847913" cy="2791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32AF59-CB4C-D06E-09F1-F3CA011577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7849" y="3787368"/>
            <a:ext cx="3743848" cy="268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8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E36CF-84D4-AF67-BBD0-0E1A0D6EE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9B37E3C-DC45-B942-68FB-F97B14A17D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261234B0-5267-CF16-FDC5-9DD62AE7C8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38FBE-3499-FB0E-701F-C5D7AFD429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747464-9493-21D7-B566-225D46518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for revenue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5DD49-39B5-C99A-0A2A-A1B9C031137C}"/>
              </a:ext>
            </a:extLst>
          </p:cNvPr>
          <p:cNvSpPr txBox="1"/>
          <p:nvPr/>
        </p:nvSpPr>
        <p:spPr>
          <a:xfrm>
            <a:off x="370417" y="4127170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It was not clear these reforms should increase revenue.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EF1187-6E18-4C74-A92D-B876C89E7A13}"/>
              </a:ext>
            </a:extLst>
          </p:cNvPr>
          <p:cNvSpPr txBox="1"/>
          <p:nvPr/>
        </p:nvSpPr>
        <p:spPr>
          <a:xfrm>
            <a:off x="370417" y="4615785"/>
            <a:ext cx="109031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Asymmetric treatment of losses.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 “income averaging” – over-taxation of </a:t>
            </a:r>
            <a:r>
              <a:rPr lang="en-AU" i="1" dirty="0">
                <a:solidFill>
                  <a:schemeClr val="bg1">
                    <a:lumMod val="50000"/>
                  </a:schemeClr>
                </a:solidFill>
              </a:rPr>
              <a:t>lumpy</a:t>
            </a: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 income such as capital gains, incentives for </a:t>
            </a:r>
            <a:r>
              <a:rPr lang="en-AU" b="1" dirty="0">
                <a:solidFill>
                  <a:schemeClr val="bg1">
                    <a:lumMod val="50000"/>
                  </a:schemeClr>
                </a:solidFill>
              </a:rPr>
              <a:t>strategic timing</a:t>
            </a: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Minimum rates.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Is inflation the correct discount rate?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CEC6B1-AB69-4D14-F097-692DA7803FD7}"/>
              </a:ext>
            </a:extLst>
          </p:cNvPr>
          <p:cNvSpPr txBox="1"/>
          <p:nvPr/>
        </p:nvSpPr>
        <p:spPr>
          <a:xfrm>
            <a:off x="1010497" y="6179029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Consistency would also discount other capital income.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61409E-E106-1978-75B5-B45A4E581F6F}"/>
              </a:ext>
            </a:extLst>
          </p:cNvPr>
          <p:cNvCxnSpPr/>
          <p:nvPr/>
        </p:nvCxnSpPr>
        <p:spPr>
          <a:xfrm>
            <a:off x="512064" y="6395097"/>
            <a:ext cx="411480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866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2D194-6FC4-F6C2-6304-FC462B0F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450181C-6C9A-9739-99CF-AD4C5359FD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ABB9CBC-6DA6-9AFC-AFA6-E022FEC7F5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FAFAB-7D37-A92C-247B-126FAD1DA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7A670-36AA-CC09-B296-4C4B661C5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Trade-offs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BD812-C79A-FCEC-2246-F4850105B375}"/>
              </a:ext>
            </a:extLst>
          </p:cNvPr>
          <p:cNvSpPr txBox="1"/>
          <p:nvPr/>
        </p:nvSpPr>
        <p:spPr>
          <a:xfrm>
            <a:off x="370417" y="1280818"/>
            <a:ext cx="9285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Capital mobility and investment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41146A-F54E-1646-62E0-8A1933621468}"/>
              </a:ext>
            </a:extLst>
          </p:cNvPr>
          <p:cNvSpPr txBox="1"/>
          <p:nvPr/>
        </p:nvSpPr>
        <p:spPr>
          <a:xfrm>
            <a:off x="370417" y="3656246"/>
            <a:ext cx="9285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Compliance costs</a:t>
            </a:r>
          </a:p>
        </p:txBody>
      </p:sp>
    </p:spTree>
    <p:extLst>
      <p:ext uri="{BB962C8B-B14F-4D97-AF65-F5344CB8AC3E}">
        <p14:creationId xmlns:p14="http://schemas.microsoft.com/office/powerpoint/2010/main" val="1638514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946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JRKMSIZCicbhc4bAXGX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61 slide master">
  <a:themeElements>
    <a:clrScheme name="e61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F54"/>
      </a:accent1>
      <a:accent2>
        <a:srgbClr val="008080"/>
      </a:accent2>
      <a:accent3>
        <a:srgbClr val="33A7AB"/>
      </a:accent3>
      <a:accent4>
        <a:srgbClr val="FFA557"/>
      </a:accent4>
      <a:accent5>
        <a:srgbClr val="F88379"/>
      </a:accent5>
      <a:accent6>
        <a:srgbClr val="B40000"/>
      </a:accent6>
      <a:hlink>
        <a:srgbClr val="0563C1"/>
      </a:hlink>
      <a:folHlink>
        <a:srgbClr val="954F72"/>
      </a:folHlink>
    </a:clrScheme>
    <a:fontScheme name="Custom 2">
      <a:majorFont>
        <a:latin typeface="Proxima Nova Rg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19050">
          <a:noFill/>
          <a:prstDash val="sysDot"/>
          <a:headEnd type="none" w="med" len="med"/>
          <a:tailEnd type="none" w="med" len="med"/>
        </a:ln>
      </a:spPr>
      <a:bodyPr rtlCol="0" anchor="ctr"/>
      <a:lstStyle>
        <a:defPPr algn="ctr">
          <a:defRPr b="1" dirty="0" smtClean="0">
            <a:solidFill>
              <a:schemeClr val="bg1"/>
            </a:solidFill>
            <a:latin typeface="Graphik" panose="020B0503030202060203" pitchFamily="34" charset="77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solidFill>
            <a:schemeClr val="tx1"/>
          </a:solidFill>
          <a:prstDash val="solid"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e61 general template.potx" id="{90061909-20C7-47C0-9BA3-1FCA4037CBDA}" vid="{47FE1831-D1E7-41D2-8A16-5B5B5DBA35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A1619F266734FBC2B48FB95398739" ma:contentTypeVersion="18" ma:contentTypeDescription="Create a new document." ma:contentTypeScope="" ma:versionID="8dc4163b27f0ec44a22c6d7358323f5f">
  <xsd:schema xmlns:xsd="http://www.w3.org/2001/XMLSchema" xmlns:xs="http://www.w3.org/2001/XMLSchema" xmlns:p="http://schemas.microsoft.com/office/2006/metadata/properties" xmlns:ns2="aa802c90-64f7-4260-a678-c5c09559402a" xmlns:ns3="d4025935-85eb-43e8-ab32-734675053e7f" targetNamespace="http://schemas.microsoft.com/office/2006/metadata/properties" ma:root="true" ma:fieldsID="a1176a965c39d1ac1c7d6ef690b32559" ns2:_="" ns3:_="">
    <xsd:import namespace="aa802c90-64f7-4260-a678-c5c09559402a"/>
    <xsd:import namespace="d4025935-85eb-43e8-ab32-734675053e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802c90-64f7-4260-a678-c5c0955940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bce0e04-9c7f-4626-8cb4-29f8b9ace2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025935-85eb-43e8-ab32-734675053e7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bd7d9116-efc1-484d-8b57-8af332a5bfd6}" ma:internalName="TaxCatchAll" ma:showField="CatchAllData" ma:web="d4025935-85eb-43e8-ab32-734675053e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025935-85eb-43e8-ab32-734675053e7f" xsi:nil="true"/>
    <lcf76f155ced4ddcb4097134ff3c332f xmlns="aa802c90-64f7-4260-a678-c5c09559402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29E81E1-445C-4E91-8E35-C5BD736A3B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4E5144-405F-49D2-89C0-6C01A508B4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802c90-64f7-4260-a678-c5c09559402a"/>
    <ds:schemaRef ds:uri="d4025935-85eb-43e8-ab32-734675053e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E36B762-179B-48EA-90B2-E74079BA15DE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aa802c90-64f7-4260-a678-c5c09559402a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d4025935-85eb-43e8-ab32-734675053e7f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1221</TotalTime>
  <Words>578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Graphik</vt:lpstr>
      <vt:lpstr>GT Sectra Fine</vt:lpstr>
      <vt:lpstr>Proxima Nova Rg</vt:lpstr>
      <vt:lpstr>System Font</vt:lpstr>
      <vt:lpstr>e61 slide master</vt:lpstr>
      <vt:lpstr>think-cell Slide</vt:lpstr>
      <vt:lpstr>PowerPoint Presentation</vt:lpstr>
      <vt:lpstr>Key policy directions of Federal Budget 2026</vt:lpstr>
      <vt:lpstr>Taxation of income</vt:lpstr>
      <vt:lpstr>Taxation of income</vt:lpstr>
      <vt:lpstr>What are capital gains and negative gearing</vt:lpstr>
      <vt:lpstr>What are capital gains and negative gearing</vt:lpstr>
      <vt:lpstr>Issues with prior treatment</vt:lpstr>
      <vt:lpstr>Issues with prior treatment</vt:lpstr>
      <vt:lpstr>Implications for revenue</vt:lpstr>
      <vt:lpstr>Trade-offs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Jack Buckley</dc:creator>
  <cp:lastModifiedBy>Matt Nolan</cp:lastModifiedBy>
  <cp:revision>41</cp:revision>
  <dcterms:created xsi:type="dcterms:W3CDTF">2022-09-20T23:20:20Z</dcterms:created>
  <dcterms:modified xsi:type="dcterms:W3CDTF">2026-08-04T06:10:36Z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0x010100E38A1619F266734FBC2B48FB95398739</vt:lpwstr>
  </property>
  <property fmtid="{D5CDD505-2E9C-101B-9397-08002B2CF9AE}" pid="3" name="MediaServiceImageTags">
    <vt:lpwstr/>
  </property>
</Properties>
</file>