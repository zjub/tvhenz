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
  </p:notesMasterIdLst>
  <p:handoutMasterIdLst>
    <p:handoutMasterId r:id="rId12"/>
  </p:handoutMasterIdLst>
  <p:sldIdLst>
    <p:sldId id="309" r:id="rId5"/>
    <p:sldId id="2147140428" r:id="rId6"/>
    <p:sldId id="2147140429" r:id="rId7"/>
    <p:sldId id="2147140432" r:id="rId8"/>
    <p:sldId id="2147140433" r:id="rId9"/>
    <p:sldId id="2147140431" r:id="rId10"/>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5BA906-B677-4ED9-B365-ED690E2CB720}">
          <p14:sldIdLst>
            <p14:sldId id="309"/>
            <p14:sldId id="2147140428"/>
            <p14:sldId id="2147140429"/>
            <p14:sldId id="2147140432"/>
            <p14:sldId id="2147140433"/>
            <p14:sldId id="214714043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12BB9-A5CF-D335-3301-776C81AF3ABE}" name="Lachlan Vass" initials="LV" userId="S::lachlan.vass@e61.in::3865f71c-c396-40c5-8390-2fc8d944de27" providerId="AD"/>
  <p188:author id="{34CD6AE3-4402-C73C-3D6D-D595530990B9}" name="Jack Buckley" initials="JB" userId="S::jack.buckley@e61.in::28ddcf48-0b29-47ef-8181-0ce27c074e2e" providerId="AD"/>
  <p188:author id="{71CA22F3-774C-2056-8AF6-7BA1CB40250A}" name="Sinn, Joshua" initials="SJ" userId="S::joshua.sinn@accenture.com::611c4376-2cbd-4772-b570-fe288a3c2a7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A7AB"/>
    <a:srgbClr val="004F54"/>
    <a:srgbClr val="2061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94656"/>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9F452D-FA17-885C-CC89-0DC68658B2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1B9CDAA-6A69-3DFF-BE4E-6602CC25B0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F87968-E7C3-4FA2-86D7-7CFDDCA2896A}" type="datetimeFigureOut">
              <a:rPr lang="en-US" smtClean="0"/>
              <a:t>27-Jul-26</a:t>
            </a:fld>
            <a:endParaRPr lang="en-US"/>
          </a:p>
        </p:txBody>
      </p:sp>
      <p:sp>
        <p:nvSpPr>
          <p:cNvPr id="4" name="Footer Placeholder 3">
            <a:extLst>
              <a:ext uri="{FF2B5EF4-FFF2-40B4-BE49-F238E27FC236}">
                <a16:creationId xmlns:a16="http://schemas.microsoft.com/office/drawing/2014/main" id="{A60F01E9-DBAA-1EA2-4D9A-7E77B5DFA5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6DBB76F-B80E-EE0E-9F0D-2AC6378957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08A632-F1EE-40DC-8EB4-831F2F70E759}" type="slidenum">
              <a:rPr lang="en-US" smtClean="0"/>
              <a:t>‹#›</a:t>
            </a:fld>
            <a:endParaRPr lang="en-US"/>
          </a:p>
        </p:txBody>
      </p:sp>
    </p:spTree>
    <p:extLst>
      <p:ext uri="{BB962C8B-B14F-4D97-AF65-F5344CB8AC3E}">
        <p14:creationId xmlns:p14="http://schemas.microsoft.com/office/powerpoint/2010/main" val="34040771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6A7BE-E113-476D-8DE0-A6138461ACE1}" type="datetimeFigureOut">
              <a:rPr lang="en-US" smtClean="0"/>
              <a:t>27-Jul-26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3F2214-1F6F-4D6B-854F-093941A8F696}" type="slidenum">
              <a:rPr lang="en-US" smtClean="0"/>
              <a:t>‹#›</a:t>
            </a:fld>
            <a:endParaRPr lang="en-US"/>
          </a:p>
        </p:txBody>
      </p:sp>
    </p:spTree>
    <p:extLst>
      <p:ext uri="{BB962C8B-B14F-4D97-AF65-F5344CB8AC3E}">
        <p14:creationId xmlns:p14="http://schemas.microsoft.com/office/powerpoint/2010/main" val="330811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cker 1/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835446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cker 2/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46630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cker 3/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49267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cker 4/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127911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cker 5/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3606925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cker App">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200">
                <a:solidFill>
                  <a:schemeClr val="tx1"/>
                </a:solidFill>
                <a:latin typeface="+mj-lt"/>
                <a:cs typeface="Arial" panose="020B0604020202020204" pitchFamily="34" charset="0"/>
              </a:rPr>
              <a:t>Appendix</a:t>
            </a:r>
            <a:endParaRPr lang="en-AU" sz="1200" dirty="0">
              <a:solidFill>
                <a:schemeClr val="tx1"/>
              </a:solidFill>
              <a:latin typeface="+mj-lt"/>
              <a:cs typeface="Arial" panose="020B0604020202020204" pitchFamily="34" charset="0"/>
            </a:endParaRPr>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3827969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cker Alt 1/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922514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cker Alt 2/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1526356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cker Alt 3/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4079992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cker Alt 4/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483268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cker Alt 5/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974581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cker Alt App">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dirty="0">
                <a:solidFill>
                  <a:schemeClr val="tx1"/>
                </a:solidFill>
                <a:latin typeface="+mj-lt"/>
                <a:cs typeface="Arial" panose="020B0604020202020204" pitchFamily="34" charset="0"/>
              </a:rPr>
              <a:t>Appendix</a:t>
            </a:r>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1538170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cker 1/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6664510"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1164627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cker 2/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6664510"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640386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cker 3/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34356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641323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cker 4/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6664510"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9181775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cker Alt 1/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2995420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cker Alt 2/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1130912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cker Alt 3/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768705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cker Alt 4/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3975366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Top Lef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9" name="Rectangle 8">
            <a:extLst>
              <a:ext uri="{FF2B5EF4-FFF2-40B4-BE49-F238E27FC236}">
                <a16:creationId xmlns:a16="http://schemas.microsoft.com/office/drawing/2014/main" id="{2CCB03E8-089D-0ACD-1D05-C59964D50E2F}"/>
              </a:ext>
            </a:extLst>
          </p:cNvPr>
          <p:cNvSpPr/>
          <p:nvPr userDrawn="1"/>
        </p:nvSpPr>
        <p:spPr>
          <a:xfrm>
            <a:off x="0" y="350761"/>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3" name="Text Placeholder 12">
            <a:extLst>
              <a:ext uri="{FF2B5EF4-FFF2-40B4-BE49-F238E27FC236}">
                <a16:creationId xmlns:a16="http://schemas.microsoft.com/office/drawing/2014/main" id="{42143CB0-80E3-8AB0-053D-E52E19E92F6F}"/>
              </a:ext>
            </a:extLst>
          </p:cNvPr>
          <p:cNvSpPr>
            <a:spLocks noGrp="1"/>
          </p:cNvSpPr>
          <p:nvPr>
            <p:ph type="body" sz="quarter" idx="12" hasCustomPrompt="1"/>
          </p:nvPr>
        </p:nvSpPr>
        <p:spPr>
          <a:xfrm>
            <a:off x="-199" y="26127"/>
            <a:ext cx="1980000" cy="29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200" smtClean="0">
                <a:solidFill>
                  <a:schemeClr val="tx1"/>
                </a:solidFill>
                <a:latin typeface="+mj-lt"/>
                <a:ea typeface="+mn-ea"/>
              </a:defRPr>
            </a:lvl1pPr>
            <a:lvl2pPr>
              <a:defRPr lang="en-US" sz="1800" smtClean="0">
                <a:solidFill>
                  <a:schemeClr val="lt1"/>
                </a:solidFill>
                <a:ea typeface="+mn-ea"/>
                <a:cs typeface="+mn-cs"/>
              </a:defRPr>
            </a:lvl2pPr>
            <a:lvl3pPr>
              <a:defRPr lang="en-US" sz="1800" smtClean="0">
                <a:solidFill>
                  <a:schemeClr val="lt1"/>
                </a:solidFill>
                <a:ea typeface="+mn-ea"/>
                <a:cs typeface="+mn-cs"/>
              </a:defRPr>
            </a:lvl3pPr>
            <a:lvl4pPr>
              <a:defRPr lang="en-US" sz="1800" smtClean="0">
                <a:solidFill>
                  <a:schemeClr val="lt1"/>
                </a:solidFill>
                <a:ea typeface="+mn-ea"/>
                <a:cs typeface="+mn-cs"/>
              </a:defRPr>
            </a:lvl4pPr>
            <a:lvl5pPr>
              <a:defRPr lang="en-AU" sz="1800">
                <a:solidFill>
                  <a:schemeClr val="lt1"/>
                </a:solidFill>
                <a:ea typeface="+mn-ea"/>
                <a:cs typeface="+mn-cs"/>
              </a:defRPr>
            </a:lvl5pPr>
          </a:lstStyle>
          <a:p>
            <a:pPr lvl="0" defTabSz="914400" latinLnBrk="0"/>
            <a:r>
              <a:rPr lang="en-US"/>
              <a:t>Section name here</a:t>
            </a:r>
            <a:endParaRPr lang="en-AU"/>
          </a:p>
        </p:txBody>
      </p:sp>
    </p:spTree>
    <p:extLst>
      <p:ext uri="{BB962C8B-B14F-4D97-AF65-F5344CB8AC3E}">
        <p14:creationId xmlns:p14="http://schemas.microsoft.com/office/powerpoint/2010/main" val="3727668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Tree>
    <p:extLst>
      <p:ext uri="{BB962C8B-B14F-4D97-AF65-F5344CB8AC3E}">
        <p14:creationId xmlns:p14="http://schemas.microsoft.com/office/powerpoint/2010/main" val="38426744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F090DBB-DBAB-499B-B31E-9C5FEBA1D20C}"/>
              </a:ext>
            </a:extLst>
          </p:cNvPr>
          <p:cNvGraphicFramePr>
            <a:graphicFrameLocks noChangeAspect="1"/>
          </p:cNvGraphicFramePr>
          <p:nvPr userDrawn="1">
            <p:custDataLst>
              <p:tags r:id="rId1"/>
            </p:custDataLst>
            <p:extLst>
              <p:ext uri="{D42A27DB-BD31-4B8C-83A1-F6EECF244321}">
                <p14:modId xmlns:p14="http://schemas.microsoft.com/office/powerpoint/2010/main" val="24607693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1" imgH="381" progId="TCLayout.ActiveDocument.1">
                  <p:embed/>
                </p:oleObj>
              </mc:Choice>
              <mc:Fallback>
                <p:oleObj name="think-cell Slide" r:id="rId3" imgW="381" imgH="381" progId="TCLayout.ActiveDocument.1">
                  <p:embed/>
                  <p:pic>
                    <p:nvPicPr>
                      <p:cNvPr id="10" name="Object 9" hidden="1">
                        <a:extLst>
                          <a:ext uri="{FF2B5EF4-FFF2-40B4-BE49-F238E27FC236}">
                            <a16:creationId xmlns:a16="http://schemas.microsoft.com/office/drawing/2014/main" id="{EF090DBB-DBAB-499B-B31E-9C5FEBA1D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 name="Rectangle 28">
            <a:extLst>
              <a:ext uri="{FF2B5EF4-FFF2-40B4-BE49-F238E27FC236}">
                <a16:creationId xmlns:a16="http://schemas.microsoft.com/office/drawing/2014/main" id="{2AED96BB-361A-4F3E-A7CB-D1560FDE9F21}"/>
              </a:ext>
            </a:extLst>
          </p:cNvPr>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1"/>
          </a:p>
        </p:txBody>
      </p:sp>
      <p:sp>
        <p:nvSpPr>
          <p:cNvPr id="2" name="Title 1">
            <a:extLst>
              <a:ext uri="{FF2B5EF4-FFF2-40B4-BE49-F238E27FC236}">
                <a16:creationId xmlns:a16="http://schemas.microsoft.com/office/drawing/2014/main" id="{8CD3CA51-1D19-4ADC-908F-13F64C03CB28}"/>
              </a:ext>
            </a:extLst>
          </p:cNvPr>
          <p:cNvSpPr>
            <a:spLocks noGrp="1"/>
          </p:cNvSpPr>
          <p:nvPr>
            <p:ph type="ctrTitle" hasCustomPrompt="1"/>
          </p:nvPr>
        </p:nvSpPr>
        <p:spPr>
          <a:xfrm>
            <a:off x="7207417" y="3925156"/>
            <a:ext cx="4698834" cy="1181862"/>
          </a:xfrm>
          <a:prstGeom prst="rect">
            <a:avLst/>
          </a:prstGeom>
        </p:spPr>
        <p:txBody>
          <a:bodyPr vert="horz" wrap="square" lIns="0" tIns="0" rIns="0" bIns="0" anchor="b">
            <a:spAutoFit/>
          </a:bodyPr>
          <a:lstStyle>
            <a:lvl1pPr algn="ctr">
              <a:defRPr sz="3200">
                <a:solidFill>
                  <a:schemeClr val="tx1">
                    <a:lumMod val="50000"/>
                    <a:lumOff val="50000"/>
                  </a:schemeClr>
                </a:solidFill>
              </a:defRPr>
            </a:lvl1pPr>
          </a:lstStyle>
          <a:p>
            <a:r>
              <a:rPr lang="en-US"/>
              <a:t>Place presentation title here in sentence case, max 3 lines </a:t>
            </a:r>
          </a:p>
        </p:txBody>
      </p:sp>
      <p:pic>
        <p:nvPicPr>
          <p:cNvPr id="7" name="Picture 6">
            <a:extLst>
              <a:ext uri="{FF2B5EF4-FFF2-40B4-BE49-F238E27FC236}">
                <a16:creationId xmlns:a16="http://schemas.microsoft.com/office/drawing/2014/main" id="{762FDB2B-16C1-4564-B415-DBBBCF0037B4}"/>
              </a:ext>
            </a:extLst>
          </p:cNvPr>
          <p:cNvPicPr>
            <a:picLocks noChangeAspect="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93811" y="1475802"/>
            <a:ext cx="2726046" cy="1953198"/>
          </a:xfrm>
          <a:prstGeom prst="rect">
            <a:avLst/>
          </a:prstGeom>
        </p:spPr>
      </p:pic>
      <p:sp>
        <p:nvSpPr>
          <p:cNvPr id="26" name="Text Placeholder 25">
            <a:extLst>
              <a:ext uri="{FF2B5EF4-FFF2-40B4-BE49-F238E27FC236}">
                <a16:creationId xmlns:a16="http://schemas.microsoft.com/office/drawing/2014/main" id="{44C01ECE-843C-4618-8C3A-082A62CB3D44}"/>
              </a:ext>
            </a:extLst>
          </p:cNvPr>
          <p:cNvSpPr>
            <a:spLocks noGrp="1"/>
          </p:cNvSpPr>
          <p:nvPr>
            <p:ph type="body" sz="quarter" idx="10" hasCustomPrompt="1"/>
          </p:nvPr>
        </p:nvSpPr>
        <p:spPr>
          <a:xfrm>
            <a:off x="7207417" y="5334153"/>
            <a:ext cx="4698834" cy="307777"/>
          </a:xfrm>
          <a:prstGeom prst="rect">
            <a:avLst/>
          </a:prstGeom>
        </p:spPr>
        <p:txBody>
          <a:bodyPr wrap="square" lIns="0" tIns="0" rIns="0" bIns="0">
            <a:spAutoFit/>
          </a:bodyPr>
          <a:lstStyle>
            <a:lvl1pPr marL="0" indent="0" algn="ctr">
              <a:buNone/>
              <a:defRPr sz="2000">
                <a:solidFill>
                  <a:schemeClr val="tx1">
                    <a:lumMod val="50000"/>
                    <a:lumOff val="50000"/>
                  </a:schemeClr>
                </a:solidFill>
              </a:defRPr>
            </a:lvl1pPr>
            <a:lvl2pPr marL="457206" indent="0">
              <a:buNone/>
              <a:defRPr/>
            </a:lvl2pPr>
            <a:lvl3pPr marL="914411" indent="0">
              <a:buNone/>
              <a:defRPr/>
            </a:lvl3pPr>
            <a:lvl4pPr marL="1371617" indent="0">
              <a:buNone/>
              <a:defRPr/>
            </a:lvl4pPr>
            <a:lvl5pPr marL="1828823" indent="0">
              <a:buNone/>
              <a:defRPr/>
            </a:lvl5pPr>
          </a:lstStyle>
          <a:p>
            <a:pPr lvl="0"/>
            <a:r>
              <a:rPr lang="en-US"/>
              <a:t>Event title – event date</a:t>
            </a:r>
          </a:p>
        </p:txBody>
      </p:sp>
      <p:sp>
        <p:nvSpPr>
          <p:cNvPr id="3" name="Picture Placeholder 7">
            <a:extLst>
              <a:ext uri="{FF2B5EF4-FFF2-40B4-BE49-F238E27FC236}">
                <a16:creationId xmlns:a16="http://schemas.microsoft.com/office/drawing/2014/main" id="{9F417C3A-BBD1-0EAC-6A37-12CE6587C5B9}"/>
              </a:ext>
            </a:extLst>
          </p:cNvPr>
          <p:cNvSpPr>
            <a:spLocks noGrp="1"/>
          </p:cNvSpPr>
          <p:nvPr>
            <p:ph type="pic" sz="quarter" idx="11" hasCustomPrompt="1"/>
          </p:nvPr>
        </p:nvSpPr>
        <p:spPr>
          <a:xfrm>
            <a:off x="1" y="0"/>
            <a:ext cx="6921666" cy="6858000"/>
          </a:xfrm>
          <a:prstGeom prst="rect">
            <a:avLst/>
          </a:prstGeom>
          <a:noFill/>
        </p:spPr>
        <p:txBody>
          <a:bodyPr anchor="ctr"/>
          <a:lstStyle>
            <a:lvl1pPr algn="ctr">
              <a:defRPr sz="3200"/>
            </a:lvl1pPr>
          </a:lstStyle>
          <a:p>
            <a:r>
              <a:rPr lang="en-US"/>
              <a:t>Insert image </a:t>
            </a:r>
          </a:p>
          <a:p>
            <a:r>
              <a:rPr lang="en-US"/>
              <a:t>(try: https://unsplash.com/)</a:t>
            </a:r>
          </a:p>
        </p:txBody>
      </p:sp>
    </p:spTree>
    <p:extLst>
      <p:ext uri="{BB962C8B-B14F-4D97-AF65-F5344CB8AC3E}">
        <p14:creationId xmlns:p14="http://schemas.microsoft.com/office/powerpoint/2010/main" val="2210043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2" cy="3429000"/>
          </a:xfrm>
        </p:spPr>
        <p:txBody>
          <a:bodyPr anchor="b"/>
          <a:lstStyle>
            <a:lvl1pPr algn="l">
              <a:lnSpc>
                <a:spcPct val="90000"/>
              </a:lnSpc>
              <a:defRPr sz="6000">
                <a:solidFill>
                  <a:schemeClr val="tx1"/>
                </a:solidFill>
              </a:defRPr>
            </a:lvl1pPr>
          </a:lstStyle>
          <a:p>
            <a:r>
              <a:rPr lang="en-US"/>
              <a:t>Place presentation title here in sentence case, max 3 lines </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3970736"/>
            <a:ext cx="6884562" cy="1092845"/>
          </a:xfrm>
        </p:spPr>
        <p:txBody>
          <a:bodyPr/>
          <a:lstStyle>
            <a:lvl1pPr marL="0" indent="0" algn="l">
              <a:lnSpc>
                <a:spcPct val="90000"/>
              </a:lnSpc>
              <a:spcAft>
                <a:spcPts val="0"/>
              </a:spcAft>
              <a:buNone/>
              <a:defRPr sz="2400" b="0" i="0" spc="0">
                <a:solidFill>
                  <a:schemeClr val="tx1">
                    <a:lumMod val="95000"/>
                  </a:schemeClr>
                </a:solidFill>
                <a:latin typeface="GT Sectra Fine"/>
              </a:defRPr>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pPr marL="0" lvl="0" indent="0" algn="l" defTabSz="914411"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5"/>
            <a:ext cx="4114798" cy="530687"/>
          </a:xfrm>
        </p:spPr>
        <p:txBody>
          <a:bodyPr/>
          <a:lstStyle>
            <a:lvl1pPr marL="0" indent="0" algn="l" defTabSz="914411" rtl="0" eaLnBrk="1" latinLnBrk="0" hangingPunct="1">
              <a:spcAft>
                <a:spcPts val="0"/>
              </a:spcAft>
              <a:buNone/>
              <a:defRPr lang="en-US" sz="1600" b="0" kern="1200" dirty="0" smtClean="0">
                <a:solidFill>
                  <a:schemeClr val="tx1"/>
                </a:solidFill>
                <a:latin typeface="+mn-lt"/>
                <a:ea typeface="+mn-ea"/>
                <a:cs typeface="+mn-cs"/>
              </a:defRPr>
            </a:lvl1pPr>
            <a:lvl2pPr marL="0" algn="l" defTabSz="914411" rtl="0" eaLnBrk="1" latinLnBrk="0" hangingPunct="1">
              <a:spcAft>
                <a:spcPts val="0"/>
              </a:spcAft>
              <a:defRPr lang="en-US" sz="1401" b="0" kern="1200" dirty="0" smtClean="0">
                <a:solidFill>
                  <a:schemeClr val="tx1"/>
                </a:solidFill>
                <a:latin typeface="+mn-lt"/>
                <a:ea typeface="+mn-ea"/>
                <a:cs typeface="+mn-cs"/>
              </a:defRPr>
            </a:lvl2pPr>
            <a:lvl3pPr marL="0" algn="l" defTabSz="914411" rtl="0" eaLnBrk="1" latinLnBrk="0" hangingPunct="1">
              <a:spcAft>
                <a:spcPts val="0"/>
              </a:spcAft>
              <a:defRPr lang="en-US" sz="1401" b="0" kern="1200" dirty="0" smtClean="0">
                <a:solidFill>
                  <a:schemeClr val="tx1"/>
                </a:solidFill>
                <a:latin typeface="+mn-lt"/>
                <a:ea typeface="+mn-ea"/>
                <a:cs typeface="+mn-cs"/>
              </a:defRPr>
            </a:lvl3pPr>
            <a:lvl4pPr marL="0" algn="l" defTabSz="914411" rtl="0" eaLnBrk="1" latinLnBrk="0" hangingPunct="1">
              <a:spcAft>
                <a:spcPts val="0"/>
              </a:spcAft>
              <a:defRPr lang="en-US" sz="1401" b="0" kern="1200" dirty="0" smtClean="0">
                <a:solidFill>
                  <a:schemeClr val="tx1"/>
                </a:solidFill>
                <a:latin typeface="+mn-lt"/>
                <a:ea typeface="+mn-ea"/>
                <a:cs typeface="+mn-cs"/>
              </a:defRPr>
            </a:lvl4pPr>
            <a:lvl5pPr marL="0" algn="l" defTabSz="914411" rtl="0" eaLnBrk="1" latinLnBrk="0" hangingPunct="1">
              <a:spcAft>
                <a:spcPts val="0"/>
              </a:spcAft>
              <a:defRPr lang="en-US" sz="1401" b="0" kern="1200" dirty="0" smtClean="0">
                <a:solidFill>
                  <a:schemeClr val="tx1"/>
                </a:solidFill>
                <a:latin typeface="+mn-lt"/>
                <a:ea typeface="+mn-ea"/>
                <a:cs typeface="+mn-cs"/>
              </a:defRPr>
            </a:lvl5pPr>
          </a:lstStyle>
          <a:p>
            <a:pPr lvl="0"/>
            <a:r>
              <a:rPr lang="en-US"/>
              <a:t>Date (DD MMMM YYYY)</a:t>
            </a:r>
          </a:p>
        </p:txBody>
      </p:sp>
      <p:pic>
        <p:nvPicPr>
          <p:cNvPr id="8" name="Picture 7" descr="Logo&#10;&#10;Description automatically generated">
            <a:extLst>
              <a:ext uri="{FF2B5EF4-FFF2-40B4-BE49-F238E27FC236}">
                <a16:creationId xmlns:a16="http://schemas.microsoft.com/office/drawing/2014/main" id="{E5A68FC7-26B5-D447-0F4F-4539456AF0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3521" y="4788067"/>
            <a:ext cx="1965317" cy="1298408"/>
          </a:xfrm>
          <a:prstGeom prst="rect">
            <a:avLst/>
          </a:prstGeom>
        </p:spPr>
      </p:pic>
      <p:sp>
        <p:nvSpPr>
          <p:cNvPr id="12" name="Text Placeholder 9">
            <a:extLst>
              <a:ext uri="{FF2B5EF4-FFF2-40B4-BE49-F238E27FC236}">
                <a16:creationId xmlns:a16="http://schemas.microsoft.com/office/drawing/2014/main" id="{1F6C5752-FCAA-86D8-96A8-435178EF8522}"/>
              </a:ext>
            </a:extLst>
          </p:cNvPr>
          <p:cNvSpPr>
            <a:spLocks noGrp="1"/>
          </p:cNvSpPr>
          <p:nvPr>
            <p:ph type="body" sz="quarter" idx="13" hasCustomPrompt="1"/>
          </p:nvPr>
        </p:nvSpPr>
        <p:spPr>
          <a:xfrm>
            <a:off x="1149092" y="5004444"/>
            <a:ext cx="4114800" cy="348141"/>
          </a:xfrm>
          <a:prstGeom prst="rect">
            <a:avLst/>
          </a:prstGeom>
        </p:spPr>
        <p:txBody>
          <a:bodyPr/>
          <a:lstStyle>
            <a:lvl1pPr>
              <a:defRPr lang="en-US" sz="1600" b="0" i="0" kern="1200" spc="0" dirty="0" smtClean="0">
                <a:solidFill>
                  <a:schemeClr val="tx1">
                    <a:lumMod val="95000"/>
                  </a:schemeClr>
                </a:solidFill>
                <a:latin typeface="+mj-lt"/>
                <a:ea typeface="Roboto" panose="02000000000000000000" pitchFamily="2" charset="0"/>
                <a:cs typeface="Arial" panose="020B0604020202020204" pitchFamily="34" charset="0"/>
              </a:defRPr>
            </a:lvl1pPr>
          </a:lstStyle>
          <a:p>
            <a:pPr lvl="0"/>
            <a:r>
              <a:rPr lang="en-US"/>
              <a:t>Presenters</a:t>
            </a:r>
          </a:p>
        </p:txBody>
      </p:sp>
    </p:spTree>
    <p:extLst>
      <p:ext uri="{BB962C8B-B14F-4D97-AF65-F5344CB8AC3E}">
        <p14:creationId xmlns:p14="http://schemas.microsoft.com/office/powerpoint/2010/main" val="30914830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00" userDrawn="1">
          <p15:clr>
            <a:srgbClr val="5ACBF0"/>
          </p15:clr>
        </p15:guide>
        <p15:guide id="2" orient="horz" pos="2520" userDrawn="1">
          <p15:clr>
            <a:srgbClr val="5ACBF0"/>
          </p15:clr>
        </p15:guide>
        <p15:guide id="3" pos="72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a:prstGeom prst="rect">
            <a:avLst/>
          </a:prstGeom>
        </p:spPr>
        <p:txBody>
          <a:bodyPr/>
          <a:lstStyle>
            <a:lvl1pPr marL="0" indent="0">
              <a:lnSpc>
                <a:spcPct val="90000"/>
              </a:lnSpc>
              <a:buNone/>
              <a:defRPr sz="2400">
                <a:solidFill>
                  <a:schemeClr val="bg2"/>
                </a:solidFill>
                <a:latin typeface="GT Sectra Fine" panose="00000500000000000000" pitchFamily="50" charset="0"/>
              </a:defRPr>
            </a:lvl1pPr>
            <a:lvl2pPr marL="0" indent="0">
              <a:buNone/>
              <a:defRPr sz="1801"/>
            </a:lvl2pPr>
            <a:lvl3pPr marL="228604">
              <a:buFont typeface="Arial" panose="020B0604020202020204" pitchFamily="34" charset="0"/>
              <a:buChar char="•"/>
              <a:defRPr sz="1801"/>
            </a:lvl3pPr>
            <a:lvl4pPr marL="457206">
              <a:buFont typeface="System Font"/>
              <a:buChar char="–"/>
              <a:defRPr sz="1600"/>
            </a:lvl4pPr>
            <a:lvl5pPr marL="685809">
              <a:buFont typeface="Arial" panose="020B0604020202020204" pitchFamily="34" charset="0"/>
              <a:buChar char="•"/>
              <a:defRPr sz="1600"/>
            </a:lvl5pPr>
          </a:lstStyle>
          <a:p>
            <a:pPr lvl="0"/>
            <a:r>
              <a:rPr lang="en-US"/>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2" cy="810399"/>
          </a:xfrm>
          <a:prstGeom prst="rect">
            <a:avLst/>
          </a:prstGeom>
        </p:spPr>
        <p:txBody>
          <a:bodyPr/>
          <a:lstStyle/>
          <a:p>
            <a:r>
              <a:rPr lang="en-GB"/>
              <a:t>Agenda</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3" y="137160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3" y="1976479"/>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3" y="2581356"/>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3" y="3186234"/>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3" y="3791113"/>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3" y="439599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3" y="5000868"/>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3" y="5605747"/>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284358" y="137160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284358" y="1976479"/>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284358" y="2581356"/>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284358" y="3186234"/>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284358" y="3791113"/>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284358" y="439599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284358" y="5000868"/>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284358" y="5605747"/>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a:cxnSpLocks/>
          </p:cNvCxnSpPr>
          <p:nvPr userDrawn="1"/>
        </p:nvCxnSpPr>
        <p:spPr>
          <a:xfrm>
            <a:off x="4045241" y="1371601"/>
            <a:ext cx="0" cy="33327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9"/>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3"/>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195094" y="137160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195094" y="1976479"/>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195094" y="2581356"/>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195094" y="3186234"/>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195094" y="3791113"/>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195094" y="439599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195094" y="5000868"/>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195094" y="5605747"/>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4">
              <a:spcAft>
                <a:spcPts val="1200"/>
              </a:spcAft>
            </a:pPr>
            <a:endParaRPr lang="en-US" sz="1801" noProof="0"/>
          </a:p>
        </p:txBody>
      </p:sp>
    </p:spTree>
    <p:extLst>
      <p:ext uri="{BB962C8B-B14F-4D97-AF65-F5344CB8AC3E}">
        <p14:creationId xmlns:p14="http://schemas.microsoft.com/office/powerpoint/2010/main" val="2758299207"/>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D8A76DE-ECA0-60F4-575C-02C4077408B5}"/>
              </a:ext>
            </a:extLst>
          </p:cNvPr>
          <p:cNvGraphicFramePr>
            <a:graphicFrameLocks noChangeAspect="1"/>
          </p:cNvGraphicFramePr>
          <p:nvPr userDrawn="1">
            <p:custDataLst>
              <p:tags r:id="rId1"/>
            </p:custDataLst>
            <p:extLst>
              <p:ext uri="{D42A27DB-BD31-4B8C-83A1-F6EECF244321}">
                <p14:modId xmlns:p14="http://schemas.microsoft.com/office/powerpoint/2010/main" val="3109254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4" name="Object 3" hidden="1">
                        <a:extLst>
                          <a:ext uri="{FF2B5EF4-FFF2-40B4-BE49-F238E27FC236}">
                            <a16:creationId xmlns:a16="http://schemas.microsoft.com/office/drawing/2014/main" id="{8D8A76DE-ECA0-60F4-575C-02C4077408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F7B9E7BD-B7D1-FF01-F546-0CADB6C2F4CC}"/>
              </a:ext>
            </a:extLst>
          </p:cNvPr>
          <p:cNvSpPr>
            <a:spLocks noGrp="1"/>
          </p:cNvSpPr>
          <p:nvPr>
            <p:ph type="body" sz="quarter" idx="10" hasCustomPrompt="1"/>
          </p:nvPr>
        </p:nvSpPr>
        <p:spPr>
          <a:xfrm>
            <a:off x="1225550" y="2909333"/>
            <a:ext cx="9389031" cy="1039334"/>
          </a:xfrm>
          <a:prstGeom prst="rect">
            <a:avLst/>
          </a:prstGeom>
        </p:spPr>
        <p:txBody>
          <a:bodyPr anchor="ctr"/>
          <a:lstStyle>
            <a:lvl1pPr>
              <a:defRPr sz="3200" b="1"/>
            </a:lvl1pPr>
          </a:lstStyle>
          <a:p>
            <a:pPr lvl="0"/>
            <a:r>
              <a:rPr lang="en-US"/>
              <a:t>## - Place section title here in sentence case, max 2 lines </a:t>
            </a:r>
          </a:p>
        </p:txBody>
      </p:sp>
    </p:spTree>
    <p:extLst>
      <p:ext uri="{BB962C8B-B14F-4D97-AF65-F5344CB8AC3E}">
        <p14:creationId xmlns:p14="http://schemas.microsoft.com/office/powerpoint/2010/main" val="60944569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BCE4D4F-8CCC-404C-840E-8A45E07645C2}"/>
              </a:ext>
            </a:extLst>
          </p:cNvPr>
          <p:cNvGraphicFramePr>
            <a:graphicFrameLocks noChangeAspect="1"/>
          </p:cNvGraphicFramePr>
          <p:nvPr userDrawn="1">
            <p:custDataLst>
              <p:tags r:id="rId28"/>
            </p:custDataLst>
            <p:extLst>
              <p:ext uri="{D42A27DB-BD31-4B8C-83A1-F6EECF244321}">
                <p14:modId xmlns:p14="http://schemas.microsoft.com/office/powerpoint/2010/main" val="105608378"/>
              </p:ext>
            </p:extLst>
          </p:nvPr>
        </p:nvGraphicFramePr>
        <p:xfrm>
          <a:off x="1588" y="1587"/>
          <a:ext cx="1589" cy="1588"/>
        </p:xfrm>
        <a:graphic>
          <a:graphicData uri="http://schemas.openxmlformats.org/presentationml/2006/ole">
            <mc:AlternateContent xmlns:mc="http://schemas.openxmlformats.org/markup-compatibility/2006">
              <mc:Choice xmlns:v="urn:schemas-microsoft-com:vml" Requires="v">
                <p:oleObj name="think-cell Slide" r:id="rId30" imgW="395" imgH="394" progId="TCLayout.ActiveDocument.1">
                  <p:embed/>
                </p:oleObj>
              </mc:Choice>
              <mc:Fallback>
                <p:oleObj name="think-cell Slide" r:id="rId30" imgW="395" imgH="394" progId="TCLayout.ActiveDocument.1">
                  <p:embed/>
                  <p:pic>
                    <p:nvPicPr>
                      <p:cNvPr id="5" name="Object 4" hidden="1">
                        <a:extLst>
                          <a:ext uri="{FF2B5EF4-FFF2-40B4-BE49-F238E27FC236}">
                            <a16:creationId xmlns:a16="http://schemas.microsoft.com/office/drawing/2014/main" id="{DBCE4D4F-8CCC-404C-840E-8A45E07645C2}"/>
                          </a:ext>
                        </a:extLst>
                      </p:cNvPr>
                      <p:cNvPicPr/>
                      <p:nvPr/>
                    </p:nvPicPr>
                    <p:blipFill>
                      <a:blip r:embed="rId31"/>
                      <a:stretch>
                        <a:fillRect/>
                      </a:stretch>
                    </p:blipFill>
                    <p:spPr>
                      <a:xfrm>
                        <a:off x="1588" y="1587"/>
                        <a:ext cx="1589"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C4AAB9D-85C6-43AB-8696-D55AD6DDE24E}"/>
              </a:ext>
            </a:extLst>
          </p:cNvPr>
          <p:cNvSpPr/>
          <p:nvPr userDrawn="1">
            <p:custDataLst>
              <p:tags r:id="rId29"/>
            </p:custDataLst>
          </p:nvPr>
        </p:nvSpPr>
        <p:spPr>
          <a:xfrm>
            <a:off x="0" y="1"/>
            <a:ext cx="158812" cy="158713"/>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lIns="0" tIns="0" rIns="0" bIns="0" numCol="1" spcCol="0" rtlCol="0" anchor="ctr" anchorCtr="0">
            <a:noAutofit/>
          </a:bodyPr>
          <a:lstStyle/>
          <a:p>
            <a:pPr marL="0" lvl="0" indent="0" algn="ctr"/>
            <a:endParaRPr lang="en-US" sz="3598" b="1" i="0" baseline="0">
              <a:solidFill>
                <a:schemeClr val="bg1"/>
              </a:solidFill>
              <a:latin typeface="Graphik" panose="020B0503030202060203" pitchFamily="34" charset="0"/>
              <a:cs typeface="Arial" panose="020B0604020202020204" pitchFamily="34" charset="0"/>
              <a:sym typeface="Graphik" panose="020B0503030202060203" pitchFamily="34" charset="0"/>
            </a:endParaRPr>
          </a:p>
        </p:txBody>
      </p:sp>
      <p:sp>
        <p:nvSpPr>
          <p:cNvPr id="8" name="Slide Number Placeholder 9">
            <a:extLst>
              <a:ext uri="{FF2B5EF4-FFF2-40B4-BE49-F238E27FC236}">
                <a16:creationId xmlns:a16="http://schemas.microsoft.com/office/drawing/2014/main" id="{E029236F-8D4F-46BA-A33A-11E2F113A78C}"/>
              </a:ext>
            </a:extLst>
          </p:cNvPr>
          <p:cNvSpPr>
            <a:spLocks noGrp="1"/>
          </p:cNvSpPr>
          <p:nvPr>
            <p:ph type="sldNum" sz="quarter" idx="4"/>
          </p:nvPr>
        </p:nvSpPr>
        <p:spPr>
          <a:xfrm flipH="1">
            <a:off x="10946922" y="6401006"/>
            <a:ext cx="561476" cy="273402"/>
          </a:xfrm>
          <a:prstGeom prst="rect">
            <a:avLst/>
          </a:prstGeom>
        </p:spPr>
        <p:txBody>
          <a:bodyPr tIns="0" bIns="0" anchor="b"/>
          <a:lstStyle>
            <a:lvl1pPr algn="l">
              <a:defRPr sz="1001" b="0">
                <a:solidFill>
                  <a:schemeClr val="tx1"/>
                </a:solidFill>
                <a:latin typeface="+mj-lt"/>
              </a:defRPr>
            </a:lvl1pPr>
          </a:lstStyle>
          <a:p>
            <a:fld id="{4F9AC08D-23A9-440E-BCB9-AA1E9877CC38}" type="slidenum">
              <a:rPr lang="en-US" smtClean="0"/>
              <a:pPr/>
              <a:t>‹#›</a:t>
            </a:fld>
            <a:endParaRPr lang="en-US"/>
          </a:p>
        </p:txBody>
      </p:sp>
      <p:sp>
        <p:nvSpPr>
          <p:cNvPr id="10" name="Footer Placeholder 6">
            <a:extLst>
              <a:ext uri="{FF2B5EF4-FFF2-40B4-BE49-F238E27FC236}">
                <a16:creationId xmlns:a16="http://schemas.microsoft.com/office/drawing/2014/main" id="{37E62055-3E0F-4EBB-A962-F9600119E4DA}"/>
              </a:ext>
            </a:extLst>
          </p:cNvPr>
          <p:cNvSpPr>
            <a:spLocks noGrp="1"/>
          </p:cNvSpPr>
          <p:nvPr>
            <p:ph type="ftr" sz="quarter" idx="3"/>
          </p:nvPr>
        </p:nvSpPr>
        <p:spPr>
          <a:xfrm>
            <a:off x="355739" y="6402651"/>
            <a:ext cx="3733634" cy="270112"/>
          </a:xfrm>
          <a:prstGeom prst="rect">
            <a:avLst/>
          </a:prstGeom>
        </p:spPr>
        <p:txBody>
          <a:bodyPr tIns="0" bIns="0" anchor="ctr"/>
          <a:lstStyle>
            <a:lvl1pPr algn="l">
              <a:defRPr sz="800">
                <a:solidFill>
                  <a:schemeClr val="tx1">
                    <a:alpha val="50000"/>
                  </a:schemeClr>
                </a:solidFill>
                <a:latin typeface="+mn-lt"/>
              </a:defRPr>
            </a:lvl1pPr>
          </a:lstStyle>
          <a:p>
            <a:r>
              <a:rPr lang="en-GB"/>
              <a:t>Source:</a:t>
            </a:r>
          </a:p>
        </p:txBody>
      </p:sp>
      <p:pic>
        <p:nvPicPr>
          <p:cNvPr id="9" name="Picture 8" descr="Logo&#10;&#10;Description automatically generated">
            <a:extLst>
              <a:ext uri="{FF2B5EF4-FFF2-40B4-BE49-F238E27FC236}">
                <a16:creationId xmlns:a16="http://schemas.microsoft.com/office/drawing/2014/main" id="{A66CE9E3-35BA-4A0B-8098-8A65954FE472}"/>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1478897" y="6393635"/>
            <a:ext cx="350924" cy="288147"/>
          </a:xfrm>
          <a:prstGeom prst="rect">
            <a:avLst/>
          </a:prstGeom>
        </p:spPr>
      </p:pic>
    </p:spTree>
    <p:extLst>
      <p:ext uri="{BB962C8B-B14F-4D97-AF65-F5344CB8AC3E}">
        <p14:creationId xmlns:p14="http://schemas.microsoft.com/office/powerpoint/2010/main" val="417098438"/>
      </p:ext>
    </p:extLst>
  </p:cSld>
  <p:clrMap bg1="lt1" tx1="dk1" bg2="lt2" tx2="dk2" accent1="accent1" accent2="accent2" accent3="accent3" accent4="accent4" accent5="accent5" accent6="accent6" hlink="hlink" folHlink="folHlink"/>
  <p:sldLayoutIdLst>
    <p:sldLayoutId id="2147483713" r:id="rId1"/>
    <p:sldLayoutId id="2147483720" r:id="rId2"/>
    <p:sldLayoutId id="2147483721" r:id="rId3"/>
    <p:sldLayoutId id="2147483722" r:id="rId4"/>
    <p:sldLayoutId id="2147483726" r:id="rId5"/>
    <p:sldLayoutId id="2147483740" r:id="rId6"/>
    <p:sldLayoutId id="2147483725" r:id="rId7"/>
    <p:sldLayoutId id="2147483727" r:id="rId8"/>
    <p:sldLayoutId id="2147483728" r:id="rId9"/>
    <p:sldLayoutId id="2147483729" r:id="rId10"/>
    <p:sldLayoutId id="2147483730" r:id="rId11"/>
    <p:sldLayoutId id="2147483739" r:id="rId12"/>
    <p:sldLayoutId id="2147483735" r:id="rId13"/>
    <p:sldLayoutId id="2147483736" r:id="rId14"/>
    <p:sldLayoutId id="2147483737" r:id="rId15"/>
    <p:sldLayoutId id="2147483738" r:id="rId16"/>
    <p:sldLayoutId id="2147483731" r:id="rId17"/>
    <p:sldLayoutId id="2147483732" r:id="rId18"/>
    <p:sldLayoutId id="2147483733" r:id="rId19"/>
    <p:sldLayoutId id="2147483734" r:id="rId20"/>
    <p:sldLayoutId id="2147483710" r:id="rId21"/>
    <p:sldLayoutId id="2147483719" r:id="rId22"/>
    <p:sldLayoutId id="2147483706" r:id="rId23"/>
    <p:sldLayoutId id="2147483712" r:id="rId24"/>
    <p:sldLayoutId id="2147483707" r:id="rId25"/>
    <p:sldLayoutId id="2147483708" r:id="rId26"/>
  </p:sldLayoutIdLst>
  <p:hf hdr="0" ftr="0" dt="0"/>
  <p:txStyles>
    <p:titleStyle>
      <a:lvl1pPr algn="l" rtl="0" eaLnBrk="1" fontAlgn="base" hangingPunct="1">
        <a:lnSpc>
          <a:spcPct val="80000"/>
        </a:lnSpc>
        <a:spcBef>
          <a:spcPct val="0"/>
        </a:spcBef>
        <a:spcAft>
          <a:spcPct val="0"/>
        </a:spcAft>
        <a:buFont typeface="Arial" charset="0"/>
        <a:defRPr lang="en-AU" sz="2800" b="1" i="0" kern="1200" cap="none" spc="-149" baseline="0" dirty="0" smtClean="0">
          <a:solidFill>
            <a:schemeClr val="tx1"/>
          </a:solidFill>
          <a:latin typeface="+mj-lt"/>
          <a:ea typeface="Roboto Black" panose="02000000000000000000" pitchFamily="2" charset="0"/>
          <a:cs typeface="Arial" panose="020B0604020202020204" pitchFamily="34" charset="0"/>
        </a:defRPr>
      </a:lvl1pPr>
      <a:lvl2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2pPr>
      <a:lvl3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3pPr>
      <a:lvl4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4pPr>
      <a:lvl5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5pPr>
      <a:lvl6pPr marL="609329"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6pPr>
      <a:lvl7pPr marL="1218657"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7pPr>
      <a:lvl8pPr marL="1827986"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8pPr>
      <a:lvl9pPr marL="2437314"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9pPr>
    </p:titleStyle>
    <p:bodyStyle>
      <a:lvl1pPr marL="0" indent="0" algn="l" rtl="0" eaLnBrk="1" fontAlgn="base" hangingPunct="1">
        <a:lnSpc>
          <a:spcPct val="100000"/>
        </a:lnSpc>
        <a:spcBef>
          <a:spcPts val="601"/>
        </a:spcBef>
        <a:spcAft>
          <a:spcPct val="0"/>
        </a:spcAft>
        <a:buFont typeface="Arial" pitchFamily="34" charset="0"/>
        <a:buNone/>
        <a:defRPr sz="1801" b="0" i="0" kern="1200">
          <a:solidFill>
            <a:schemeClr val="tx1"/>
          </a:solidFill>
          <a:latin typeface="+mn-lt"/>
          <a:ea typeface="Roboto" panose="02000000000000000000" pitchFamily="2" charset="0"/>
          <a:cs typeface="Arial" panose="020B0604020202020204" pitchFamily="34" charset="0"/>
        </a:defRPr>
      </a:lvl1pPr>
      <a:lvl2pPr marL="215960" indent="-215960" algn="l" rtl="0" eaLnBrk="1" fontAlgn="base" hangingPunct="1">
        <a:lnSpc>
          <a:spcPct val="100000"/>
        </a:lnSpc>
        <a:spcBef>
          <a:spcPts val="601"/>
        </a:spcBef>
        <a:spcAft>
          <a:spcPct val="0"/>
        </a:spcAft>
        <a:buFont typeface="Arial" pitchFamily="34" charset="0"/>
        <a:buChar char="•"/>
        <a:defRPr sz="1801" b="0" i="0" kern="1200">
          <a:solidFill>
            <a:schemeClr val="tx1"/>
          </a:solidFill>
          <a:latin typeface="+mn-lt"/>
          <a:ea typeface="Roboto" panose="02000000000000000000" pitchFamily="2" charset="0"/>
          <a:cs typeface="Arial" panose="020B0604020202020204" pitchFamily="34" charset="0"/>
        </a:defRPr>
      </a:lvl2pPr>
      <a:lvl3pPr marL="431920" indent="-215960" algn="l" rtl="0" eaLnBrk="1" fontAlgn="base" hangingPunct="1">
        <a:lnSpc>
          <a:spcPct val="100000"/>
        </a:lnSpc>
        <a:spcBef>
          <a:spcPts val="601"/>
        </a:spcBef>
        <a:spcAft>
          <a:spcPct val="0"/>
        </a:spcAft>
        <a:buFont typeface="Arial" pitchFamily="34" charset="0"/>
        <a:buChar char="‒"/>
        <a:tabLst/>
        <a:defRPr sz="1801" b="0" i="0" kern="1200">
          <a:solidFill>
            <a:schemeClr val="tx1"/>
          </a:solidFill>
          <a:latin typeface="+mn-lt"/>
          <a:ea typeface="Roboto" panose="02000000000000000000" pitchFamily="2" charset="0"/>
          <a:cs typeface="Arial" panose="020B0604020202020204" pitchFamily="34" charset="0"/>
        </a:defRPr>
      </a:lvl3pPr>
      <a:lvl4pPr marL="611885" indent="-215960" algn="l" rtl="0" eaLnBrk="1" fontAlgn="base" hangingPunct="1">
        <a:lnSpc>
          <a:spcPct val="100000"/>
        </a:lnSpc>
        <a:spcBef>
          <a:spcPts val="601"/>
        </a:spcBef>
        <a:spcAft>
          <a:spcPct val="0"/>
        </a:spcAft>
        <a:buFont typeface="Arial" pitchFamily="34" charset="0"/>
        <a:buChar char="•"/>
        <a:defRPr sz="1801" b="0" i="0" kern="1200">
          <a:solidFill>
            <a:schemeClr val="tx1"/>
          </a:solidFill>
          <a:latin typeface="+mn-lt"/>
          <a:ea typeface="Roboto" panose="02000000000000000000" pitchFamily="2" charset="0"/>
          <a:cs typeface="Arial" panose="020B0604020202020204" pitchFamily="34" charset="0"/>
        </a:defRPr>
      </a:lvl4pPr>
      <a:lvl5pPr marL="863838" indent="-215960" algn="l" rtl="0" eaLnBrk="1" fontAlgn="base" hangingPunct="1">
        <a:lnSpc>
          <a:spcPct val="100000"/>
        </a:lnSpc>
        <a:spcBef>
          <a:spcPts val="601"/>
        </a:spcBef>
        <a:spcAft>
          <a:spcPct val="0"/>
        </a:spcAft>
        <a:buFont typeface="Arial" pitchFamily="34" charset="0"/>
        <a:buChar char="‒"/>
        <a:defRPr sz="1801" b="0" i="0" kern="1200">
          <a:solidFill>
            <a:schemeClr val="tx1"/>
          </a:solidFill>
          <a:latin typeface="+mn-lt"/>
          <a:ea typeface="Roboto" panose="02000000000000000000" pitchFamily="2" charset="0"/>
          <a:cs typeface="Arial" panose="020B0604020202020204" pitchFamily="34" charset="0"/>
        </a:defRPr>
      </a:lvl5pPr>
      <a:lvl6pPr marL="3351304"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6pPr>
      <a:lvl7pPr marL="3960634"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7pPr>
      <a:lvl8pPr marL="4569963"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8pPr>
      <a:lvl9pPr marL="5179290"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9pPr>
    </p:bodyStyle>
    <p:otherStyle>
      <a:defPPr>
        <a:defRPr lang="en-US"/>
      </a:defPPr>
      <a:lvl1pPr marL="0" algn="l" defTabSz="1218657" rtl="0" eaLnBrk="1" latinLnBrk="0" hangingPunct="1">
        <a:defRPr sz="2400" kern="1200">
          <a:solidFill>
            <a:schemeClr val="tx1"/>
          </a:solidFill>
          <a:latin typeface="+mn-lt"/>
          <a:ea typeface="+mn-ea"/>
          <a:cs typeface="+mn-cs"/>
        </a:defRPr>
      </a:lvl1pPr>
      <a:lvl2pPr marL="609329" algn="l" defTabSz="1218657" rtl="0" eaLnBrk="1" latinLnBrk="0" hangingPunct="1">
        <a:defRPr sz="2400" kern="1200">
          <a:solidFill>
            <a:schemeClr val="tx1"/>
          </a:solidFill>
          <a:latin typeface="+mn-lt"/>
          <a:ea typeface="+mn-ea"/>
          <a:cs typeface="+mn-cs"/>
        </a:defRPr>
      </a:lvl2pPr>
      <a:lvl3pPr marL="1218657" algn="l" defTabSz="1218657" rtl="0" eaLnBrk="1" latinLnBrk="0" hangingPunct="1">
        <a:defRPr sz="2400" kern="1200">
          <a:solidFill>
            <a:schemeClr val="tx1"/>
          </a:solidFill>
          <a:latin typeface="+mn-lt"/>
          <a:ea typeface="+mn-ea"/>
          <a:cs typeface="+mn-cs"/>
        </a:defRPr>
      </a:lvl3pPr>
      <a:lvl4pPr marL="1827986" algn="l" defTabSz="1218657" rtl="0" eaLnBrk="1" latinLnBrk="0" hangingPunct="1">
        <a:defRPr sz="2400" kern="1200">
          <a:solidFill>
            <a:schemeClr val="tx1"/>
          </a:solidFill>
          <a:latin typeface="+mn-lt"/>
          <a:ea typeface="+mn-ea"/>
          <a:cs typeface="+mn-cs"/>
        </a:defRPr>
      </a:lvl4pPr>
      <a:lvl5pPr marL="2437314" algn="l" defTabSz="1218657" rtl="0" eaLnBrk="1" latinLnBrk="0" hangingPunct="1">
        <a:defRPr sz="2400" kern="1200">
          <a:solidFill>
            <a:schemeClr val="tx1"/>
          </a:solidFill>
          <a:latin typeface="+mn-lt"/>
          <a:ea typeface="+mn-ea"/>
          <a:cs typeface="+mn-cs"/>
        </a:defRPr>
      </a:lvl5pPr>
      <a:lvl6pPr marL="3046643" algn="l" defTabSz="1218657" rtl="0" eaLnBrk="1" latinLnBrk="0" hangingPunct="1">
        <a:defRPr sz="2400" kern="1200">
          <a:solidFill>
            <a:schemeClr val="tx1"/>
          </a:solidFill>
          <a:latin typeface="+mn-lt"/>
          <a:ea typeface="+mn-ea"/>
          <a:cs typeface="+mn-cs"/>
        </a:defRPr>
      </a:lvl6pPr>
      <a:lvl7pPr marL="3655971" algn="l" defTabSz="1218657" rtl="0" eaLnBrk="1" latinLnBrk="0" hangingPunct="1">
        <a:defRPr sz="2400" kern="1200">
          <a:solidFill>
            <a:schemeClr val="tx1"/>
          </a:solidFill>
          <a:latin typeface="+mn-lt"/>
          <a:ea typeface="+mn-ea"/>
          <a:cs typeface="+mn-cs"/>
        </a:defRPr>
      </a:lvl7pPr>
      <a:lvl8pPr marL="4265298" algn="l" defTabSz="1218657" rtl="0" eaLnBrk="1" latinLnBrk="0" hangingPunct="1">
        <a:defRPr sz="2400" kern="1200">
          <a:solidFill>
            <a:schemeClr val="tx1"/>
          </a:solidFill>
          <a:latin typeface="+mn-lt"/>
          <a:ea typeface="+mn-ea"/>
          <a:cs typeface="+mn-cs"/>
        </a:defRPr>
      </a:lvl8pPr>
      <a:lvl9pPr marL="4874626" algn="l" defTabSz="121865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19" userDrawn="1">
          <p15:clr>
            <a:srgbClr val="F26B43"/>
          </p15:clr>
        </p15:guide>
        <p15:guide id="2" pos="226" userDrawn="1">
          <p15:clr>
            <a:srgbClr val="F26B43"/>
          </p15:clr>
        </p15:guide>
        <p15:guide id="3" pos="7452" userDrawn="1">
          <p15:clr>
            <a:srgbClr val="F26B43"/>
          </p15:clr>
        </p15:guide>
        <p15:guide id="4" pos="1276" userDrawn="1">
          <p15:clr>
            <a:srgbClr val="F26B43"/>
          </p15:clr>
        </p15:guide>
        <p15:guide id="5" pos="1460" userDrawn="1">
          <p15:clr>
            <a:srgbClr val="F26B43"/>
          </p15:clr>
        </p15:guide>
        <p15:guide id="6" pos="2514" userDrawn="1">
          <p15:clr>
            <a:srgbClr val="F26B43"/>
          </p15:clr>
        </p15:guide>
        <p15:guide id="7" pos="2697" userDrawn="1">
          <p15:clr>
            <a:srgbClr val="F26B43"/>
          </p15:clr>
        </p15:guide>
        <p15:guide id="8" pos="3929" userDrawn="1">
          <p15:clr>
            <a:srgbClr val="F26B43"/>
          </p15:clr>
        </p15:guide>
        <p15:guide id="9" pos="3748" userDrawn="1">
          <p15:clr>
            <a:srgbClr val="F26B43"/>
          </p15:clr>
        </p15:guide>
        <p15:guide id="10" pos="4981" userDrawn="1">
          <p15:clr>
            <a:srgbClr val="F26B43"/>
          </p15:clr>
        </p15:guide>
        <p15:guide id="11" pos="5163" userDrawn="1">
          <p15:clr>
            <a:srgbClr val="F26B43"/>
          </p15:clr>
        </p15:guide>
        <p15:guide id="12" pos="6219" userDrawn="1">
          <p15:clr>
            <a:srgbClr val="F26B43"/>
          </p15:clr>
        </p15:guide>
        <p15:guide id="13" pos="6398" userDrawn="1">
          <p15:clr>
            <a:srgbClr val="F26B43"/>
          </p15:clr>
        </p15:guide>
        <p15:guide id="14" orient="horz" pos="807" userDrawn="1">
          <p15:clr>
            <a:srgbClr val="F26B43"/>
          </p15:clr>
        </p15:guide>
        <p15:guide id="15" orient="horz" pos="876" userDrawn="1">
          <p15:clr>
            <a:srgbClr val="F26B43"/>
          </p15:clr>
        </p15:guide>
        <p15:guide id="16" orient="horz" pos="4031" userDrawn="1">
          <p15:clr>
            <a:srgbClr val="F26B43"/>
          </p15:clr>
        </p15:guide>
        <p15:guide id="17" orient="horz" pos="597" userDrawn="1">
          <p15:clr>
            <a:srgbClr val="F26B43"/>
          </p15:clr>
        </p15:guide>
        <p15:guide id="18" orient="horz" pos="2435" userDrawn="1">
          <p15:clr>
            <a:srgbClr val="F26B43"/>
          </p15:clr>
        </p15:guide>
        <p15:guide id="19" orient="horz" pos="3756" userDrawn="1">
          <p15:clr>
            <a:srgbClr val="F26B43"/>
          </p15:clr>
        </p15:guide>
        <p15:guide id="20" orient="horz" pos="419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4.xml"/><Relationship Id="rId1" Type="http://schemas.openxmlformats.org/officeDocument/2006/relationships/tags" Target="../tags/tag28.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2.xml"/><Relationship Id="rId1" Type="http://schemas.openxmlformats.org/officeDocument/2006/relationships/tags" Target="../tags/tag29.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2.xml"/><Relationship Id="rId1" Type="http://schemas.openxmlformats.org/officeDocument/2006/relationships/tags" Target="../tags/tag30.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2.xml"/><Relationship Id="rId1" Type="http://schemas.openxmlformats.org/officeDocument/2006/relationships/tags" Target="../tags/tag3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2.xml"/><Relationship Id="rId1" Type="http://schemas.openxmlformats.org/officeDocument/2006/relationships/tags" Target="../tags/tag32.xml"/><Relationship Id="rId5" Type="http://schemas.openxmlformats.org/officeDocument/2006/relationships/image" Target="../media/image9.sv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2.xml"/><Relationship Id="rId1" Type="http://schemas.openxmlformats.org/officeDocument/2006/relationships/tags" Target="../tags/tag33.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F54"/>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507B959-9E35-3EC1-53CB-968CEE0AEF70}"/>
              </a:ext>
            </a:extLst>
          </p:cNvPr>
          <p:cNvGraphicFramePr>
            <a:graphicFrameLocks noChangeAspect="1"/>
          </p:cNvGraphicFramePr>
          <p:nvPr>
            <p:custDataLst>
              <p:tags r:id="rId1"/>
            </p:custData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5507B959-9E35-3EC1-53CB-968CEE0AEF70}"/>
                          </a:ext>
                        </a:extLst>
                      </p:cNvPr>
                      <p:cNvPicPr/>
                      <p:nvPr/>
                    </p:nvPicPr>
                    <p:blipFill>
                      <a:blip r:embed="rId4"/>
                      <a:stretch>
                        <a:fillRect/>
                      </a:stretch>
                    </p:blipFill>
                    <p:spPr>
                      <a:xfrm>
                        <a:off x="1588" y="1589"/>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36DFE691-484D-0A62-B4FF-81300FDD9C7F}"/>
              </a:ext>
            </a:extLst>
          </p:cNvPr>
          <p:cNvSpPr>
            <a:spLocks noGrp="1"/>
          </p:cNvSpPr>
          <p:nvPr>
            <p:ph type="ctrTitle"/>
          </p:nvPr>
        </p:nvSpPr>
        <p:spPr/>
        <p:txBody>
          <a:bodyPr/>
          <a:lstStyle/>
          <a:p>
            <a:endParaRPr lang="en-AU" dirty="0"/>
          </a:p>
        </p:txBody>
      </p:sp>
      <p:sp>
        <p:nvSpPr>
          <p:cNvPr id="8" name="Subtitle 7">
            <a:extLst>
              <a:ext uri="{FF2B5EF4-FFF2-40B4-BE49-F238E27FC236}">
                <a16:creationId xmlns:a16="http://schemas.microsoft.com/office/drawing/2014/main" id="{8BAD583D-414C-8D2B-DA03-8F81A23522E2}"/>
              </a:ext>
            </a:extLst>
          </p:cNvPr>
          <p:cNvSpPr>
            <a:spLocks noGrp="1"/>
          </p:cNvSpPr>
          <p:nvPr>
            <p:ph type="subTitle" idx="1"/>
          </p:nvPr>
        </p:nvSpPr>
        <p:spPr/>
        <p:txBody>
          <a:bodyPr/>
          <a:lstStyle/>
          <a:p>
            <a:endParaRPr lang="en-AU" dirty="0"/>
          </a:p>
        </p:txBody>
      </p:sp>
      <p:sp>
        <p:nvSpPr>
          <p:cNvPr id="9" name="Text Placeholder 8">
            <a:extLst>
              <a:ext uri="{FF2B5EF4-FFF2-40B4-BE49-F238E27FC236}">
                <a16:creationId xmlns:a16="http://schemas.microsoft.com/office/drawing/2014/main" id="{C7F4955A-2927-2A7F-F09E-0AAD319A92DD}"/>
              </a:ext>
            </a:extLst>
          </p:cNvPr>
          <p:cNvSpPr>
            <a:spLocks noGrp="1"/>
          </p:cNvSpPr>
          <p:nvPr>
            <p:ph type="body" sz="quarter" idx="12"/>
          </p:nvPr>
        </p:nvSpPr>
        <p:spPr/>
        <p:txBody>
          <a:bodyPr/>
          <a:lstStyle/>
          <a:p>
            <a:endParaRPr lang="en-AU" dirty="0"/>
          </a:p>
        </p:txBody>
      </p:sp>
      <p:sp>
        <p:nvSpPr>
          <p:cNvPr id="10" name="Text Placeholder 9">
            <a:extLst>
              <a:ext uri="{FF2B5EF4-FFF2-40B4-BE49-F238E27FC236}">
                <a16:creationId xmlns:a16="http://schemas.microsoft.com/office/drawing/2014/main" id="{FA8EA512-8EB5-AB46-84BC-685DB8D2434F}"/>
              </a:ext>
            </a:extLst>
          </p:cNvPr>
          <p:cNvSpPr>
            <a:spLocks noGrp="1"/>
          </p:cNvSpPr>
          <p:nvPr>
            <p:ph type="body" sz="quarter" idx="13"/>
          </p:nvPr>
        </p:nvSpPr>
        <p:spPr/>
        <p:txBody>
          <a:bodyPr/>
          <a:lstStyle/>
          <a:p>
            <a:endParaRPr lang="en-AU" dirty="0"/>
          </a:p>
        </p:txBody>
      </p:sp>
    </p:spTree>
    <p:extLst>
      <p:ext uri="{BB962C8B-B14F-4D97-AF65-F5344CB8AC3E}">
        <p14:creationId xmlns:p14="http://schemas.microsoft.com/office/powerpoint/2010/main" val="1537371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64164-6017-314E-E9A6-4E8428E66285}"/>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EBBDD18-8338-F56C-B291-0A34138D14AE}"/>
              </a:ext>
            </a:extLst>
          </p:cNvPr>
          <p:cNvGraphicFramePr>
            <a:graphicFrameLocks noChangeAspect="1"/>
          </p:cNvGraphicFramePr>
          <p:nvPr>
            <p:custDataLst>
              <p:tags r:id="rId1"/>
            </p:custData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EF0666CC-3DE9-4F3C-EF9E-EF1998525464}"/>
                          </a:ext>
                        </a:extLst>
                      </p:cNvPr>
                      <p:cNvPicPr/>
                      <p:nvPr/>
                    </p:nvPicPr>
                    <p:blipFill>
                      <a:blip r:embed="rId4"/>
                      <a:stretch>
                        <a:fillRect/>
                      </a:stretch>
                    </p:blipFill>
                    <p:spPr>
                      <a:xfrm>
                        <a:off x="1588" y="1589"/>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2A01E0E2-4838-366E-C3E5-92CBC4B34B9C}"/>
              </a:ext>
            </a:extLst>
          </p:cNvPr>
          <p:cNvSpPr>
            <a:spLocks noGrp="1"/>
          </p:cNvSpPr>
          <p:nvPr>
            <p:ph type="sldNum" sz="quarter" idx="10"/>
          </p:nvPr>
        </p:nvSpPr>
        <p:spPr/>
        <p:txBody>
          <a:bodyPr/>
          <a:lstStyle/>
          <a:p>
            <a:fld id="{4F9AC08D-23A9-440E-BCB9-AA1E9877CC38}" type="slidenum">
              <a:rPr lang="en-US" smtClean="0"/>
              <a:pPr/>
              <a:t>2</a:t>
            </a:fld>
            <a:endParaRPr lang="en-US"/>
          </a:p>
        </p:txBody>
      </p:sp>
      <p:sp>
        <p:nvSpPr>
          <p:cNvPr id="2" name="Title 1">
            <a:extLst>
              <a:ext uri="{FF2B5EF4-FFF2-40B4-BE49-F238E27FC236}">
                <a16:creationId xmlns:a16="http://schemas.microsoft.com/office/drawing/2014/main" id="{30A88DD2-9C4C-B9A1-D808-12621E5D562E}"/>
              </a:ext>
            </a:extLst>
          </p:cNvPr>
          <p:cNvSpPr>
            <a:spLocks noGrp="1"/>
          </p:cNvSpPr>
          <p:nvPr>
            <p:ph type="title"/>
          </p:nvPr>
        </p:nvSpPr>
        <p:spPr/>
        <p:txBody>
          <a:bodyPr/>
          <a:lstStyle/>
          <a:p>
            <a:r>
              <a:rPr lang="en-US" dirty="0"/>
              <a:t>Paper summary: Key insights</a:t>
            </a:r>
          </a:p>
        </p:txBody>
      </p:sp>
      <p:sp>
        <p:nvSpPr>
          <p:cNvPr id="5" name="TextBox 4">
            <a:extLst>
              <a:ext uri="{FF2B5EF4-FFF2-40B4-BE49-F238E27FC236}">
                <a16:creationId xmlns:a16="http://schemas.microsoft.com/office/drawing/2014/main" id="{A3DEDBDD-1826-E333-B4B1-1A243A7618FD}"/>
              </a:ext>
            </a:extLst>
          </p:cNvPr>
          <p:cNvSpPr txBox="1"/>
          <p:nvPr/>
        </p:nvSpPr>
        <p:spPr>
          <a:xfrm>
            <a:off x="362218" y="1130288"/>
            <a:ext cx="9681210" cy="646331"/>
          </a:xfrm>
          <a:prstGeom prst="rect">
            <a:avLst/>
          </a:prstGeom>
          <a:noFill/>
        </p:spPr>
        <p:txBody>
          <a:bodyPr wrap="square">
            <a:spAutoFit/>
          </a:bodyPr>
          <a:lstStyle/>
          <a:p>
            <a:r>
              <a:rPr lang="en-AU" i="1" dirty="0"/>
              <a:t>Utilises </a:t>
            </a:r>
            <a:r>
              <a:rPr lang="en-AU" i="1" dirty="0">
                <a:solidFill>
                  <a:srgbClr val="FF0000"/>
                </a:solidFill>
              </a:rPr>
              <a:t>detailed administrative microdata</a:t>
            </a:r>
            <a:r>
              <a:rPr lang="en-AU" i="1" dirty="0"/>
              <a:t> to understand the </a:t>
            </a:r>
            <a:r>
              <a:rPr lang="en-AU" i="1" dirty="0">
                <a:solidFill>
                  <a:srgbClr val="0070C0"/>
                </a:solidFill>
              </a:rPr>
              <a:t>characteristics of housing investors</a:t>
            </a:r>
            <a:r>
              <a:rPr lang="en-AU" i="1" dirty="0"/>
              <a:t>, and how these have </a:t>
            </a:r>
            <a:r>
              <a:rPr lang="en-AU" i="1" dirty="0">
                <a:solidFill>
                  <a:schemeClr val="accent4">
                    <a:lumMod val="75000"/>
                  </a:schemeClr>
                </a:solidFill>
              </a:rPr>
              <a:t>changed over time</a:t>
            </a:r>
            <a:r>
              <a:rPr lang="en-AU" i="1" dirty="0"/>
              <a:t>.</a:t>
            </a:r>
          </a:p>
        </p:txBody>
      </p:sp>
      <p:sp>
        <p:nvSpPr>
          <p:cNvPr id="8" name="TextBox 7">
            <a:extLst>
              <a:ext uri="{FF2B5EF4-FFF2-40B4-BE49-F238E27FC236}">
                <a16:creationId xmlns:a16="http://schemas.microsoft.com/office/drawing/2014/main" id="{EEF200C6-B159-78BE-6055-71D115428ADE}"/>
              </a:ext>
            </a:extLst>
          </p:cNvPr>
          <p:cNvSpPr txBox="1"/>
          <p:nvPr/>
        </p:nvSpPr>
        <p:spPr>
          <a:xfrm>
            <a:off x="370417" y="1941083"/>
            <a:ext cx="10576505" cy="2769989"/>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AU" dirty="0"/>
              <a:t>Investors matter more than they used to (more of the population).</a:t>
            </a:r>
          </a:p>
          <a:p>
            <a:pPr marL="285750" indent="-285750">
              <a:spcAft>
                <a:spcPts val="600"/>
              </a:spcAft>
              <a:buFont typeface="Arial" panose="020B0604020202020204" pitchFamily="34" charset="0"/>
              <a:buChar char="•"/>
            </a:pPr>
            <a:r>
              <a:rPr lang="en-AU" dirty="0"/>
              <a:t>They own (slightly) more properties in a (slightly) more spread out set of regions.</a:t>
            </a:r>
          </a:p>
          <a:p>
            <a:pPr marL="285750" indent="-285750">
              <a:spcAft>
                <a:spcPts val="600"/>
              </a:spcAft>
              <a:buFont typeface="Arial" panose="020B0604020202020204" pitchFamily="34" charset="0"/>
              <a:buChar char="•"/>
            </a:pPr>
            <a:r>
              <a:rPr lang="en-AU" dirty="0"/>
              <a:t>Investors have higher taxable incomes.</a:t>
            </a:r>
          </a:p>
          <a:p>
            <a:pPr marL="285750" indent="-285750">
              <a:spcAft>
                <a:spcPts val="600"/>
              </a:spcAft>
              <a:buFont typeface="Arial" panose="020B0604020202020204" pitchFamily="34" charset="0"/>
              <a:buChar char="•"/>
            </a:pPr>
            <a:r>
              <a:rPr lang="en-AU" dirty="0"/>
              <a:t>The average investor has become older through time.</a:t>
            </a:r>
          </a:p>
          <a:p>
            <a:pPr marL="285750" indent="-285750">
              <a:spcAft>
                <a:spcPts val="600"/>
              </a:spcAft>
              <a:buFont typeface="Arial" panose="020B0604020202020204" pitchFamily="34" charset="0"/>
              <a:buChar char="•"/>
            </a:pPr>
            <a:r>
              <a:rPr lang="en-AU" dirty="0"/>
              <a:t>Negative gearing is popular, and its prevalence depends on underlying interest rates.</a:t>
            </a:r>
          </a:p>
          <a:p>
            <a:pPr marL="285750" indent="-285750">
              <a:spcAft>
                <a:spcPts val="600"/>
              </a:spcAft>
              <a:buFont typeface="Arial" panose="020B0604020202020204" pitchFamily="34" charset="0"/>
              <a:buChar char="•"/>
            </a:pPr>
            <a:r>
              <a:rPr lang="en-AU" dirty="0"/>
              <a:t>Housing investors are more highly leveraged – however, high DTI lending has declined significantly since 2022.</a:t>
            </a:r>
          </a:p>
          <a:p>
            <a:pPr marL="285750" indent="-285750">
              <a:spcAft>
                <a:spcPts val="600"/>
              </a:spcAft>
              <a:buFont typeface="Arial" panose="020B0604020202020204" pitchFamily="34" charset="0"/>
              <a:buChar char="•"/>
            </a:pPr>
            <a:r>
              <a:rPr lang="en-AU" dirty="0"/>
              <a:t>Debt increases with income while DTI declines.</a:t>
            </a:r>
          </a:p>
        </p:txBody>
      </p:sp>
      <p:sp>
        <p:nvSpPr>
          <p:cNvPr id="10" name="TextBox 9">
            <a:extLst>
              <a:ext uri="{FF2B5EF4-FFF2-40B4-BE49-F238E27FC236}">
                <a16:creationId xmlns:a16="http://schemas.microsoft.com/office/drawing/2014/main" id="{64B9B88B-4DFF-F280-F5AC-E60B2D0EE1A0}"/>
              </a:ext>
            </a:extLst>
          </p:cNvPr>
          <p:cNvSpPr txBox="1"/>
          <p:nvPr/>
        </p:nvSpPr>
        <p:spPr>
          <a:xfrm>
            <a:off x="362218" y="4923562"/>
            <a:ext cx="10977288" cy="1354217"/>
          </a:xfrm>
          <a:prstGeom prst="rect">
            <a:avLst/>
          </a:prstGeom>
          <a:noFill/>
        </p:spPr>
        <p:txBody>
          <a:bodyPr wrap="square">
            <a:spAutoFit/>
          </a:bodyPr>
          <a:lstStyle/>
          <a:p>
            <a:pPr>
              <a:spcAft>
                <a:spcPts val="600"/>
              </a:spcAft>
            </a:pPr>
            <a:r>
              <a:rPr lang="en-AU" dirty="0"/>
              <a:t>These stylised facts are then used to describe financial stability risks in housing. Broad stability due to high income and low default risks, but areas where risk may be elevated:</a:t>
            </a:r>
          </a:p>
          <a:p>
            <a:pPr marL="285750" indent="-285750">
              <a:spcAft>
                <a:spcPts val="600"/>
              </a:spcAft>
              <a:buFont typeface="Arial" panose="020B0604020202020204" pitchFamily="34" charset="0"/>
              <a:buChar char="•"/>
            </a:pPr>
            <a:r>
              <a:rPr lang="en-AU" dirty="0"/>
              <a:t>Ageing population reliant on rental income.</a:t>
            </a:r>
          </a:p>
          <a:p>
            <a:pPr marL="285750" indent="-285750">
              <a:spcAft>
                <a:spcPts val="600"/>
              </a:spcAft>
              <a:buFont typeface="Arial" panose="020B0604020202020204" pitchFamily="34" charset="0"/>
              <a:buChar char="•"/>
            </a:pPr>
            <a:r>
              <a:rPr lang="en-AU" dirty="0"/>
              <a:t>Pockets of elevated leverage/high DTIs with low income that are vulnerable to shocks.</a:t>
            </a:r>
          </a:p>
        </p:txBody>
      </p:sp>
    </p:spTree>
    <p:extLst>
      <p:ext uri="{BB962C8B-B14F-4D97-AF65-F5344CB8AC3E}">
        <p14:creationId xmlns:p14="http://schemas.microsoft.com/office/powerpoint/2010/main" val="120725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7EF9E-4B46-BA1C-689C-4290A6CB24C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ABB9CBC-6DA6-9AFC-AFA6-E022FEC7F522}"/>
              </a:ext>
            </a:extLst>
          </p:cNvPr>
          <p:cNvGraphicFramePr>
            <a:graphicFrameLocks noChangeAspect="1"/>
          </p:cNvGraphicFramePr>
          <p:nvPr>
            <p:custDataLst>
              <p:tags r:id="rId1"/>
            </p:custData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2EBBDD18-8338-F56C-B291-0A34138D14AE}"/>
                          </a:ext>
                        </a:extLst>
                      </p:cNvPr>
                      <p:cNvPicPr/>
                      <p:nvPr/>
                    </p:nvPicPr>
                    <p:blipFill>
                      <a:blip r:embed="rId4"/>
                      <a:stretch>
                        <a:fillRect/>
                      </a:stretch>
                    </p:blipFill>
                    <p:spPr>
                      <a:xfrm>
                        <a:off x="1588" y="1589"/>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6D7AAE1D-A72C-B006-0E8F-C1F9BA603272}"/>
              </a:ext>
            </a:extLst>
          </p:cNvPr>
          <p:cNvSpPr>
            <a:spLocks noGrp="1"/>
          </p:cNvSpPr>
          <p:nvPr>
            <p:ph type="sldNum" sz="quarter" idx="10"/>
          </p:nvPr>
        </p:nvSpPr>
        <p:spPr/>
        <p:txBody>
          <a:bodyPr/>
          <a:lstStyle/>
          <a:p>
            <a:fld id="{4F9AC08D-23A9-440E-BCB9-AA1E9877CC38}" type="slidenum">
              <a:rPr lang="en-US" smtClean="0"/>
              <a:pPr/>
              <a:t>3</a:t>
            </a:fld>
            <a:endParaRPr lang="en-US"/>
          </a:p>
        </p:txBody>
      </p:sp>
      <p:sp>
        <p:nvSpPr>
          <p:cNvPr id="2" name="Title 1">
            <a:extLst>
              <a:ext uri="{FF2B5EF4-FFF2-40B4-BE49-F238E27FC236}">
                <a16:creationId xmlns:a16="http://schemas.microsoft.com/office/drawing/2014/main" id="{FE5E485F-54F8-637E-78F3-3193ADF601DF}"/>
              </a:ext>
            </a:extLst>
          </p:cNvPr>
          <p:cNvSpPr>
            <a:spLocks noGrp="1"/>
          </p:cNvSpPr>
          <p:nvPr>
            <p:ph type="title"/>
          </p:nvPr>
        </p:nvSpPr>
        <p:spPr/>
        <p:txBody>
          <a:bodyPr/>
          <a:lstStyle/>
          <a:p>
            <a:r>
              <a:rPr lang="en-US" dirty="0"/>
              <a:t>What questions do these insights inform?</a:t>
            </a:r>
          </a:p>
        </p:txBody>
      </p:sp>
      <p:sp>
        <p:nvSpPr>
          <p:cNvPr id="5" name="TextBox 4">
            <a:extLst>
              <a:ext uri="{FF2B5EF4-FFF2-40B4-BE49-F238E27FC236}">
                <a16:creationId xmlns:a16="http://schemas.microsoft.com/office/drawing/2014/main" id="{506B6AFC-BDD6-D283-7ABD-151874FF4396}"/>
              </a:ext>
            </a:extLst>
          </p:cNvPr>
          <p:cNvSpPr txBox="1"/>
          <p:nvPr/>
        </p:nvSpPr>
        <p:spPr>
          <a:xfrm>
            <a:off x="370417" y="1166613"/>
            <a:ext cx="10903190" cy="646331"/>
          </a:xfrm>
          <a:prstGeom prst="rect">
            <a:avLst/>
          </a:prstGeom>
          <a:noFill/>
        </p:spPr>
        <p:txBody>
          <a:bodyPr wrap="square">
            <a:spAutoFit/>
          </a:bodyPr>
          <a:lstStyle/>
          <a:p>
            <a:r>
              <a:rPr lang="en-AU" dirty="0"/>
              <a:t>The key focus of the piece is on documenting the status of housing investors, to understand financial stability risks. As part of this there is forthcoming work:</a:t>
            </a:r>
          </a:p>
        </p:txBody>
      </p:sp>
      <p:sp>
        <p:nvSpPr>
          <p:cNvPr id="7" name="TextBox 6">
            <a:extLst>
              <a:ext uri="{FF2B5EF4-FFF2-40B4-BE49-F238E27FC236}">
                <a16:creationId xmlns:a16="http://schemas.microsoft.com/office/drawing/2014/main" id="{B4F92E7A-E3D7-2C3C-B26D-E843F15D6282}"/>
              </a:ext>
            </a:extLst>
          </p:cNvPr>
          <p:cNvSpPr txBox="1"/>
          <p:nvPr/>
        </p:nvSpPr>
        <p:spPr>
          <a:xfrm>
            <a:off x="370417" y="3058789"/>
            <a:ext cx="10903190" cy="369332"/>
          </a:xfrm>
          <a:prstGeom prst="rect">
            <a:avLst/>
          </a:prstGeom>
          <a:noFill/>
        </p:spPr>
        <p:txBody>
          <a:bodyPr wrap="square">
            <a:spAutoFit/>
          </a:bodyPr>
          <a:lstStyle/>
          <a:p>
            <a:r>
              <a:rPr lang="en-AU" b="1" dirty="0"/>
              <a:t>What else do these insights inform us about?</a:t>
            </a:r>
          </a:p>
        </p:txBody>
      </p:sp>
      <p:sp>
        <p:nvSpPr>
          <p:cNvPr id="9" name="TextBox 8">
            <a:extLst>
              <a:ext uri="{FF2B5EF4-FFF2-40B4-BE49-F238E27FC236}">
                <a16:creationId xmlns:a16="http://schemas.microsoft.com/office/drawing/2014/main" id="{C1D779D6-6F0A-B27B-7956-E2AF8F885039}"/>
              </a:ext>
            </a:extLst>
          </p:cNvPr>
          <p:cNvSpPr txBox="1"/>
          <p:nvPr/>
        </p:nvSpPr>
        <p:spPr>
          <a:xfrm>
            <a:off x="370417" y="3548375"/>
            <a:ext cx="10903190" cy="646331"/>
          </a:xfrm>
          <a:prstGeom prst="rect">
            <a:avLst/>
          </a:prstGeom>
          <a:noFill/>
        </p:spPr>
        <p:txBody>
          <a:bodyPr wrap="square">
            <a:spAutoFit/>
          </a:bodyPr>
          <a:lstStyle/>
          <a:p>
            <a:pPr marL="285750" indent="-285750">
              <a:buFont typeface="Arial" panose="020B0604020202020204" pitchFamily="34" charset="0"/>
              <a:buChar char="•"/>
            </a:pPr>
            <a:r>
              <a:rPr lang="en-AU" dirty="0"/>
              <a:t>Changes in the intergenerational share of wealth/income through housing (i.e. Varela, Breunig, and Smith [2025]; Siminski and Wilkins [2025]).</a:t>
            </a:r>
          </a:p>
        </p:txBody>
      </p:sp>
      <p:sp>
        <p:nvSpPr>
          <p:cNvPr id="11" name="TextBox 10">
            <a:extLst>
              <a:ext uri="{FF2B5EF4-FFF2-40B4-BE49-F238E27FC236}">
                <a16:creationId xmlns:a16="http://schemas.microsoft.com/office/drawing/2014/main" id="{6577FF5C-C390-D448-08A9-C9E19262B5DB}"/>
              </a:ext>
            </a:extLst>
          </p:cNvPr>
          <p:cNvSpPr txBox="1"/>
          <p:nvPr/>
        </p:nvSpPr>
        <p:spPr>
          <a:xfrm>
            <a:off x="370417" y="4435215"/>
            <a:ext cx="10903190" cy="646331"/>
          </a:xfrm>
          <a:prstGeom prst="rect">
            <a:avLst/>
          </a:prstGeom>
          <a:noFill/>
        </p:spPr>
        <p:txBody>
          <a:bodyPr wrap="square">
            <a:spAutoFit/>
          </a:bodyPr>
          <a:lstStyle/>
          <a:p>
            <a:pPr marL="285750" indent="-285750">
              <a:buFont typeface="Arial" panose="020B0604020202020204" pitchFamily="34" charset="0"/>
              <a:buChar char="•"/>
            </a:pPr>
            <a:r>
              <a:rPr lang="en-AU" dirty="0"/>
              <a:t>The magnitude of negative gearing, and the non-symmetric treatment of gains and expenses in the tax system (i.e. Dwyer and Garvin [2026], Gillitzer [2025]).</a:t>
            </a:r>
          </a:p>
        </p:txBody>
      </p:sp>
      <p:sp>
        <p:nvSpPr>
          <p:cNvPr id="13" name="TextBox 12">
            <a:extLst>
              <a:ext uri="{FF2B5EF4-FFF2-40B4-BE49-F238E27FC236}">
                <a16:creationId xmlns:a16="http://schemas.microsoft.com/office/drawing/2014/main" id="{353A2ABF-478F-0AAB-6BD4-7E17F856F143}"/>
              </a:ext>
            </a:extLst>
          </p:cNvPr>
          <p:cNvSpPr txBox="1"/>
          <p:nvPr/>
        </p:nvSpPr>
        <p:spPr>
          <a:xfrm>
            <a:off x="370417" y="5322055"/>
            <a:ext cx="10903190" cy="646331"/>
          </a:xfrm>
          <a:prstGeom prst="rect">
            <a:avLst/>
          </a:prstGeom>
          <a:noFill/>
        </p:spPr>
        <p:txBody>
          <a:bodyPr wrap="square">
            <a:spAutoFit/>
          </a:bodyPr>
          <a:lstStyle/>
          <a:p>
            <a:pPr marL="285750" indent="-285750">
              <a:buFont typeface="Arial" panose="020B0604020202020204" pitchFamily="34" charset="0"/>
              <a:buChar char="•"/>
            </a:pPr>
            <a:r>
              <a:rPr lang="en-AU" dirty="0"/>
              <a:t>How binding are macroprudential regulation (i.e. February introduction of DTI limits for the majority of new residential mortgage lending).</a:t>
            </a:r>
          </a:p>
        </p:txBody>
      </p:sp>
      <p:sp>
        <p:nvSpPr>
          <p:cNvPr id="15" name="TextBox 14">
            <a:extLst>
              <a:ext uri="{FF2B5EF4-FFF2-40B4-BE49-F238E27FC236}">
                <a16:creationId xmlns:a16="http://schemas.microsoft.com/office/drawing/2014/main" id="{CBD21E47-0932-7DD9-62A2-EC9A48D168A9}"/>
              </a:ext>
            </a:extLst>
          </p:cNvPr>
          <p:cNvSpPr txBox="1"/>
          <p:nvPr/>
        </p:nvSpPr>
        <p:spPr>
          <a:xfrm>
            <a:off x="370417" y="1915554"/>
            <a:ext cx="10903190" cy="723275"/>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AU" dirty="0"/>
              <a:t>Simulating responses to adverse shocks.</a:t>
            </a:r>
          </a:p>
          <a:p>
            <a:pPr marL="285750" indent="-285750">
              <a:spcAft>
                <a:spcPts val="600"/>
              </a:spcAft>
              <a:buFont typeface="Arial" panose="020B0604020202020204" pitchFamily="34" charset="0"/>
              <a:buChar char="•"/>
            </a:pPr>
            <a:r>
              <a:rPr lang="en-AU" dirty="0"/>
              <a:t>Likely, more richly describing the joint distribution of factors.</a:t>
            </a:r>
          </a:p>
        </p:txBody>
      </p:sp>
      <p:sp>
        <p:nvSpPr>
          <p:cNvPr id="17" name="TextBox 16">
            <a:extLst>
              <a:ext uri="{FF2B5EF4-FFF2-40B4-BE49-F238E27FC236}">
                <a16:creationId xmlns:a16="http://schemas.microsoft.com/office/drawing/2014/main" id="{F9508489-CE8B-56BC-4AE2-0AE8E90FDD66}"/>
              </a:ext>
            </a:extLst>
          </p:cNvPr>
          <p:cNvSpPr txBox="1"/>
          <p:nvPr/>
        </p:nvSpPr>
        <p:spPr>
          <a:xfrm>
            <a:off x="370417" y="6077840"/>
            <a:ext cx="10903190" cy="369332"/>
          </a:xfrm>
          <a:prstGeom prst="rect">
            <a:avLst/>
          </a:prstGeom>
          <a:noFill/>
        </p:spPr>
        <p:txBody>
          <a:bodyPr wrap="square">
            <a:spAutoFit/>
          </a:bodyPr>
          <a:lstStyle/>
          <a:p>
            <a:r>
              <a:rPr lang="en-AU" dirty="0"/>
              <a:t>Using the evidence in this way requires care.</a:t>
            </a:r>
          </a:p>
        </p:txBody>
      </p:sp>
    </p:spTree>
    <p:extLst>
      <p:ext uri="{BB962C8B-B14F-4D97-AF65-F5344CB8AC3E}">
        <p14:creationId xmlns:p14="http://schemas.microsoft.com/office/powerpoint/2010/main" val="422877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E36CF-84D4-AF67-BBD0-0E1A0D6EE694}"/>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9B37E3C-DC45-B942-68FB-F97B14A17D62}"/>
              </a:ext>
            </a:extLst>
          </p:cNvPr>
          <p:cNvGraphicFramePr>
            <a:graphicFrameLocks noChangeAspect="1"/>
          </p:cNvGraphicFramePr>
          <p:nvPr>
            <p:custDataLst>
              <p:tags r:id="rId1"/>
            </p:custData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261234B0-5267-CF16-FDC5-9DD62AE7C88A}"/>
                          </a:ext>
                        </a:extLst>
                      </p:cNvPr>
                      <p:cNvPicPr/>
                      <p:nvPr/>
                    </p:nvPicPr>
                    <p:blipFill>
                      <a:blip r:embed="rId4"/>
                      <a:stretch>
                        <a:fillRect/>
                      </a:stretch>
                    </p:blipFill>
                    <p:spPr>
                      <a:xfrm>
                        <a:off x="1588" y="1589"/>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A638FBE-3499-FB0E-701F-C5D7AFD429F5}"/>
              </a:ext>
            </a:extLst>
          </p:cNvPr>
          <p:cNvSpPr>
            <a:spLocks noGrp="1"/>
          </p:cNvSpPr>
          <p:nvPr>
            <p:ph type="sldNum" sz="quarter" idx="10"/>
          </p:nvPr>
        </p:nvSpPr>
        <p:spPr/>
        <p:txBody>
          <a:bodyPr/>
          <a:lstStyle/>
          <a:p>
            <a:fld id="{4F9AC08D-23A9-440E-BCB9-AA1E9877CC38}" type="slidenum">
              <a:rPr lang="en-US" smtClean="0"/>
              <a:pPr/>
              <a:t>4</a:t>
            </a:fld>
            <a:endParaRPr lang="en-US"/>
          </a:p>
        </p:txBody>
      </p:sp>
      <p:sp>
        <p:nvSpPr>
          <p:cNvPr id="2" name="Title 1">
            <a:extLst>
              <a:ext uri="{FF2B5EF4-FFF2-40B4-BE49-F238E27FC236}">
                <a16:creationId xmlns:a16="http://schemas.microsoft.com/office/drawing/2014/main" id="{E9747464-9493-21D7-B566-225D46518A36}"/>
              </a:ext>
            </a:extLst>
          </p:cNvPr>
          <p:cNvSpPr>
            <a:spLocks noGrp="1"/>
          </p:cNvSpPr>
          <p:nvPr>
            <p:ph type="title"/>
          </p:nvPr>
        </p:nvSpPr>
        <p:spPr/>
        <p:txBody>
          <a:bodyPr/>
          <a:lstStyle/>
          <a:p>
            <a:r>
              <a:rPr lang="en-US" dirty="0"/>
              <a:t>Intergenerational equity and housing investors</a:t>
            </a:r>
          </a:p>
        </p:txBody>
      </p:sp>
      <p:pic>
        <p:nvPicPr>
          <p:cNvPr id="3" name="Graphic 2" descr="Grouped bar chart showing the share of investors by age group in 2000, 2010 and 2023. The chart shows that the investor population has aged over time, with the share of older investors increasing while the share of nearly all younger age groups has declined since 2000.">
            <a:extLst>
              <a:ext uri="{FF2B5EF4-FFF2-40B4-BE49-F238E27FC236}">
                <a16:creationId xmlns:a16="http://schemas.microsoft.com/office/drawing/2014/main" id="{704E1A9A-9A7A-69B6-98F6-747F39B18D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9152" y="1588770"/>
            <a:ext cx="4441487" cy="4065946"/>
          </a:xfrm>
          <a:prstGeom prst="rect">
            <a:avLst/>
          </a:prstGeom>
        </p:spPr>
      </p:pic>
      <p:cxnSp>
        <p:nvCxnSpPr>
          <p:cNvPr id="8" name="Straight Arrow Connector 7">
            <a:extLst>
              <a:ext uri="{FF2B5EF4-FFF2-40B4-BE49-F238E27FC236}">
                <a16:creationId xmlns:a16="http://schemas.microsoft.com/office/drawing/2014/main" id="{29AC8322-DAE1-0181-2742-4BBAEB42327A}"/>
              </a:ext>
            </a:extLst>
          </p:cNvPr>
          <p:cNvCxnSpPr/>
          <p:nvPr/>
        </p:nvCxnSpPr>
        <p:spPr>
          <a:xfrm>
            <a:off x="5641848" y="1588770"/>
            <a:ext cx="877824" cy="0"/>
          </a:xfrm>
          <a:prstGeom prst="straightConnector1">
            <a:avLst/>
          </a:prstGeom>
          <a:ln w="57150">
            <a:solidFill>
              <a:schemeClr val="tx1"/>
            </a:solidFill>
            <a:prstDash val="soli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A1B5BB6-D1F1-9BCC-1A66-51FE3CAC7150}"/>
              </a:ext>
            </a:extLst>
          </p:cNvPr>
          <p:cNvSpPr txBox="1"/>
          <p:nvPr/>
        </p:nvSpPr>
        <p:spPr>
          <a:xfrm>
            <a:off x="6647688" y="1404104"/>
            <a:ext cx="3126625" cy="369332"/>
          </a:xfrm>
          <a:prstGeom prst="rect">
            <a:avLst/>
          </a:prstGeom>
          <a:noFill/>
        </p:spPr>
        <p:txBody>
          <a:bodyPr wrap="none" rtlCol="0">
            <a:spAutoFit/>
          </a:bodyPr>
          <a:lstStyle/>
          <a:p>
            <a:r>
              <a:rPr lang="en-AU" dirty="0"/>
              <a:t>How many people are there?</a:t>
            </a:r>
          </a:p>
        </p:txBody>
      </p:sp>
      <p:cxnSp>
        <p:nvCxnSpPr>
          <p:cNvPr id="10" name="Straight Arrow Connector 9">
            <a:extLst>
              <a:ext uri="{FF2B5EF4-FFF2-40B4-BE49-F238E27FC236}">
                <a16:creationId xmlns:a16="http://schemas.microsoft.com/office/drawing/2014/main" id="{83F2E26E-CDC5-7613-4DF0-0FC1F075092F}"/>
              </a:ext>
            </a:extLst>
          </p:cNvPr>
          <p:cNvCxnSpPr/>
          <p:nvPr/>
        </p:nvCxnSpPr>
        <p:spPr>
          <a:xfrm>
            <a:off x="5641848" y="2265769"/>
            <a:ext cx="877824" cy="0"/>
          </a:xfrm>
          <a:prstGeom prst="straightConnector1">
            <a:avLst/>
          </a:prstGeom>
          <a:ln w="57150">
            <a:solidFill>
              <a:schemeClr val="tx1"/>
            </a:solidFill>
            <a:prstDash val="soli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8A2D1F2-F5E6-A6AE-C91E-DB07075C37AA}"/>
              </a:ext>
            </a:extLst>
          </p:cNvPr>
          <p:cNvSpPr txBox="1"/>
          <p:nvPr/>
        </p:nvSpPr>
        <p:spPr>
          <a:xfrm>
            <a:off x="6647688" y="1963940"/>
            <a:ext cx="4718303" cy="646331"/>
          </a:xfrm>
          <a:prstGeom prst="rect">
            <a:avLst/>
          </a:prstGeom>
          <a:noFill/>
        </p:spPr>
        <p:txBody>
          <a:bodyPr wrap="square" rtlCol="0">
            <a:spAutoFit/>
          </a:bodyPr>
          <a:lstStyle/>
          <a:p>
            <a:r>
              <a:rPr lang="en-AU" dirty="0"/>
              <a:t>How as life expectancy, interest rates, changed the “need” to save?</a:t>
            </a:r>
          </a:p>
        </p:txBody>
      </p:sp>
      <p:pic>
        <p:nvPicPr>
          <p:cNvPr id="13" name="Picture 12">
            <a:extLst>
              <a:ext uri="{FF2B5EF4-FFF2-40B4-BE49-F238E27FC236}">
                <a16:creationId xmlns:a16="http://schemas.microsoft.com/office/drawing/2014/main" id="{F05D41E7-EA4B-3814-D89D-AE7029CC955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5802" y="2829562"/>
            <a:ext cx="5151120" cy="3571444"/>
          </a:xfrm>
          <a:prstGeom prst="rect">
            <a:avLst/>
          </a:prstGeom>
        </p:spPr>
      </p:pic>
    </p:spTree>
    <p:extLst>
      <p:ext uri="{BB962C8B-B14F-4D97-AF65-F5344CB8AC3E}">
        <p14:creationId xmlns:p14="http://schemas.microsoft.com/office/powerpoint/2010/main" val="258486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F8E5-41A0-3ABC-4DD8-30E2C15D971C}"/>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4E3CD6D-7C03-04E5-3F28-BE6DFCDE0195}"/>
              </a:ext>
            </a:extLst>
          </p:cNvPr>
          <p:cNvGraphicFramePr>
            <a:graphicFrameLocks noChangeAspect="1"/>
          </p:cNvGraphicFramePr>
          <p:nvPr>
            <p:custDataLst>
              <p:tags r:id="rId1"/>
            </p:custData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1450181C-6C9A-9739-99CF-AD4C5359FD16}"/>
                          </a:ext>
                        </a:extLst>
                      </p:cNvPr>
                      <p:cNvPicPr/>
                      <p:nvPr/>
                    </p:nvPicPr>
                    <p:blipFill>
                      <a:blip r:embed="rId4"/>
                      <a:stretch>
                        <a:fillRect/>
                      </a:stretch>
                    </p:blipFill>
                    <p:spPr>
                      <a:xfrm>
                        <a:off x="1588" y="1589"/>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9CF04FF-A3DC-C476-30D3-4B2F61B5F230}"/>
              </a:ext>
            </a:extLst>
          </p:cNvPr>
          <p:cNvSpPr>
            <a:spLocks noGrp="1"/>
          </p:cNvSpPr>
          <p:nvPr>
            <p:ph type="sldNum" sz="quarter" idx="10"/>
          </p:nvPr>
        </p:nvSpPr>
        <p:spPr/>
        <p:txBody>
          <a:bodyPr/>
          <a:lstStyle/>
          <a:p>
            <a:fld id="{4F9AC08D-23A9-440E-BCB9-AA1E9877CC38}" type="slidenum">
              <a:rPr lang="en-US" smtClean="0"/>
              <a:pPr/>
              <a:t>5</a:t>
            </a:fld>
            <a:endParaRPr lang="en-US"/>
          </a:p>
        </p:txBody>
      </p:sp>
      <p:sp>
        <p:nvSpPr>
          <p:cNvPr id="2" name="Title 1">
            <a:extLst>
              <a:ext uri="{FF2B5EF4-FFF2-40B4-BE49-F238E27FC236}">
                <a16:creationId xmlns:a16="http://schemas.microsoft.com/office/drawing/2014/main" id="{82ADFC11-A675-538F-94FC-CFF9CF7602A4}"/>
              </a:ext>
            </a:extLst>
          </p:cNvPr>
          <p:cNvSpPr>
            <a:spLocks noGrp="1"/>
          </p:cNvSpPr>
          <p:nvPr>
            <p:ph type="title"/>
          </p:nvPr>
        </p:nvSpPr>
        <p:spPr/>
        <p:txBody>
          <a:bodyPr/>
          <a:lstStyle/>
          <a:p>
            <a:r>
              <a:rPr lang="en-US" dirty="0"/>
              <a:t>Insights for negative gearing debates</a:t>
            </a:r>
          </a:p>
        </p:txBody>
      </p:sp>
      <p:sp>
        <p:nvSpPr>
          <p:cNvPr id="5" name="TextBox 4">
            <a:extLst>
              <a:ext uri="{FF2B5EF4-FFF2-40B4-BE49-F238E27FC236}">
                <a16:creationId xmlns:a16="http://schemas.microsoft.com/office/drawing/2014/main" id="{E24D9085-C177-7FE5-9156-4D6E07F778D0}"/>
              </a:ext>
            </a:extLst>
          </p:cNvPr>
          <p:cNvSpPr txBox="1"/>
          <p:nvPr/>
        </p:nvSpPr>
        <p:spPr>
          <a:xfrm>
            <a:off x="370416" y="1166613"/>
            <a:ext cx="9514247" cy="646331"/>
          </a:xfrm>
          <a:prstGeom prst="rect">
            <a:avLst/>
          </a:prstGeom>
          <a:noFill/>
        </p:spPr>
        <p:txBody>
          <a:bodyPr wrap="square">
            <a:spAutoFit/>
          </a:bodyPr>
          <a:lstStyle/>
          <a:p>
            <a:r>
              <a:rPr lang="en-AU" dirty="0"/>
              <a:t>There are three detailed pieces discussing negative gearing today – so I will leave this mostly to the experts.</a:t>
            </a:r>
          </a:p>
        </p:txBody>
      </p:sp>
      <p:pic>
        <p:nvPicPr>
          <p:cNvPr id="3" name="Graphic 2" descr="Line chart showing the share of property investors who are leveraged and the share who are negatively geared from 2000 to 2023. The chart shows that the share of leveraged investors has remained relatively stable over time. Negative gearing has fluctuated, rising prior to the global financial crisis, declining over the following decade, and increasing again in more recent years.">
            <a:extLst>
              <a:ext uri="{FF2B5EF4-FFF2-40B4-BE49-F238E27FC236}">
                <a16:creationId xmlns:a16="http://schemas.microsoft.com/office/drawing/2014/main" id="{FBD05EEB-3987-D1CC-0CFF-C45C68AE0F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5457" y="2100834"/>
            <a:ext cx="4147750" cy="3797046"/>
          </a:xfrm>
          <a:prstGeom prst="rect">
            <a:avLst/>
          </a:prstGeom>
        </p:spPr>
      </p:pic>
      <p:cxnSp>
        <p:nvCxnSpPr>
          <p:cNvPr id="7" name="Straight Arrow Connector 6">
            <a:extLst>
              <a:ext uri="{FF2B5EF4-FFF2-40B4-BE49-F238E27FC236}">
                <a16:creationId xmlns:a16="http://schemas.microsoft.com/office/drawing/2014/main" id="{A9E6817A-85A6-D4B1-3090-EA4EF10C701B}"/>
              </a:ext>
            </a:extLst>
          </p:cNvPr>
          <p:cNvCxnSpPr/>
          <p:nvPr/>
        </p:nvCxnSpPr>
        <p:spPr>
          <a:xfrm>
            <a:off x="5522976" y="1994459"/>
            <a:ext cx="877824" cy="0"/>
          </a:xfrm>
          <a:prstGeom prst="straightConnector1">
            <a:avLst/>
          </a:prstGeom>
          <a:ln w="57150">
            <a:solidFill>
              <a:schemeClr val="tx1"/>
            </a:solidFill>
            <a:prstDash val="soli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27336AA-5AC8-221D-D042-DFB5BBC9885C}"/>
              </a:ext>
            </a:extLst>
          </p:cNvPr>
          <p:cNvSpPr txBox="1"/>
          <p:nvPr/>
        </p:nvSpPr>
        <p:spPr>
          <a:xfrm>
            <a:off x="6528816" y="1809793"/>
            <a:ext cx="5216749" cy="369332"/>
          </a:xfrm>
          <a:prstGeom prst="rect">
            <a:avLst/>
          </a:prstGeom>
          <a:noFill/>
        </p:spPr>
        <p:txBody>
          <a:bodyPr wrap="none" rtlCol="0">
            <a:spAutoFit/>
          </a:bodyPr>
          <a:lstStyle/>
          <a:p>
            <a:r>
              <a:rPr lang="en-AU" dirty="0"/>
              <a:t>Negative gearing pattern driven by interest rates.</a:t>
            </a:r>
          </a:p>
        </p:txBody>
      </p:sp>
      <p:cxnSp>
        <p:nvCxnSpPr>
          <p:cNvPr id="9" name="Straight Arrow Connector 8">
            <a:extLst>
              <a:ext uri="{FF2B5EF4-FFF2-40B4-BE49-F238E27FC236}">
                <a16:creationId xmlns:a16="http://schemas.microsoft.com/office/drawing/2014/main" id="{DE98E617-977E-DBF9-0507-D7681222204F}"/>
              </a:ext>
            </a:extLst>
          </p:cNvPr>
          <p:cNvCxnSpPr/>
          <p:nvPr/>
        </p:nvCxnSpPr>
        <p:spPr>
          <a:xfrm>
            <a:off x="5522976" y="3222197"/>
            <a:ext cx="877824" cy="0"/>
          </a:xfrm>
          <a:prstGeom prst="straightConnector1">
            <a:avLst/>
          </a:prstGeom>
          <a:ln w="57150">
            <a:solidFill>
              <a:schemeClr val="tx1"/>
            </a:solidFill>
            <a:prstDash val="soli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EE866E8-A0A5-B02F-96DE-20CDD887646F}"/>
              </a:ext>
            </a:extLst>
          </p:cNvPr>
          <p:cNvSpPr txBox="1"/>
          <p:nvPr/>
        </p:nvSpPr>
        <p:spPr>
          <a:xfrm>
            <a:off x="6528816" y="2993090"/>
            <a:ext cx="4718303" cy="646331"/>
          </a:xfrm>
          <a:prstGeom prst="rect">
            <a:avLst/>
          </a:prstGeom>
          <a:noFill/>
        </p:spPr>
        <p:txBody>
          <a:bodyPr wrap="square" rtlCol="0">
            <a:spAutoFit/>
          </a:bodyPr>
          <a:lstStyle/>
          <a:p>
            <a:r>
              <a:rPr lang="en-AU" dirty="0"/>
              <a:t>End-point of data near the “low” of outstanding fixed-rate loans.</a:t>
            </a:r>
          </a:p>
        </p:txBody>
      </p:sp>
      <p:sp>
        <p:nvSpPr>
          <p:cNvPr id="12" name="TextBox 11">
            <a:extLst>
              <a:ext uri="{FF2B5EF4-FFF2-40B4-BE49-F238E27FC236}">
                <a16:creationId xmlns:a16="http://schemas.microsoft.com/office/drawing/2014/main" id="{F71D770B-E317-3333-22A7-4BA318F08EB3}"/>
              </a:ext>
            </a:extLst>
          </p:cNvPr>
          <p:cNvSpPr txBox="1"/>
          <p:nvPr/>
        </p:nvSpPr>
        <p:spPr>
          <a:xfrm>
            <a:off x="5319519" y="3940211"/>
            <a:ext cx="6188879" cy="923330"/>
          </a:xfrm>
          <a:prstGeom prst="rect">
            <a:avLst/>
          </a:prstGeom>
          <a:noFill/>
        </p:spPr>
        <p:txBody>
          <a:bodyPr wrap="square">
            <a:spAutoFit/>
          </a:bodyPr>
          <a:lstStyle/>
          <a:p>
            <a:r>
              <a:rPr lang="en-AU" dirty="0"/>
              <a:t>Irrespective of behaviour, this suggests that any deferral of deduction bites more in a higher interest rate/inflation environment.</a:t>
            </a:r>
          </a:p>
        </p:txBody>
      </p:sp>
      <p:cxnSp>
        <p:nvCxnSpPr>
          <p:cNvPr id="13" name="Straight Arrow Connector 12">
            <a:extLst>
              <a:ext uri="{FF2B5EF4-FFF2-40B4-BE49-F238E27FC236}">
                <a16:creationId xmlns:a16="http://schemas.microsoft.com/office/drawing/2014/main" id="{39748DD6-D5C5-296E-C00C-49A085F0B3E8}"/>
              </a:ext>
            </a:extLst>
          </p:cNvPr>
          <p:cNvCxnSpPr/>
          <p:nvPr/>
        </p:nvCxnSpPr>
        <p:spPr>
          <a:xfrm>
            <a:off x="5522976" y="2662147"/>
            <a:ext cx="877824" cy="0"/>
          </a:xfrm>
          <a:prstGeom prst="straightConnector1">
            <a:avLst/>
          </a:prstGeom>
          <a:ln w="57150">
            <a:solidFill>
              <a:schemeClr val="tx1"/>
            </a:solidFill>
            <a:prstDash val="soli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0C4E0BF-2709-1E23-F3F0-0144D0CA377A}"/>
              </a:ext>
            </a:extLst>
          </p:cNvPr>
          <p:cNvSpPr txBox="1"/>
          <p:nvPr/>
        </p:nvSpPr>
        <p:spPr>
          <a:xfrm>
            <a:off x="6528816" y="2477481"/>
            <a:ext cx="2089290" cy="369332"/>
          </a:xfrm>
          <a:prstGeom prst="rect">
            <a:avLst/>
          </a:prstGeom>
          <a:noFill/>
        </p:spPr>
        <p:txBody>
          <a:bodyPr wrap="none" rtlCol="0">
            <a:spAutoFit/>
          </a:bodyPr>
          <a:lstStyle/>
          <a:p>
            <a:r>
              <a:rPr lang="en-AU" dirty="0"/>
              <a:t>COVID level shift?</a:t>
            </a:r>
          </a:p>
        </p:txBody>
      </p:sp>
      <p:cxnSp>
        <p:nvCxnSpPr>
          <p:cNvPr id="15" name="Straight Arrow Connector 14">
            <a:extLst>
              <a:ext uri="{FF2B5EF4-FFF2-40B4-BE49-F238E27FC236}">
                <a16:creationId xmlns:a16="http://schemas.microsoft.com/office/drawing/2014/main" id="{D1F597C6-CB1F-6B77-2714-64B430CE2977}"/>
              </a:ext>
            </a:extLst>
          </p:cNvPr>
          <p:cNvCxnSpPr/>
          <p:nvPr/>
        </p:nvCxnSpPr>
        <p:spPr>
          <a:xfrm>
            <a:off x="5522976" y="5766688"/>
            <a:ext cx="877824" cy="0"/>
          </a:xfrm>
          <a:prstGeom prst="straightConnector1">
            <a:avLst/>
          </a:prstGeom>
          <a:ln w="57150">
            <a:solidFill>
              <a:schemeClr val="tx1"/>
            </a:solidFill>
            <a:prstDash val="soli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BCBCAA1-7B19-F12B-644E-BE9C5816E23C}"/>
              </a:ext>
            </a:extLst>
          </p:cNvPr>
          <p:cNvSpPr txBox="1"/>
          <p:nvPr/>
        </p:nvSpPr>
        <p:spPr>
          <a:xfrm>
            <a:off x="6509357" y="5028024"/>
            <a:ext cx="4718303" cy="1477328"/>
          </a:xfrm>
          <a:prstGeom prst="rect">
            <a:avLst/>
          </a:prstGeom>
          <a:noFill/>
        </p:spPr>
        <p:txBody>
          <a:bodyPr wrap="square" rtlCol="0">
            <a:spAutoFit/>
          </a:bodyPr>
          <a:lstStyle/>
          <a:p>
            <a:r>
              <a:rPr lang="en-AU" dirty="0"/>
              <a:t>Key concerns are:</a:t>
            </a:r>
          </a:p>
          <a:p>
            <a:pPr marL="342900" indent="-342900">
              <a:buFont typeface="+mj-lt"/>
              <a:buAutoNum type="arabicPeriod"/>
            </a:pPr>
            <a:r>
              <a:rPr lang="en-AU" dirty="0"/>
              <a:t>Inconsistent treatment of debt and equity financing.</a:t>
            </a:r>
          </a:p>
          <a:p>
            <a:pPr marL="342900" indent="-342900">
              <a:buFont typeface="+mj-lt"/>
              <a:buAutoNum type="arabicPeriod"/>
            </a:pPr>
            <a:r>
              <a:rPr lang="en-AU" dirty="0"/>
              <a:t>Inconsistent taxation of different asset classes.</a:t>
            </a:r>
          </a:p>
        </p:txBody>
      </p:sp>
    </p:spTree>
    <p:extLst>
      <p:ext uri="{BB962C8B-B14F-4D97-AF65-F5344CB8AC3E}">
        <p14:creationId xmlns:p14="http://schemas.microsoft.com/office/powerpoint/2010/main" val="97959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2D194-6FC4-F6C2-6304-FC462B0FCC6A}"/>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450181C-6C9A-9739-99CF-AD4C5359FD16}"/>
              </a:ext>
            </a:extLst>
          </p:cNvPr>
          <p:cNvGraphicFramePr>
            <a:graphicFrameLocks noChangeAspect="1"/>
          </p:cNvGraphicFramePr>
          <p:nvPr>
            <p:custDataLst>
              <p:tags r:id="rId1"/>
            </p:custData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1ABB9CBC-6DA6-9AFC-AFA6-E022FEC7F522}"/>
                          </a:ext>
                        </a:extLst>
                      </p:cNvPr>
                      <p:cNvPicPr/>
                      <p:nvPr/>
                    </p:nvPicPr>
                    <p:blipFill>
                      <a:blip r:embed="rId4"/>
                      <a:stretch>
                        <a:fillRect/>
                      </a:stretch>
                    </p:blipFill>
                    <p:spPr>
                      <a:xfrm>
                        <a:off x="1588" y="1589"/>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76CFAFAB-7D37-A92C-247B-126FAD1DACB9}"/>
              </a:ext>
            </a:extLst>
          </p:cNvPr>
          <p:cNvSpPr>
            <a:spLocks noGrp="1"/>
          </p:cNvSpPr>
          <p:nvPr>
            <p:ph type="sldNum" sz="quarter" idx="10"/>
          </p:nvPr>
        </p:nvSpPr>
        <p:spPr/>
        <p:txBody>
          <a:bodyPr/>
          <a:lstStyle/>
          <a:p>
            <a:fld id="{4F9AC08D-23A9-440E-BCB9-AA1E9877CC38}" type="slidenum">
              <a:rPr lang="en-US" smtClean="0"/>
              <a:pPr/>
              <a:t>6</a:t>
            </a:fld>
            <a:endParaRPr lang="en-US"/>
          </a:p>
        </p:txBody>
      </p:sp>
      <p:sp>
        <p:nvSpPr>
          <p:cNvPr id="2" name="Title 1">
            <a:extLst>
              <a:ext uri="{FF2B5EF4-FFF2-40B4-BE49-F238E27FC236}">
                <a16:creationId xmlns:a16="http://schemas.microsoft.com/office/drawing/2014/main" id="{E437A670-36AA-CC09-B296-4C4B661C527F}"/>
              </a:ext>
            </a:extLst>
          </p:cNvPr>
          <p:cNvSpPr>
            <a:spLocks noGrp="1"/>
          </p:cNvSpPr>
          <p:nvPr>
            <p:ph type="title"/>
          </p:nvPr>
        </p:nvSpPr>
        <p:spPr/>
        <p:txBody>
          <a:bodyPr/>
          <a:lstStyle/>
          <a:p>
            <a:r>
              <a:rPr lang="en-US" dirty="0"/>
              <a:t>How do these insights relate to policy?</a:t>
            </a:r>
          </a:p>
        </p:txBody>
      </p:sp>
      <p:sp>
        <p:nvSpPr>
          <p:cNvPr id="5" name="TextBox 4">
            <a:extLst>
              <a:ext uri="{FF2B5EF4-FFF2-40B4-BE49-F238E27FC236}">
                <a16:creationId xmlns:a16="http://schemas.microsoft.com/office/drawing/2014/main" id="{B64BD812-C79A-FCEC-2246-F4850105B375}"/>
              </a:ext>
            </a:extLst>
          </p:cNvPr>
          <p:cNvSpPr txBox="1"/>
          <p:nvPr/>
        </p:nvSpPr>
        <p:spPr>
          <a:xfrm>
            <a:off x="370417" y="1280818"/>
            <a:ext cx="9285648" cy="646331"/>
          </a:xfrm>
          <a:prstGeom prst="rect">
            <a:avLst/>
          </a:prstGeom>
          <a:noFill/>
        </p:spPr>
        <p:txBody>
          <a:bodyPr wrap="square">
            <a:spAutoFit/>
          </a:bodyPr>
          <a:lstStyle/>
          <a:p>
            <a:r>
              <a:rPr lang="en-AU" dirty="0"/>
              <a:t>Combining various sources of administrative microdata provides a richer understanding of housing investors in Australia.</a:t>
            </a:r>
          </a:p>
        </p:txBody>
      </p:sp>
      <p:sp>
        <p:nvSpPr>
          <p:cNvPr id="7" name="TextBox 6">
            <a:extLst>
              <a:ext uri="{FF2B5EF4-FFF2-40B4-BE49-F238E27FC236}">
                <a16:creationId xmlns:a16="http://schemas.microsoft.com/office/drawing/2014/main" id="{68280E8E-7695-7D38-2AE8-8FECE61A5821}"/>
              </a:ext>
            </a:extLst>
          </p:cNvPr>
          <p:cNvSpPr txBox="1"/>
          <p:nvPr/>
        </p:nvSpPr>
        <p:spPr>
          <a:xfrm>
            <a:off x="370417" y="1981415"/>
            <a:ext cx="9285648" cy="923330"/>
          </a:xfrm>
          <a:prstGeom prst="rect">
            <a:avLst/>
          </a:prstGeom>
          <a:noFill/>
        </p:spPr>
        <p:txBody>
          <a:bodyPr wrap="square">
            <a:spAutoFit/>
          </a:bodyPr>
          <a:lstStyle/>
          <a:p>
            <a:pPr marL="285750" indent="-285750">
              <a:buFont typeface="Arial" panose="020B0604020202020204" pitchFamily="34" charset="0"/>
              <a:buChar char="•"/>
            </a:pPr>
            <a:r>
              <a:rPr lang="en-AU" dirty="0"/>
              <a:t>When combined with simulation/stress testing of households in the face of varying shocks, this heterogeneity helps the RBA, APRA, and other government agencies plan against future economic shocks.</a:t>
            </a:r>
          </a:p>
        </p:txBody>
      </p:sp>
      <p:sp>
        <p:nvSpPr>
          <p:cNvPr id="9" name="TextBox 8">
            <a:extLst>
              <a:ext uri="{FF2B5EF4-FFF2-40B4-BE49-F238E27FC236}">
                <a16:creationId xmlns:a16="http://schemas.microsoft.com/office/drawing/2014/main" id="{EA44309A-642A-1802-CE7E-B489A38AA0BC}"/>
              </a:ext>
            </a:extLst>
          </p:cNvPr>
          <p:cNvSpPr txBox="1"/>
          <p:nvPr/>
        </p:nvSpPr>
        <p:spPr>
          <a:xfrm>
            <a:off x="370417" y="3194580"/>
            <a:ext cx="9285648" cy="646331"/>
          </a:xfrm>
          <a:prstGeom prst="rect">
            <a:avLst/>
          </a:prstGeom>
          <a:noFill/>
        </p:spPr>
        <p:txBody>
          <a:bodyPr wrap="square">
            <a:spAutoFit/>
          </a:bodyPr>
          <a:lstStyle/>
          <a:p>
            <a:r>
              <a:rPr lang="en-AU" dirty="0"/>
              <a:t>However, using these insights to inform broader housing questions should be done with care.</a:t>
            </a:r>
          </a:p>
        </p:txBody>
      </p:sp>
      <p:sp>
        <p:nvSpPr>
          <p:cNvPr id="11" name="TextBox 10">
            <a:extLst>
              <a:ext uri="{FF2B5EF4-FFF2-40B4-BE49-F238E27FC236}">
                <a16:creationId xmlns:a16="http://schemas.microsoft.com/office/drawing/2014/main" id="{20CF2222-CD15-4239-45A4-CF08E6AA8C3E}"/>
              </a:ext>
            </a:extLst>
          </p:cNvPr>
          <p:cNvSpPr txBox="1"/>
          <p:nvPr/>
        </p:nvSpPr>
        <p:spPr>
          <a:xfrm>
            <a:off x="449665" y="3953256"/>
            <a:ext cx="9285648" cy="923330"/>
          </a:xfrm>
          <a:prstGeom prst="rect">
            <a:avLst/>
          </a:prstGeom>
          <a:noFill/>
        </p:spPr>
        <p:txBody>
          <a:bodyPr wrap="square">
            <a:spAutoFit/>
          </a:bodyPr>
          <a:lstStyle/>
          <a:p>
            <a:pPr marL="285750" indent="-285750">
              <a:buFont typeface="Arial" panose="020B0604020202020204" pitchFamily="34" charset="0"/>
              <a:buChar char="•"/>
            </a:pPr>
            <a:r>
              <a:rPr lang="en-AU" b="1" dirty="0"/>
              <a:t>Intergenerational equity </a:t>
            </a:r>
            <a:r>
              <a:rPr lang="en-AU" dirty="0"/>
              <a:t>is a nuanced topic, and many of the “simple statistics” the show one group benefiting largely reflect </a:t>
            </a:r>
            <a:r>
              <a:rPr lang="en-AU" i="1" dirty="0"/>
              <a:t>group size, longevity,</a:t>
            </a:r>
            <a:r>
              <a:rPr lang="en-AU" dirty="0"/>
              <a:t> and </a:t>
            </a:r>
            <a:r>
              <a:rPr lang="en-AU" i="1" dirty="0"/>
              <a:t>interest rate</a:t>
            </a:r>
            <a:r>
              <a:rPr lang="en-AU" dirty="0"/>
              <a:t> effects.</a:t>
            </a:r>
          </a:p>
        </p:txBody>
      </p:sp>
      <p:sp>
        <p:nvSpPr>
          <p:cNvPr id="13" name="TextBox 12">
            <a:extLst>
              <a:ext uri="{FF2B5EF4-FFF2-40B4-BE49-F238E27FC236}">
                <a16:creationId xmlns:a16="http://schemas.microsoft.com/office/drawing/2014/main" id="{FA38B1F0-D4EF-D4EC-649B-AE056597CD6C}"/>
              </a:ext>
            </a:extLst>
          </p:cNvPr>
          <p:cNvSpPr txBox="1"/>
          <p:nvPr/>
        </p:nvSpPr>
        <p:spPr>
          <a:xfrm>
            <a:off x="449665" y="5115517"/>
            <a:ext cx="9285648" cy="646331"/>
          </a:xfrm>
          <a:prstGeom prst="rect">
            <a:avLst/>
          </a:prstGeom>
          <a:noFill/>
        </p:spPr>
        <p:txBody>
          <a:bodyPr wrap="square">
            <a:spAutoFit/>
          </a:bodyPr>
          <a:lstStyle/>
          <a:p>
            <a:pPr marL="285750" indent="-285750">
              <a:buFont typeface="Arial" panose="020B0604020202020204" pitchFamily="34" charset="0"/>
              <a:buChar char="•"/>
            </a:pPr>
            <a:r>
              <a:rPr lang="en-AU" b="1" dirty="0"/>
              <a:t>Negative gearing and tax </a:t>
            </a:r>
            <a:r>
              <a:rPr lang="en-AU" dirty="0"/>
              <a:t>reflects a concern about inconsistent treatment of debt and equity when it comes to asset allocation. </a:t>
            </a:r>
          </a:p>
        </p:txBody>
      </p:sp>
    </p:spTree>
    <p:extLst>
      <p:ext uri="{BB962C8B-B14F-4D97-AF65-F5344CB8AC3E}">
        <p14:creationId xmlns:p14="http://schemas.microsoft.com/office/powerpoint/2010/main" val="16385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946&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OJRKMSIZCicbhc4bAXGX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61 slide master">
  <a:themeElements>
    <a:clrScheme name="e61 theme">
      <a:dk1>
        <a:sysClr val="windowText" lastClr="000000"/>
      </a:dk1>
      <a:lt1>
        <a:sysClr val="window" lastClr="FFFFFF"/>
      </a:lt1>
      <a:dk2>
        <a:srgbClr val="44546A"/>
      </a:dk2>
      <a:lt2>
        <a:srgbClr val="E7E6E6"/>
      </a:lt2>
      <a:accent1>
        <a:srgbClr val="004F54"/>
      </a:accent1>
      <a:accent2>
        <a:srgbClr val="008080"/>
      </a:accent2>
      <a:accent3>
        <a:srgbClr val="33A7AB"/>
      </a:accent3>
      <a:accent4>
        <a:srgbClr val="FFA557"/>
      </a:accent4>
      <a:accent5>
        <a:srgbClr val="F88379"/>
      </a:accent5>
      <a:accent6>
        <a:srgbClr val="B40000"/>
      </a:accent6>
      <a:hlink>
        <a:srgbClr val="0563C1"/>
      </a:hlink>
      <a:folHlink>
        <a:srgbClr val="954F72"/>
      </a:folHlink>
    </a:clrScheme>
    <a:fontScheme name="Custom 2">
      <a:majorFont>
        <a:latin typeface="Proxima Nova Rg"/>
        <a:ea typeface=""/>
        <a:cs typeface=""/>
      </a:majorFont>
      <a:minorFont>
        <a:latin typeface="Proxima Nova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19050">
          <a:noFill/>
          <a:prstDash val="sysDot"/>
          <a:headEnd type="none" w="med" len="med"/>
          <a:tailEnd type="none" w="med" len="med"/>
        </a:ln>
      </a:spPr>
      <a:bodyPr rtlCol="0" anchor="ctr"/>
      <a:lstStyle>
        <a:defPPr algn="ctr">
          <a:defRPr b="1" dirty="0" smtClean="0">
            <a:solidFill>
              <a:schemeClr val="bg1"/>
            </a:solidFill>
            <a:latin typeface="Graphik" panose="020B0503030202060203" pitchFamily="34" charset="77"/>
          </a:defRPr>
        </a:defPPr>
      </a:lstStyle>
      <a:style>
        <a:lnRef idx="1">
          <a:schemeClr val="accent1"/>
        </a:lnRef>
        <a:fillRef idx="0">
          <a:schemeClr val="accent1"/>
        </a:fillRef>
        <a:effectRef idx="0">
          <a:schemeClr val="accent1"/>
        </a:effectRef>
        <a:fontRef idx="minor">
          <a:schemeClr val="tx1"/>
        </a:fontRef>
      </a:style>
    </a:spDef>
    <a:lnDef>
      <a:spPr>
        <a:ln w="19050">
          <a:solidFill>
            <a:schemeClr val="tx1"/>
          </a:solidFill>
          <a:prstDash val="soli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e61 general template.potx" id="{90061909-20C7-47C0-9BA3-1FCA4037CBDA}" vid="{47FE1831-D1E7-41D2-8A16-5B5B5DBA35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A1619F266734FBC2B48FB95398739" ma:contentTypeVersion="18" ma:contentTypeDescription="Create a new document." ma:contentTypeScope="" ma:versionID="8dc4163b27f0ec44a22c6d7358323f5f">
  <xsd:schema xmlns:xsd="http://www.w3.org/2001/XMLSchema" xmlns:xs="http://www.w3.org/2001/XMLSchema" xmlns:p="http://schemas.microsoft.com/office/2006/metadata/properties" xmlns:ns2="aa802c90-64f7-4260-a678-c5c09559402a" xmlns:ns3="d4025935-85eb-43e8-ab32-734675053e7f" targetNamespace="http://schemas.microsoft.com/office/2006/metadata/properties" ma:root="true" ma:fieldsID="a1176a965c39d1ac1c7d6ef690b32559" ns2:_="" ns3:_="">
    <xsd:import namespace="aa802c90-64f7-4260-a678-c5c09559402a"/>
    <xsd:import namespace="d4025935-85eb-43e8-ab32-734675053e7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3:SharedWithUsers" minOccurs="0"/>
                <xsd:element ref="ns3:SharedWithDetails" minOccurs="0"/>
                <xsd:element ref="ns2:lcf76f155ced4ddcb4097134ff3c332f" minOccurs="0"/>
                <xsd:element ref="ns3:TaxCatchAll" minOccurs="0"/>
                <xsd:element ref="ns2:MediaServiceLocatio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802c90-64f7-4260-a678-c5c0955940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bce0e04-9c7f-4626-8cb4-29f8b9ace21f" ma:termSetId="09814cd3-568e-fe90-9814-8d621ff8fb84" ma:anchorId="fba54fb3-c3e1-fe81-a776-ca4b69148c4d" ma:open="true" ma:isKeyword="false">
      <xsd:complexType>
        <xsd:sequence>
          <xsd:element ref="pc:Terms" minOccurs="0" maxOccurs="1"/>
        </xsd:sequence>
      </xsd:complexType>
    </xsd:element>
    <xsd:element name="MediaServiceLocation" ma:index="22" nillable="true" ma:displayName="Location" ma:indexed="true" ma:internalName="MediaServiceLocatio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4025935-85eb-43e8-ab32-734675053e7f"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d7d9116-efc1-484d-8b57-8af332a5bfd6}" ma:internalName="TaxCatchAll" ma:showField="CatchAllData" ma:web="d4025935-85eb-43e8-ab32-734675053e7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4025935-85eb-43e8-ab32-734675053e7f" xsi:nil="true"/>
    <lcf76f155ced4ddcb4097134ff3c332f xmlns="aa802c90-64f7-4260-a678-c5c09559402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4E5144-405F-49D2-89C0-6C01A508B4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802c90-64f7-4260-a678-c5c09559402a"/>
    <ds:schemaRef ds:uri="d4025935-85eb-43e8-ab32-734675053e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36B762-179B-48EA-90B2-E74079BA15DE}">
  <ds:schemaRefs>
    <ds:schemaRef ds:uri="http://schemas.microsoft.com/office/2006/documentManagement/types"/>
    <ds:schemaRef ds:uri="http://schemas.openxmlformats.org/package/2006/metadata/core-properties"/>
    <ds:schemaRef ds:uri="http://purl.org/dc/terms/"/>
    <ds:schemaRef ds:uri="aa802c90-64f7-4260-a678-c5c09559402a"/>
    <ds:schemaRef ds:uri="http://purl.org/dc/elements/1.1/"/>
    <ds:schemaRef ds:uri="http://schemas.microsoft.com/office/2006/metadata/properties"/>
    <ds:schemaRef ds:uri="http://www.w3.org/XML/1998/namespace"/>
    <ds:schemaRef ds:uri="http://schemas.microsoft.com/office/infopath/2007/PartnerControls"/>
    <ds:schemaRef ds:uri="d4025935-85eb-43e8-ab32-734675053e7f"/>
    <ds:schemaRef ds:uri="http://purl.org/dc/dcmitype/"/>
  </ds:schemaRefs>
</ds:datastoreItem>
</file>

<file path=customXml/itemProps3.xml><?xml version="1.0" encoding="utf-8"?>
<ds:datastoreItem xmlns:ds="http://schemas.openxmlformats.org/officeDocument/2006/customXml" ds:itemID="{529E81E1-445C-4E91-8E35-C5BD736A3B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260</TotalTime>
  <Words>578</Words>
  <Application>Microsoft Office PowerPoint</Application>
  <PresentationFormat>Widescreen</PresentationFormat>
  <Paragraphs>44</Paragraphs>
  <Slides>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4" baseType="lpstr">
      <vt:lpstr>Arial</vt:lpstr>
      <vt:lpstr>Calibri</vt:lpstr>
      <vt:lpstr>Graphik</vt:lpstr>
      <vt:lpstr>GT Sectra Fine</vt:lpstr>
      <vt:lpstr>Proxima Nova Rg</vt:lpstr>
      <vt:lpstr>System Font</vt:lpstr>
      <vt:lpstr>e61 slide master</vt:lpstr>
      <vt:lpstr>think-cell Slide</vt:lpstr>
      <vt:lpstr>PowerPoint Presentation</vt:lpstr>
      <vt:lpstr>Paper summary: Key insights</vt:lpstr>
      <vt:lpstr>What questions do these insights inform?</vt:lpstr>
      <vt:lpstr>Intergenerational equity and housing investors</vt:lpstr>
      <vt:lpstr>Insights for negative gearing debates</vt:lpstr>
      <vt:lpstr>How do these insights relate to policy?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Buckley</dc:creator>
  <cp:lastModifiedBy>Matt Nolan</cp:lastModifiedBy>
  <cp:revision>15</cp:revision>
  <dcterms:created xsi:type="dcterms:W3CDTF">2022-09-20T23:20:20Z</dcterms:created>
  <dcterms:modified xsi:type="dcterms:W3CDTF">2026-07-27T04:03:45Z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0x010100E38A1619F266734FBC2B48FB95398739</vt:lpwstr>
  </property>
  <property fmtid="{D5CDD505-2E9C-101B-9397-08002B2CF9AE}" pid="3" name="MediaServiceImageTags">
    <vt:lpwstr/>
  </property>
</Properties>
</file>