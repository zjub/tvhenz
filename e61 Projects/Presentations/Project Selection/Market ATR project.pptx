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2147140441" r:id="rId5"/>
    <p:sldId id="2147140442" r:id="rId6"/>
    <p:sldId id="2147140443" r:id="rId7"/>
    <p:sldId id="2147140444" r:id="rId8"/>
    <p:sldId id="2147140445" r:id="rId9"/>
    <p:sldId id="2147140446" r:id="rId10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5BA906-B677-4ED9-B365-ED690E2CB720}">
          <p14:sldIdLst>
            <p14:sldId id="2147140441"/>
            <p14:sldId id="2147140442"/>
            <p14:sldId id="2147140443"/>
            <p14:sldId id="2147140444"/>
            <p14:sldId id="2147140445"/>
            <p14:sldId id="214714044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212BB9-A5CF-D335-3301-776C81AF3ABE}" name="Lachlan Vass" initials="LV" userId="S::lachlan.vass@e61.in::3865f71c-c396-40c5-8390-2fc8d944de27" providerId="AD"/>
  <p188:author id="{34CD6AE3-4402-C73C-3D6D-D595530990B9}" name="Jack Buckley" initials="JB" userId="S::jack.buckley@e61.in::28ddcf48-0b29-47ef-8181-0ce27c074e2e" providerId="AD"/>
  <p188:author id="{71CA22F3-774C-2056-8AF6-7BA1CB40250A}" name="Sinn, Joshua" initials="SJ" userId="S::joshua.sinn@accenture.com::611c4376-2cbd-4772-b570-fe288a3c2a7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A7AB"/>
    <a:srgbClr val="004F54"/>
    <a:srgbClr val="2061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CECA5E-FA04-4419-A37C-A43DC4586FC6}" v="28" dt="2026-08-11T23:01:29.3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64" y="1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Wong" userId="9b852835-f139-41d1-84ae-d28de71d07d7" providerId="ADAL" clId="{54D47AB3-9660-4F67-B2F8-7AF030C4717F}"/>
    <pc:docChg chg="modSld">
      <pc:chgData name="Aaron Wong" userId="9b852835-f139-41d1-84ae-d28de71d07d7" providerId="ADAL" clId="{54D47AB3-9660-4F67-B2F8-7AF030C4717F}" dt="2026-08-11T23:01:10.840" v="6"/>
      <pc:docMkLst>
        <pc:docMk/>
      </pc:docMkLst>
      <pc:sldChg chg="modSp">
        <pc:chgData name="Aaron Wong" userId="9b852835-f139-41d1-84ae-d28de71d07d7" providerId="ADAL" clId="{54D47AB3-9660-4F67-B2F8-7AF030C4717F}" dt="2026-08-10T07:28:14.815" v="5"/>
        <pc:sldMkLst>
          <pc:docMk/>
          <pc:sldMk cId="2959611009" sldId="2147140441"/>
        </pc:sldMkLst>
        <pc:spChg chg="mod">
          <ac:chgData name="Aaron Wong" userId="9b852835-f139-41d1-84ae-d28de71d07d7" providerId="ADAL" clId="{54D47AB3-9660-4F67-B2F8-7AF030C4717F}" dt="2026-08-10T07:28:14.815" v="5"/>
          <ac:spMkLst>
            <pc:docMk/>
            <pc:sldMk cId="2959611009" sldId="2147140441"/>
            <ac:spMk id="4" creationId="{B3593C42-B351-C0AB-2A05-E91DA90F7B4F}"/>
          </ac:spMkLst>
        </pc:spChg>
        <pc:spChg chg="mod">
          <ac:chgData name="Aaron Wong" userId="9b852835-f139-41d1-84ae-d28de71d07d7" providerId="ADAL" clId="{54D47AB3-9660-4F67-B2F8-7AF030C4717F}" dt="2026-08-10T07:24:23.007" v="4"/>
          <ac:spMkLst>
            <pc:docMk/>
            <pc:sldMk cId="2959611009" sldId="2147140441"/>
            <ac:spMk id="8" creationId="{518BD0B9-B9CC-31A4-4F8F-15597FADFE1D}"/>
          </ac:spMkLst>
        </pc:spChg>
      </pc:sldChg>
      <pc:sldChg chg="modSp">
        <pc:chgData name="Aaron Wong" userId="9b852835-f139-41d1-84ae-d28de71d07d7" providerId="ADAL" clId="{54D47AB3-9660-4F67-B2F8-7AF030C4717F}" dt="2026-08-10T07:06:29.137" v="3"/>
        <pc:sldMkLst>
          <pc:docMk/>
          <pc:sldMk cId="2952283940" sldId="2147140442"/>
        </pc:sldMkLst>
        <pc:spChg chg="mod">
          <ac:chgData name="Aaron Wong" userId="9b852835-f139-41d1-84ae-d28de71d07d7" providerId="ADAL" clId="{54D47AB3-9660-4F67-B2F8-7AF030C4717F}" dt="2026-08-10T07:06:29.137" v="3"/>
          <ac:spMkLst>
            <pc:docMk/>
            <pc:sldMk cId="2952283940" sldId="2147140442"/>
            <ac:spMk id="7" creationId="{DA24D1ED-E4DB-76C4-A0D2-359E4C820BD2}"/>
          </ac:spMkLst>
        </pc:spChg>
      </pc:sldChg>
      <pc:sldChg chg="modSp">
        <pc:chgData name="Aaron Wong" userId="9b852835-f139-41d1-84ae-d28de71d07d7" providerId="ADAL" clId="{54D47AB3-9660-4F67-B2F8-7AF030C4717F}" dt="2026-08-10T07:05:18.972" v="2" actId="21"/>
        <pc:sldMkLst>
          <pc:docMk/>
          <pc:sldMk cId="268583722" sldId="2147140443"/>
        </pc:sldMkLst>
        <pc:graphicFrameChg chg="mod">
          <ac:chgData name="Aaron Wong" userId="9b852835-f139-41d1-84ae-d28de71d07d7" providerId="ADAL" clId="{54D47AB3-9660-4F67-B2F8-7AF030C4717F}" dt="2026-08-10T07:05:18.972" v="2" actId="21"/>
          <ac:graphicFrameMkLst>
            <pc:docMk/>
            <pc:sldMk cId="268583722" sldId="2147140443"/>
            <ac:graphicFrameMk id="5" creationId="{453B59AE-7A8C-8B22-0849-5539834FC0C0}"/>
          </ac:graphicFrameMkLst>
        </pc:graphicFrameChg>
      </pc:sldChg>
      <pc:sldChg chg="modSp">
        <pc:chgData name="Aaron Wong" userId="9b852835-f139-41d1-84ae-d28de71d07d7" providerId="ADAL" clId="{54D47AB3-9660-4F67-B2F8-7AF030C4717F}" dt="2026-08-10T04:09:52.711" v="1"/>
        <pc:sldMkLst>
          <pc:docMk/>
          <pc:sldMk cId="1107105898" sldId="2147140444"/>
        </pc:sldMkLst>
        <pc:spChg chg="mod">
          <ac:chgData name="Aaron Wong" userId="9b852835-f139-41d1-84ae-d28de71d07d7" providerId="ADAL" clId="{54D47AB3-9660-4F67-B2F8-7AF030C4717F}" dt="2026-08-10T04:09:52.711" v="1"/>
          <ac:spMkLst>
            <pc:docMk/>
            <pc:sldMk cId="1107105898" sldId="2147140444"/>
            <ac:spMk id="6" creationId="{E0997B5A-42B2-0A14-F28A-F07BA81A2EB5}"/>
          </ac:spMkLst>
        </pc:spChg>
      </pc:sldChg>
      <pc:sldChg chg="modSp">
        <pc:chgData name="Aaron Wong" userId="9b852835-f139-41d1-84ae-d28de71d07d7" providerId="ADAL" clId="{54D47AB3-9660-4F67-B2F8-7AF030C4717F}" dt="2026-08-11T23:01:10.840" v="6"/>
        <pc:sldMkLst>
          <pc:docMk/>
          <pc:sldMk cId="4233517656" sldId="2147140446"/>
        </pc:sldMkLst>
        <pc:spChg chg="mod">
          <ac:chgData name="Aaron Wong" userId="9b852835-f139-41d1-84ae-d28de71d07d7" providerId="ADAL" clId="{54D47AB3-9660-4F67-B2F8-7AF030C4717F}" dt="2026-08-11T23:01:10.840" v="6"/>
          <ac:spMkLst>
            <pc:docMk/>
            <pc:sldMk cId="4233517656" sldId="2147140446"/>
            <ac:spMk id="6" creationId="{26676666-88DA-C4BA-9853-D0628643EA92}"/>
          </ac:spMkLst>
        </pc:spChg>
      </pc:sldChg>
    </pc:docChg>
  </pc:docChgLst>
  <pc:docChgLst>
    <pc:chgData name="Matt Nolan" userId="a62ef2e7-69e7-438f-a0a1-6155e204b9f1" providerId="ADAL" clId="{16A71CBC-F0C9-40C8-8A77-88CBC989E3DB}"/>
    <pc:docChg chg="custSel addSld modSld sldOrd modSection">
      <pc:chgData name="Matt Nolan" userId="a62ef2e7-69e7-438f-a0a1-6155e204b9f1" providerId="ADAL" clId="{16A71CBC-F0C9-40C8-8A77-88CBC989E3DB}" dt="2026-08-10T10:17:42.033" v="1382" actId="20577"/>
      <pc:docMkLst>
        <pc:docMk/>
      </pc:docMkLst>
      <pc:sldChg chg="modSp mod">
        <pc:chgData name="Matt Nolan" userId="a62ef2e7-69e7-438f-a0a1-6155e204b9f1" providerId="ADAL" clId="{16A71CBC-F0C9-40C8-8A77-88CBC989E3DB}" dt="2026-08-10T08:15:33.089" v="203" actId="33524"/>
        <pc:sldMkLst>
          <pc:docMk/>
          <pc:sldMk cId="2959611009" sldId="2147140441"/>
        </pc:sldMkLst>
        <pc:spChg chg="mod">
          <ac:chgData name="Matt Nolan" userId="a62ef2e7-69e7-438f-a0a1-6155e204b9f1" providerId="ADAL" clId="{16A71CBC-F0C9-40C8-8A77-88CBC989E3DB}" dt="2026-08-10T08:15:33.089" v="203" actId="33524"/>
          <ac:spMkLst>
            <pc:docMk/>
            <pc:sldMk cId="2959611009" sldId="2147140441"/>
            <ac:spMk id="8" creationId="{518BD0B9-B9CC-31A4-4F8F-15597FADFE1D}"/>
          </ac:spMkLst>
        </pc:spChg>
      </pc:sldChg>
      <pc:sldChg chg="modSp mod">
        <pc:chgData name="Matt Nolan" userId="a62ef2e7-69e7-438f-a0a1-6155e204b9f1" providerId="ADAL" clId="{16A71CBC-F0C9-40C8-8A77-88CBC989E3DB}" dt="2026-08-10T08:15:28.574" v="202" actId="20577"/>
        <pc:sldMkLst>
          <pc:docMk/>
          <pc:sldMk cId="1673472154" sldId="2147140445"/>
        </pc:sldMkLst>
        <pc:graphicFrameChg chg="modGraphic">
          <ac:chgData name="Matt Nolan" userId="a62ef2e7-69e7-438f-a0a1-6155e204b9f1" providerId="ADAL" clId="{16A71CBC-F0C9-40C8-8A77-88CBC989E3DB}" dt="2026-08-10T08:15:28.574" v="202" actId="20577"/>
          <ac:graphicFrameMkLst>
            <pc:docMk/>
            <pc:sldMk cId="1673472154" sldId="2147140445"/>
            <ac:graphicFrameMk id="5" creationId="{F007C9D4-5878-6E25-9938-4616E6B01EDE}"/>
          </ac:graphicFrameMkLst>
        </pc:graphicFrameChg>
      </pc:sldChg>
      <pc:sldChg chg="modSp add mod ord">
        <pc:chgData name="Matt Nolan" userId="a62ef2e7-69e7-438f-a0a1-6155e204b9f1" providerId="ADAL" clId="{16A71CBC-F0C9-40C8-8A77-88CBC989E3DB}" dt="2026-08-10T10:17:42.033" v="1382" actId="20577"/>
        <pc:sldMkLst>
          <pc:docMk/>
          <pc:sldMk cId="4233517656" sldId="2147140446"/>
        </pc:sldMkLst>
        <pc:spChg chg="mod">
          <ac:chgData name="Matt Nolan" userId="a62ef2e7-69e7-438f-a0a1-6155e204b9f1" providerId="ADAL" clId="{16A71CBC-F0C9-40C8-8A77-88CBC989E3DB}" dt="2026-08-10T10:04:48.398" v="228" actId="20577"/>
          <ac:spMkLst>
            <pc:docMk/>
            <pc:sldMk cId="4233517656" sldId="2147140446"/>
            <ac:spMk id="3" creationId="{BE41FC26-FB65-A2AC-1B52-CAE626F1A7B0}"/>
          </ac:spMkLst>
        </pc:spChg>
        <pc:spChg chg="mod">
          <ac:chgData name="Matt Nolan" userId="a62ef2e7-69e7-438f-a0a1-6155e204b9f1" providerId="ADAL" clId="{16A71CBC-F0C9-40C8-8A77-88CBC989E3DB}" dt="2026-08-10T10:17:42.033" v="1382" actId="20577"/>
          <ac:spMkLst>
            <pc:docMk/>
            <pc:sldMk cId="4233517656" sldId="2147140446"/>
            <ac:spMk id="6" creationId="{26676666-88DA-C4BA-9853-D0628643EA9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9F452D-FA17-885C-CC89-0DC68658B2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9CDAA-6A69-3DFF-BE4E-6602CC25B0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F87968-E7C3-4FA2-86D7-7CFDDCA2896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F01E9-DBAA-1EA2-4D9A-7E77B5DFA5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BB76F-B80E-EE0E-9F0D-2AC6378957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8A632-F1EE-40DC-8EB4-831F2F70E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771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6A7BE-E113-476D-8DE0-A6138461ACE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3F2214-1F6F-4D6B-854F-093941A8F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1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3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1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83544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2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46630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3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492673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4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12791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5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60692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Appendix</a:t>
            </a:r>
            <a:endParaRPr lang="en-AU" sz="120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827969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1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22514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2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526356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3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407999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4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48326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5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74581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Appendix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538170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164627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2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640386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641323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4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18177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2995420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2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130912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7687056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4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975366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CB03E8-089D-0ACD-1D05-C59964D50E2F}"/>
              </a:ext>
            </a:extLst>
          </p:cNvPr>
          <p:cNvSpPr/>
          <p:nvPr userDrawn="1"/>
        </p:nvSpPr>
        <p:spPr>
          <a:xfrm>
            <a:off x="0" y="35076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2143CB0-80E3-8AB0-053D-E52E19E92F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99" y="26127"/>
            <a:ext cx="1980000" cy="29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US" sz="1200" smtClean="0">
                <a:solidFill>
                  <a:schemeClr val="tx1"/>
                </a:solidFill>
                <a:latin typeface="+mj-lt"/>
                <a:ea typeface="+mn-ea"/>
              </a:defRPr>
            </a:lvl1pPr>
            <a:lvl2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2pPr>
            <a:lvl3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3pPr>
            <a:lvl4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4pPr>
            <a:lvl5pPr>
              <a:defRPr lang="en-AU" sz="1800">
                <a:solidFill>
                  <a:schemeClr val="lt1"/>
                </a:solidFill>
                <a:ea typeface="+mn-ea"/>
                <a:cs typeface="+mn-cs"/>
              </a:defRPr>
            </a:lvl5pPr>
          </a:lstStyle>
          <a:p>
            <a:pPr lvl="0" defTabSz="914400" latinLnBrk="0"/>
            <a:r>
              <a:rPr lang="en-US"/>
              <a:t>Section name here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76686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26744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F090DBB-DBAB-499B-B31E-9C5FEBA1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7693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" imgH="381" progId="TCLayout.ActiveDocument.1">
                  <p:embed/>
                </p:oleObj>
              </mc:Choice>
              <mc:Fallback>
                <p:oleObj name="think-cell Slide" r:id="rId3" imgW="381" imgH="38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F090DBB-DBAB-499B-B31E-9C5FEBA1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2AED96BB-361A-4F3E-A7CB-D1560FDE9F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3CA51-1D19-4ADC-908F-13F64C03CB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7417" y="3925156"/>
            <a:ext cx="4698834" cy="1181862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algn="ctr"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2FDB2B-16C1-4564-B415-DBBBCF0037B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811" y="1475802"/>
            <a:ext cx="2726046" cy="1953198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4C01ECE-843C-4618-8C3A-082A62CB3D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7417" y="5334153"/>
            <a:ext cx="469883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6" indent="0">
              <a:buNone/>
              <a:defRPr/>
            </a:lvl2pPr>
            <a:lvl3pPr marL="91441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en-US"/>
              <a:t>Event title – event date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F417C3A-BBD1-0EAC-6A37-12CE6587C5B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6921666" cy="6858000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Insert image </a:t>
            </a:r>
          </a:p>
          <a:p>
            <a:r>
              <a:rPr lang="en-US"/>
              <a:t>(try: https://unsplash.com/)</a:t>
            </a:r>
          </a:p>
        </p:txBody>
      </p:sp>
    </p:spTree>
    <p:extLst>
      <p:ext uri="{BB962C8B-B14F-4D97-AF65-F5344CB8AC3E}">
        <p14:creationId xmlns:p14="http://schemas.microsoft.com/office/powerpoint/2010/main" val="2210043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86957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2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1"/>
            </a:lvl2pPr>
            <a:lvl3pPr marL="228604">
              <a:buFont typeface="Arial" panose="020B0604020202020204" pitchFamily="34" charset="0"/>
              <a:buChar char="•"/>
              <a:defRPr sz="1801"/>
            </a:lvl3pPr>
            <a:lvl4pPr marL="457206">
              <a:buFont typeface="System Font"/>
              <a:buChar char="–"/>
              <a:defRPr sz="1600"/>
            </a:lvl4pPr>
            <a:lvl5pPr marL="685809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2" cy="810399"/>
          </a:xfrm>
          <a:prstGeom prst="rect">
            <a:avLst/>
          </a:prstGeo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3" y="137160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3" y="1976479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3" y="2581356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3" y="3186234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3" y="3791113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3" y="439599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3" y="5000868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3" y="5605747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84358" y="137160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84358" y="1976479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84358" y="2581356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84358" y="3186234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84358" y="3791113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84358" y="439599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84358" y="5000868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284358" y="5605747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>
            <a:cxnSpLocks/>
          </p:cNvCxnSpPr>
          <p:nvPr userDrawn="1"/>
        </p:nvCxnSpPr>
        <p:spPr>
          <a:xfrm>
            <a:off x="4045241" y="1371601"/>
            <a:ext cx="0" cy="33327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9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3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95094" y="137160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95094" y="1976479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195094" y="2581356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195094" y="3186234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195094" y="3791113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195094" y="439599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95094" y="5000868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95094" y="5605747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C4F5B-DE83-214A-95EA-68339F579CF1}"/>
              </a:ext>
            </a:extLst>
          </p:cNvPr>
          <p:cNvSpPr txBox="1"/>
          <p:nvPr userDrawn="1"/>
        </p:nvSpPr>
        <p:spPr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4">
              <a:spcAft>
                <a:spcPts val="1200"/>
              </a:spcAft>
            </a:pPr>
            <a:endParaRPr lang="en-US" sz="1801" noProof="0"/>
          </a:p>
        </p:txBody>
      </p:sp>
    </p:spTree>
    <p:extLst>
      <p:ext uri="{BB962C8B-B14F-4D97-AF65-F5344CB8AC3E}">
        <p14:creationId xmlns:p14="http://schemas.microsoft.com/office/powerpoint/2010/main" val="275829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D8A76DE-ECA0-60F4-575C-02C4077408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9254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D8A76DE-ECA0-60F4-575C-02C4077408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7B9E7BD-B7D1-FF01-F546-0CADB6C2F4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5550" y="2909333"/>
            <a:ext cx="9389031" cy="1039334"/>
          </a:xfrm>
          <a:prstGeom prst="rect">
            <a:avLst/>
          </a:prstGeom>
        </p:spPr>
        <p:txBody>
          <a:bodyPr anchor="ctr"/>
          <a:lstStyle>
            <a:lvl1pPr>
              <a:defRPr sz="3200" b="1"/>
            </a:lvl1pPr>
          </a:lstStyle>
          <a:p>
            <a:pPr lvl="0"/>
            <a:r>
              <a:rPr lang="en-US"/>
              <a:t>## - Place section title here in sentence case, max 2 lines </a:t>
            </a:r>
          </a:p>
        </p:txBody>
      </p:sp>
    </p:spTree>
    <p:extLst>
      <p:ext uri="{BB962C8B-B14F-4D97-AF65-F5344CB8AC3E}">
        <p14:creationId xmlns:p14="http://schemas.microsoft.com/office/powerpoint/2010/main" val="609445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BCE4D4F-8CCC-404C-840E-8A45E07645C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105608378"/>
              </p:ext>
            </p:extLst>
          </p:nvPr>
        </p:nvGraphicFramePr>
        <p:xfrm>
          <a:off x="1588" y="1587"/>
          <a:ext cx="1589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395" imgH="394" progId="TCLayout.ActiveDocument.1">
                  <p:embed/>
                </p:oleObj>
              </mc:Choice>
              <mc:Fallback>
                <p:oleObj name="think-cell Slide" r:id="rId29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BCE4D4F-8CCC-404C-840E-8A45E07645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7"/>
                        <a:ext cx="1589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C4AAB9D-85C6-43AB-8696-D55AD6DDE24E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0" y="1"/>
            <a:ext cx="158812" cy="158713"/>
          </a:xfrm>
          <a:prstGeom prst="rect">
            <a:avLst/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598" b="1" i="0" baseline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  <a:sym typeface="Graphik" panose="020B0503030202060203" pitchFamily="34" charset="0"/>
            </a:endParaRP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029236F-8D4F-46BA-A33A-11E2F113A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0946922" y="6401006"/>
            <a:ext cx="561476" cy="273402"/>
          </a:xfrm>
          <a:prstGeom prst="rect">
            <a:avLst/>
          </a:prstGeom>
        </p:spPr>
        <p:txBody>
          <a:bodyPr tIns="0" bIns="0" anchor="b"/>
          <a:lstStyle>
            <a:lvl1pPr algn="l">
              <a:defRPr sz="1001" b="0">
                <a:solidFill>
                  <a:schemeClr val="tx1"/>
                </a:solidFill>
                <a:latin typeface="+mj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37E62055-3E0F-4EBB-A962-F9600119E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5739" y="6402651"/>
            <a:ext cx="3733634" cy="270112"/>
          </a:xfrm>
          <a:prstGeom prst="rect">
            <a:avLst/>
          </a:prstGeom>
        </p:spPr>
        <p:txBody>
          <a:bodyPr tIns="0" bIns="0" anchor="ctr"/>
          <a:lstStyle>
            <a:lvl1pPr algn="l">
              <a:defRPr sz="8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r>
              <a:rPr lang="en-GB"/>
              <a:t>Source: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66CE9E3-35BA-4A0B-8098-8A65954FE472}"/>
              </a:ext>
            </a:extLst>
          </p:cNvPr>
          <p:cNvPicPr>
            <a:picLocks noChangeAspect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8897" y="6393635"/>
            <a:ext cx="350924" cy="28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0" r:id="rId2"/>
    <p:sldLayoutId id="2147483721" r:id="rId3"/>
    <p:sldLayoutId id="2147483722" r:id="rId4"/>
    <p:sldLayoutId id="2147483726" r:id="rId5"/>
    <p:sldLayoutId id="2147483740" r:id="rId6"/>
    <p:sldLayoutId id="2147483725" r:id="rId7"/>
    <p:sldLayoutId id="2147483727" r:id="rId8"/>
    <p:sldLayoutId id="2147483728" r:id="rId9"/>
    <p:sldLayoutId id="2147483729" r:id="rId10"/>
    <p:sldLayoutId id="2147483730" r:id="rId11"/>
    <p:sldLayoutId id="2147483739" r:id="rId12"/>
    <p:sldLayoutId id="2147483735" r:id="rId13"/>
    <p:sldLayoutId id="2147483736" r:id="rId14"/>
    <p:sldLayoutId id="2147483737" r:id="rId15"/>
    <p:sldLayoutId id="2147483738" r:id="rId16"/>
    <p:sldLayoutId id="2147483731" r:id="rId17"/>
    <p:sldLayoutId id="2147483732" r:id="rId18"/>
    <p:sldLayoutId id="2147483733" r:id="rId19"/>
    <p:sldLayoutId id="2147483734" r:id="rId20"/>
    <p:sldLayoutId id="2147483710" r:id="rId21"/>
    <p:sldLayoutId id="2147483719" r:id="rId22"/>
    <p:sldLayoutId id="2147483706" r:id="rId23"/>
    <p:sldLayoutId id="2147483707" r:id="rId24"/>
    <p:sldLayoutId id="2147483708" r:id="rId25"/>
  </p:sldLayoutIdLst>
  <p:hf hdr="0" ftr="0" dt="0"/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buFont typeface="Arial" charset="0"/>
        <a:defRPr lang="en-AU" sz="2800" b="1" i="0" kern="1200" cap="none" spc="-149" baseline="0" dirty="0" smtClean="0">
          <a:solidFill>
            <a:schemeClr val="tx1"/>
          </a:solidFill>
          <a:latin typeface="+mj-lt"/>
          <a:ea typeface="Roboto Black" panose="02000000000000000000" pitchFamily="2" charset="0"/>
          <a:cs typeface="Arial" panose="020B0604020202020204" pitchFamily="34" charset="0"/>
        </a:defRPr>
      </a:lvl1pPr>
      <a:lvl2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2pPr>
      <a:lvl3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3pPr>
      <a:lvl4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4pPr>
      <a:lvl5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5pPr>
      <a:lvl6pPr marL="609329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6pPr>
      <a:lvl7pPr marL="1218657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7pPr>
      <a:lvl8pPr marL="1827986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8pPr>
      <a:lvl9pPr marL="2437314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None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1pPr>
      <a:lvl2pPr marL="215960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•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2pPr>
      <a:lvl3pPr marL="431920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‒"/>
        <a:tabLst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3pPr>
      <a:lvl4pPr marL="611885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•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4pPr>
      <a:lvl5pPr marL="863838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‒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5pPr>
      <a:lvl6pPr marL="3351304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0634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69963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79290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329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657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986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314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643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971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298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626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9" userDrawn="1">
          <p15:clr>
            <a:srgbClr val="F26B43"/>
          </p15:clr>
        </p15:guide>
        <p15:guide id="2" pos="226" userDrawn="1">
          <p15:clr>
            <a:srgbClr val="F26B43"/>
          </p15:clr>
        </p15:guide>
        <p15:guide id="3" pos="7452" userDrawn="1">
          <p15:clr>
            <a:srgbClr val="F26B43"/>
          </p15:clr>
        </p15:guide>
        <p15:guide id="4" pos="1276" userDrawn="1">
          <p15:clr>
            <a:srgbClr val="F26B43"/>
          </p15:clr>
        </p15:guide>
        <p15:guide id="5" pos="1460" userDrawn="1">
          <p15:clr>
            <a:srgbClr val="F26B43"/>
          </p15:clr>
        </p15:guide>
        <p15:guide id="6" pos="2514" userDrawn="1">
          <p15:clr>
            <a:srgbClr val="F26B43"/>
          </p15:clr>
        </p15:guide>
        <p15:guide id="7" pos="2697" userDrawn="1">
          <p15:clr>
            <a:srgbClr val="F26B43"/>
          </p15:clr>
        </p15:guide>
        <p15:guide id="8" pos="3929" userDrawn="1">
          <p15:clr>
            <a:srgbClr val="F26B43"/>
          </p15:clr>
        </p15:guide>
        <p15:guide id="9" pos="3748" userDrawn="1">
          <p15:clr>
            <a:srgbClr val="F26B43"/>
          </p15:clr>
        </p15:guide>
        <p15:guide id="10" pos="4981" userDrawn="1">
          <p15:clr>
            <a:srgbClr val="F26B43"/>
          </p15:clr>
        </p15:guide>
        <p15:guide id="11" pos="5163" userDrawn="1">
          <p15:clr>
            <a:srgbClr val="F26B43"/>
          </p15:clr>
        </p15:guide>
        <p15:guide id="12" pos="6219" userDrawn="1">
          <p15:clr>
            <a:srgbClr val="F26B43"/>
          </p15:clr>
        </p15:guide>
        <p15:guide id="13" pos="6398" userDrawn="1">
          <p15:clr>
            <a:srgbClr val="F26B43"/>
          </p15:clr>
        </p15:guide>
        <p15:guide id="14" orient="horz" pos="807" userDrawn="1">
          <p15:clr>
            <a:srgbClr val="F26B43"/>
          </p15:clr>
        </p15:guide>
        <p15:guide id="15" orient="horz" pos="876" userDrawn="1">
          <p15:clr>
            <a:srgbClr val="F26B43"/>
          </p15:clr>
        </p15:guide>
        <p15:guide id="16" orient="horz" pos="4031" userDrawn="1">
          <p15:clr>
            <a:srgbClr val="F26B43"/>
          </p15:clr>
        </p15:guide>
        <p15:guide id="17" orient="horz" pos="597" userDrawn="1">
          <p15:clr>
            <a:srgbClr val="F26B43"/>
          </p15:clr>
        </p15:guide>
        <p15:guide id="18" orient="horz" pos="2435" userDrawn="1">
          <p15:clr>
            <a:srgbClr val="F26B43"/>
          </p15:clr>
        </p15:guide>
        <p15:guide id="19" orient="horz" pos="3756" userDrawn="1">
          <p15:clr>
            <a:srgbClr val="F26B43"/>
          </p15:clr>
        </p15:guide>
        <p15:guide id="20" orient="horz" pos="41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61institute.sharepoint.com/sites/FiscalSustainability/Shared%20Documents/Tax/Civic%20Project/Project%20outline%20-%20e61%20consolidated%20tax.docx?web=1" TargetMode="Externa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61institute.sharepoint.com/sites/FiscalSustainability/Shared%20Documents/Tax/Civic%20Project/Project%20outline%20-%20e61%20consolidated%20tax.docx?web=1" TargetMode="Externa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reasury.govt.nz/publications/media-advisory/new-research-effective-average-tax-rates-and-distribution-wealth" TargetMode="Externa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5B4AA0-A03C-D260-492E-37538AD70C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593C42-B351-C0AB-2A05-E91DA90F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Project: Comprehensive tax rates (research + calculator)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8BD0B9-B9CC-31A4-4F8F-15597FADFE1D}"/>
              </a:ext>
            </a:extLst>
          </p:cNvPr>
          <p:cNvSpPr txBox="1"/>
          <p:nvPr/>
        </p:nvSpPr>
        <p:spPr>
          <a:xfrm>
            <a:off x="370416" y="1539030"/>
            <a:ext cx="8453543" cy="4340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b="1" kern="100" dirty="0">
                <a:solidFill>
                  <a:srgbClr val="000000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Alignment with e61 USP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Opportunity to improve and empower the debate on a live policy question using high-quality research.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Policy area is economically large and is an active area of research.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Significant existing microdata insights, but by leveraging with a tax calculator and broader taxes we can increase knowledge of the Australian tax system.</a:t>
            </a:r>
            <a:endParaRPr lang="en-AU" kern="100" dirty="0">
              <a:solidFill>
                <a:srgbClr val="000000"/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b="1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Will we learn something meaningful?</a:t>
            </a: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AU" i="1" kern="100" dirty="0">
              <a:solidFill>
                <a:srgbClr val="000000"/>
              </a:solidFill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Yes, the project will extend prior work on tax heterogeneity AND fiscal sustainability by looking at a </a:t>
            </a:r>
            <a:r>
              <a:rPr lang="en-AU" i="1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consolidated</a:t>
            </a: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tax base. 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Using microdata allows us to better evaluate how taxable sums can be attributed, rather than relying solely on statutory incidence.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AU" kern="100" dirty="0">
              <a:solidFill>
                <a:srgbClr val="000000"/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30BE7F-B791-B081-1B8B-645FFD73F8CD}"/>
              </a:ext>
            </a:extLst>
          </p:cNvPr>
          <p:cNvSpPr txBox="1"/>
          <p:nvPr/>
        </p:nvSpPr>
        <p:spPr>
          <a:xfrm>
            <a:off x="370416" y="5879257"/>
            <a:ext cx="11029603" cy="362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800" b="1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Full project outline here</a:t>
            </a:r>
            <a:r>
              <a:rPr lang="en-AU" sz="1800" b="1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AU" sz="18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611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E36377-C348-2F01-5FD5-D65C0FCD7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A43844-9D09-267B-7C02-9EC21CE04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506" y="290111"/>
            <a:ext cx="11459365" cy="700597"/>
          </a:xfrm>
        </p:spPr>
        <p:txBody>
          <a:bodyPr/>
          <a:lstStyle/>
          <a:p>
            <a:r>
              <a:rPr lang="en-AU" dirty="0"/>
              <a:t>Policy questions answered by the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24D1ED-E4DB-76C4-A0D2-359E4C820BD2}"/>
              </a:ext>
            </a:extLst>
          </p:cNvPr>
          <p:cNvSpPr txBox="1"/>
          <p:nvPr/>
        </p:nvSpPr>
        <p:spPr>
          <a:xfrm>
            <a:off x="156506" y="1034609"/>
            <a:ext cx="11351892" cy="3150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b="1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Question: </a:t>
            </a:r>
            <a:r>
              <a:rPr lang="en-AU" i="1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What proportion of an individuals market income is paid to government in tax in a calendar year?</a:t>
            </a:r>
            <a:endParaRPr lang="en-AU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b="1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Why do we care?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Income tax burdens understate all the ways that people contribute to government financing.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sz="1400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At a Federal level, personal income taxes account for 48% of total revenue and 55% of tax revenue (PBO Medium Term Fiscal Outlook)</a:t>
            </a:r>
            <a:r>
              <a:rPr lang="en-AU" sz="1400" kern="100" dirty="0">
                <a:solidFill>
                  <a:srgbClr val="000000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Federal taxes are also only a fraction of the tax burden faced by individual.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sz="1400" kern="100" dirty="0">
                <a:solidFill>
                  <a:srgbClr val="000000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States revenue raising accounts for 40% of general government revenue (PBO National Fiscal Outlook). 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Citizens have the right to understand if they are getting “value for money” for the services and support provided by government. To do this there needs to be a clear recognition of how much is paid.</a:t>
            </a:r>
            <a:endParaRPr lang="en-AU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6B2CF-8003-66DA-80A6-78795EA6A9E6}"/>
              </a:ext>
            </a:extLst>
          </p:cNvPr>
          <p:cNvSpPr txBox="1"/>
          <p:nvPr/>
        </p:nvSpPr>
        <p:spPr>
          <a:xfrm>
            <a:off x="258017" y="4579799"/>
            <a:ext cx="10969643" cy="2033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800" b="1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Alternatives: 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AU" sz="1400" i="1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What tax liability does an individual accrue from their earnings in a given year?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AU" sz="1400" i="1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Focuses on the PV of tax liabilities – not whether the tax is paid now.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AU" sz="1400" i="1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What proportion of an individual's total income is paid in tax?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AU" sz="1400" i="1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Uses a broader income measure, and the tax paid on those income sources (i.e. benefits).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AU" sz="1400" i="1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The distribution of tax payments across households/families.</a:t>
            </a:r>
            <a:endParaRPr lang="en-AU" sz="14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283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E67FA6-235F-4AF8-807E-0673EB11B4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90303D-F16C-59EE-B57C-B9371D7B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Research questions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A44814-A366-693A-D17B-7DB0BD710147}"/>
              </a:ext>
            </a:extLst>
          </p:cNvPr>
          <p:cNvSpPr txBox="1"/>
          <p:nvPr/>
        </p:nvSpPr>
        <p:spPr>
          <a:xfrm>
            <a:off x="370416" y="1505204"/>
            <a:ext cx="9148487" cy="300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kern="100" dirty="0">
                <a:solidFill>
                  <a:srgbClr val="000000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There are three key areas where this work will provide insights:</a:t>
            </a:r>
            <a:endParaRPr lang="en-AU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arenR"/>
            </a:pPr>
            <a:r>
              <a:rPr lang="en-AU" kern="100" dirty="0">
                <a:solidFill>
                  <a:srgbClr val="000000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How does tax paid vary by the market income of Australians? Both in terms of tax paid for those with similar incomes, and for those with higher incomes.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arenR"/>
            </a:pPr>
            <a:endParaRPr lang="en-AU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arenR"/>
            </a:pPr>
            <a:r>
              <a:rPr lang="en-AU" kern="100" dirty="0">
                <a:solidFill>
                  <a:srgbClr val="000000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What are the main contributors to tax paid at different parts of the income distribution?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arenR"/>
            </a:pPr>
            <a:endParaRPr lang="en-AU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AU" kern="100" dirty="0">
                <a:solidFill>
                  <a:srgbClr val="000000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How do assumptions regarding the relative incidence of the tax influence these results?</a:t>
            </a:r>
            <a:endParaRPr lang="en-AU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B17572-5A5B-40FE-30B8-EE0630765AAA}"/>
              </a:ext>
            </a:extLst>
          </p:cNvPr>
          <p:cNvSpPr txBox="1"/>
          <p:nvPr/>
        </p:nvSpPr>
        <p:spPr>
          <a:xfrm>
            <a:off x="267949" y="5279125"/>
            <a:ext cx="9040943" cy="65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1800" b="1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This highlights that understanding “incidence” will be an important part of assessing this tax liability.</a:t>
            </a:r>
          </a:p>
        </p:txBody>
      </p:sp>
    </p:spTree>
    <p:extLst>
      <p:ext uri="{BB962C8B-B14F-4D97-AF65-F5344CB8AC3E}">
        <p14:creationId xmlns:p14="http://schemas.microsoft.com/office/powerpoint/2010/main" val="268583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2C8EFA-8EDC-B3B9-4549-C0F7CE39D6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70BFC9-0D57-03E6-3EDC-F19D291DE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Project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997B5A-42B2-0A14-F28A-F07BA81A2EB5}"/>
              </a:ext>
            </a:extLst>
          </p:cNvPr>
          <p:cNvSpPr/>
          <p:nvPr/>
        </p:nvSpPr>
        <p:spPr>
          <a:xfrm>
            <a:off x="484632" y="1408176"/>
            <a:ext cx="11345150" cy="466344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numCol="2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b="1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Project team (names and FTE):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Aaron Wong (3.5 days/week),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Josh Clyne (3.5 days/week),</a:t>
            </a:r>
            <a:endParaRPr lang="en-AU" kern="100" dirty="0">
              <a:solidFill>
                <a:srgbClr val="000000"/>
              </a:solidFill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Matt Nolan </a:t>
            </a:r>
            <a:r>
              <a:rPr lang="en-AU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(3.5 days/week)</a:t>
            </a: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Active engagement with Greg, Gianni, and Michael on methodology and result progress.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External collaborators</a:t>
            </a: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External presentations of method will be a necessary part of the project.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Late-2026: In person/online meetings with researchers and policy experts.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Early-2027: Seminars (internal and external).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Active </a:t>
            </a:r>
            <a:r>
              <a:rPr lang="en-AU" b="1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working group </a:t>
            </a: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with up to six external members.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Start date: </a:t>
            </a: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10/9/2026 (initial work already undertaken – i.e. calculator building)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End date: </a:t>
            </a: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31/3/2027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kern="100" dirty="0">
              <a:solidFill>
                <a:srgbClr val="000000"/>
              </a:solidFill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Graphic designer </a:t>
            </a: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to assist with tax calculator.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kern="100" dirty="0">
              <a:solidFill>
                <a:srgbClr val="000000"/>
              </a:solidFill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Further details of timeline and consultation plan here</a:t>
            </a: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AU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AU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07105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3AA469-7E85-ABD9-0EBC-04CD3B195E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C6082C-C117-87B7-7DCF-D7EF97DB4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027" y="2041762"/>
            <a:ext cx="11459365" cy="700597"/>
          </a:xfrm>
        </p:spPr>
        <p:txBody>
          <a:bodyPr/>
          <a:lstStyle/>
          <a:p>
            <a:r>
              <a:rPr lang="en-AU" dirty="0"/>
              <a:t>Timeline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F5EAF3-8163-6FC2-F66C-6A9625C8B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485484"/>
              </p:ext>
            </p:extLst>
          </p:nvPr>
        </p:nvGraphicFramePr>
        <p:xfrm>
          <a:off x="2593299" y="626602"/>
          <a:ext cx="6730822" cy="59111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5220">
                  <a:extLst>
                    <a:ext uri="{9D8B030D-6E8A-4147-A177-3AD203B41FA5}">
                      <a16:colId xmlns:a16="http://schemas.microsoft.com/office/drawing/2014/main" val="3189249226"/>
                    </a:ext>
                  </a:extLst>
                </a:gridCol>
                <a:gridCol w="3990812">
                  <a:extLst>
                    <a:ext uri="{9D8B030D-6E8A-4147-A177-3AD203B41FA5}">
                      <a16:colId xmlns:a16="http://schemas.microsoft.com/office/drawing/2014/main" val="3500057085"/>
                    </a:ext>
                  </a:extLst>
                </a:gridCol>
                <a:gridCol w="817395">
                  <a:extLst>
                    <a:ext uri="{9D8B030D-6E8A-4147-A177-3AD203B41FA5}">
                      <a16:colId xmlns:a16="http://schemas.microsoft.com/office/drawing/2014/main" val="1286182276"/>
                    </a:ext>
                  </a:extLst>
                </a:gridCol>
                <a:gridCol w="817395">
                  <a:extLst>
                    <a:ext uri="{9D8B030D-6E8A-4147-A177-3AD203B41FA5}">
                      <a16:colId xmlns:a16="http://schemas.microsoft.com/office/drawing/2014/main" val="831860884"/>
                    </a:ext>
                  </a:extLst>
                </a:gridCol>
              </a:tblGrid>
              <a:tr h="2052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Workstream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Activity / milestone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Start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End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1019151205"/>
                  </a:ext>
                </a:extLst>
              </a:tr>
              <a:tr h="3444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Methodology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Initial scoping meetings (data vis meeting, internal structure and design agreement)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Aug 27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Aug 27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1574930980"/>
                  </a:ext>
                </a:extLst>
              </a:tr>
              <a:tr h="2004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Methodology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Project start / initial touch base with working group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Aug 31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Aug 31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3597815761"/>
                  </a:ext>
                </a:extLst>
              </a:tr>
              <a:tr h="3444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Methodology/Tool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Methodology scoping and initial cameos produced (short report)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Aug 31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Sep 11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141833139"/>
                  </a:ext>
                </a:extLst>
              </a:tr>
              <a:tr h="2004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Check-in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First working group meeting - topic confirming methodology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Sep 15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Sep 15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3347744561"/>
                  </a:ext>
                </a:extLst>
              </a:tr>
              <a:tr h="2004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Tool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Completion of structure of tax model (accessible for feedback)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Aug 7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Sep 30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486030467"/>
                  </a:ext>
                </a:extLst>
              </a:tr>
              <a:tr h="2004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Data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HES excise and GST estimation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Sep 14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Oct 16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4140762495"/>
                  </a:ext>
                </a:extLst>
              </a:tr>
              <a:tr h="2004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Data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Income tax (including Medicare) and payroll tax attribution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Sep 14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Oct 16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140470675"/>
                  </a:ext>
                </a:extLst>
              </a:tr>
              <a:tr h="2004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Check-in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Second working group meeting - topic progress update and data insights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Oct 21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Oct 21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2699098194"/>
                  </a:ext>
                </a:extLst>
              </a:tr>
              <a:tr h="2004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Data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CGT, land tax, and stamp duty attribution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Sep 14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Oct 30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852590111"/>
                  </a:ext>
                </a:extLst>
              </a:tr>
              <a:tr h="2004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Data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Superannuation attribution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Sep 14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Oct 30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2452213152"/>
                  </a:ext>
                </a:extLst>
              </a:tr>
              <a:tr h="2004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Tool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Tool development alongside developer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Oct 1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Nov 13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2442348989"/>
                  </a:ext>
                </a:extLst>
              </a:tr>
              <a:tr h="2004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Data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Integration and joint calibration to aggregate statistics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Oct 19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Nov 13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2753379090"/>
                  </a:ext>
                </a:extLst>
              </a:tr>
              <a:tr h="3444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Check-in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Third working group meeting - topic presentation of results and skeleton tool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Nov 18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Nov 18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3023716452"/>
                  </a:ext>
                </a:extLst>
              </a:tr>
              <a:tr h="3444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Project-wide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Continuing development, calibration, testing and finalisation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Nov 19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Mar 27, 2027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374490842"/>
                  </a:ext>
                </a:extLst>
              </a:tr>
              <a:tr h="2004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Project-wide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External presentations - first round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Oct 2026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Dec 2026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268212045"/>
                  </a:ext>
                </a:extLst>
              </a:tr>
              <a:tr h="3444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Check-in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Fourth working group meeting - topic interim results, tool feedback and revised delivery plan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Dec 9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Dec 9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1136788124"/>
                  </a:ext>
                </a:extLst>
              </a:tr>
              <a:tr h="2004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Data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Sensitivity testing, validation and reconciliation to aggregate statistics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Jan 12, 2027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Mar 6, 2027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4102894037"/>
                  </a:ext>
                </a:extLst>
              </a:tr>
              <a:tr h="3444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Tool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Calculator user testing, accessibility and design refinement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Jan 12, 2027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Mar 13, 2027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2967533786"/>
                  </a:ext>
                </a:extLst>
              </a:tr>
              <a:tr h="3444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Project-wide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Draft research report, technical documentation and release preparation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Jan 19, 2026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Mar 20, 2027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3023797645"/>
                  </a:ext>
                </a:extLst>
              </a:tr>
              <a:tr h="3444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Check-in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Fifth working group meeting - topic final methodology, results and tool review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Mar 11, 2027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Mar 11, 2027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1844033216"/>
                  </a:ext>
                </a:extLst>
              </a:tr>
              <a:tr h="3444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Project-wide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Final internal sign-off and completion of core outputs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Mar 27, 2027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Mar 27, 2027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894566195"/>
                  </a:ext>
                </a:extLst>
              </a:tr>
              <a:tr h="2004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Project-wide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dirty="0">
                          <a:effectLst/>
                        </a:rPr>
                        <a:t>External presentations - second round</a:t>
                      </a:r>
                      <a:endParaRPr lang="en-NZ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effectLst/>
                        </a:rPr>
                        <a:t>Jan 2027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dirty="0">
                          <a:effectLst/>
                        </a:rPr>
                        <a:t>Mar 2027</a:t>
                      </a:r>
                      <a:endParaRPr lang="en-NZ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996" marR="47996" marT="27787" marB="27787" anchor="ctr"/>
                </a:tc>
                <a:extLst>
                  <a:ext uri="{0D108BD9-81ED-4DB2-BD59-A6C34878D82A}">
                    <a16:rowId xmlns:a16="http://schemas.microsoft.com/office/drawing/2014/main" val="4057039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472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5A7F0-B4FF-5C50-E24E-3749512E4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684E6-615D-7EAD-B06D-BC05FEF151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41FC26-FB65-A2AC-1B52-CAE626F1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Forms a complementary part of a larger project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676666-88DA-C4BA-9853-D0628643EA92}"/>
              </a:ext>
            </a:extLst>
          </p:cNvPr>
          <p:cNvSpPr/>
          <p:nvPr/>
        </p:nvSpPr>
        <p:spPr>
          <a:xfrm>
            <a:off x="434620" y="1719054"/>
            <a:ext cx="11212738" cy="4329477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numCol="2" rtlCol="0" anchor="ctr"/>
          <a:lstStyle/>
          <a:p>
            <a:r>
              <a:rPr lang="en-AU" b="1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Existing work that this complements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b="1" kern="100" dirty="0">
              <a:solidFill>
                <a:srgbClr val="000000"/>
              </a:solidFill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Measuring effective tax rates in Australia.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kern="100" dirty="0">
              <a:solidFill>
                <a:srgbClr val="000000"/>
              </a:solidFill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Causes of tax variability.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Consolidated fiscal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kern="100" dirty="0">
              <a:solidFill>
                <a:srgbClr val="000000"/>
              </a:solidFill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Tax calculator/microsimulation design.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b="1" kern="100" dirty="0">
              <a:solidFill>
                <a:srgbClr val="000000"/>
              </a:solidFill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b="1" kern="100" dirty="0">
              <a:solidFill>
                <a:srgbClr val="000000"/>
              </a:solidFill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b="1" kern="100" dirty="0">
              <a:solidFill>
                <a:srgbClr val="000000"/>
              </a:solidFill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b="1" kern="100" dirty="0">
              <a:solidFill>
                <a:srgbClr val="000000"/>
              </a:solidFill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b="1" kern="100" dirty="0">
              <a:solidFill>
                <a:srgbClr val="000000"/>
              </a:solidFill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b="1" kern="100" dirty="0">
              <a:solidFill>
                <a:srgbClr val="000000"/>
              </a:solidFill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AU" b="1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 follow up piece could also be valuable</a:t>
            </a:r>
          </a:p>
          <a:p>
            <a:endParaRPr lang="en-AU" b="1" kern="100" dirty="0">
              <a:solidFill>
                <a:srgbClr val="000000"/>
              </a:solidFill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Potential following research note: </a:t>
            </a: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Assessing how the distribution of tax rates changes as we “expand the </a:t>
            </a:r>
            <a:r>
              <a:rPr lang="en-AU" kern="100" dirty="0">
                <a:solidFill>
                  <a:srgbClr val="FF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income</a:t>
            </a: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AU" kern="100" dirty="0">
                <a:solidFill>
                  <a:srgbClr val="00B05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income unit </a:t>
            </a: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definition” (i.e. a version of </a:t>
            </a: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NZ Treasury, 2023</a:t>
            </a:r>
            <a:r>
              <a:rPr lang="en-AU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– but for Australia and in richer detail). </a:t>
            </a:r>
          </a:p>
        </p:txBody>
      </p:sp>
    </p:spTree>
    <p:extLst>
      <p:ext uri="{BB962C8B-B14F-4D97-AF65-F5344CB8AC3E}">
        <p14:creationId xmlns:p14="http://schemas.microsoft.com/office/powerpoint/2010/main" val="42335176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946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JRKMSIZCicbhc4bAXGX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e61 slide master">
  <a:themeElements>
    <a:clrScheme name="e61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F54"/>
      </a:accent1>
      <a:accent2>
        <a:srgbClr val="008080"/>
      </a:accent2>
      <a:accent3>
        <a:srgbClr val="33A7AB"/>
      </a:accent3>
      <a:accent4>
        <a:srgbClr val="FFA557"/>
      </a:accent4>
      <a:accent5>
        <a:srgbClr val="F88379"/>
      </a:accent5>
      <a:accent6>
        <a:srgbClr val="B40000"/>
      </a:accent6>
      <a:hlink>
        <a:srgbClr val="0563C1"/>
      </a:hlink>
      <a:folHlink>
        <a:srgbClr val="954F72"/>
      </a:folHlink>
    </a:clrScheme>
    <a:fontScheme name="Custom 2">
      <a:majorFont>
        <a:latin typeface="Proxima Nova Rg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19050">
          <a:noFill/>
          <a:prstDash val="sysDot"/>
          <a:headEnd type="none" w="med" len="med"/>
          <a:tailEnd type="none" w="med" len="med"/>
        </a:ln>
      </a:spPr>
      <a:bodyPr rtlCol="0" anchor="ctr"/>
      <a:lstStyle>
        <a:defPPr algn="ctr">
          <a:defRPr b="1" dirty="0" smtClean="0">
            <a:solidFill>
              <a:schemeClr val="bg1"/>
            </a:solidFill>
            <a:latin typeface="Graphik" panose="020B0503030202060203" pitchFamily="34" charset="77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9050">
          <a:solidFill>
            <a:schemeClr val="tx1"/>
          </a:solidFill>
          <a:prstDash val="solid"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oject launch.potx" id="{96B0715E-E69A-4329-A580-1CC36624B63A}" vid="{8337EB57-CE73-4251-8527-50481AEFFD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4025935-85eb-43e8-ab32-734675053e7f" xsi:nil="true"/>
    <lcf76f155ced4ddcb4097134ff3c332f xmlns="aa802c90-64f7-4260-a678-c5c09559402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A1619F266734FBC2B48FB95398739" ma:contentTypeVersion="19" ma:contentTypeDescription="Create a new document." ma:contentTypeScope="" ma:versionID="4848dd9a50024c17a02688cd4311ebe2">
  <xsd:schema xmlns:xsd="http://www.w3.org/2001/XMLSchema" xmlns:xs="http://www.w3.org/2001/XMLSchema" xmlns:p="http://schemas.microsoft.com/office/2006/metadata/properties" xmlns:ns2="aa802c90-64f7-4260-a678-c5c09559402a" xmlns:ns3="d4025935-85eb-43e8-ab32-734675053e7f" targetNamespace="http://schemas.microsoft.com/office/2006/metadata/properties" ma:root="true" ma:fieldsID="0ad8c098b16b46db123b628150ecfe9f" ns2:_="" ns3:_="">
    <xsd:import namespace="aa802c90-64f7-4260-a678-c5c09559402a"/>
    <xsd:import namespace="d4025935-85eb-43e8-ab32-734675053e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802c90-64f7-4260-a678-c5c0955940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bce0e04-9c7f-4626-8cb4-29f8b9ace2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025935-85eb-43e8-ab32-734675053e7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bd7d9116-efc1-484d-8b57-8af332a5bfd6}" ma:internalName="TaxCatchAll" ma:showField="CatchAllData" ma:web="d4025935-85eb-43e8-ab32-734675053e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36B762-179B-48EA-90B2-E74079BA15DE}">
  <ds:schemaRefs>
    <ds:schemaRef ds:uri="http://www.w3.org/XML/1998/namespace"/>
    <ds:schemaRef ds:uri="http://purl.org/dc/dcmitype/"/>
    <ds:schemaRef ds:uri="d4025935-85eb-43e8-ab32-734675053e7f"/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aa802c90-64f7-4260-a678-c5c09559402a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64AC8705-90DE-4586-8261-2FBB99C00A9B}">
  <ds:schemaRefs>
    <ds:schemaRef ds:uri="aa802c90-64f7-4260-a678-c5c09559402a"/>
    <ds:schemaRef ds:uri="d4025935-85eb-43e8-ab32-734675053e7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29E81E1-445C-4E91-8E35-C5BD736A3B7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</TotalTime>
  <Words>996</Words>
  <Application>Microsoft Office PowerPoint</Application>
  <PresentationFormat>Widescreen</PresentationFormat>
  <Paragraphs>168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Aptos</vt:lpstr>
      <vt:lpstr>Arial</vt:lpstr>
      <vt:lpstr>Calibri</vt:lpstr>
      <vt:lpstr>Graphik</vt:lpstr>
      <vt:lpstr>GT Sectra Fine</vt:lpstr>
      <vt:lpstr>Proxima Nova Rg</vt:lpstr>
      <vt:lpstr>System Font</vt:lpstr>
      <vt:lpstr>e61 slide master</vt:lpstr>
      <vt:lpstr>think-cell Slide</vt:lpstr>
      <vt:lpstr>Project: Comprehensive tax rates (research + calculator)</vt:lpstr>
      <vt:lpstr>Policy questions answered by the project</vt:lpstr>
      <vt:lpstr>Research questions</vt:lpstr>
      <vt:lpstr>Project details</vt:lpstr>
      <vt:lpstr>Timeline</vt:lpstr>
      <vt:lpstr>Forms a complementary part of a larger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Jack Buckley</dc:creator>
  <cp:lastModifiedBy>Matt Nolan</cp:lastModifiedBy>
  <cp:revision>19</cp:revision>
  <dcterms:created xsi:type="dcterms:W3CDTF">2022-09-20T23:20:20Z</dcterms:created>
  <dcterms:modified xsi:type="dcterms:W3CDTF">2026-09-02T05:26:01Z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0x010100E38A1619F266734FBC2B48FB95398739</vt:lpwstr>
  </property>
  <property fmtid="{D5CDD505-2E9C-101B-9397-08002B2CF9AE}" pid="3" name="MediaServiceImageTags">
    <vt:lpwstr/>
  </property>
</Properties>
</file>