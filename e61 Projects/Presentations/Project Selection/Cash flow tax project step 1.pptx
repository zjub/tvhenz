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1"/>
  </p:notesMasterIdLst>
  <p:handoutMasterIdLst>
    <p:handoutMasterId r:id="rId12"/>
  </p:handoutMasterIdLst>
  <p:sldIdLst>
    <p:sldId id="2147140441" r:id="rId5"/>
    <p:sldId id="2147140442" r:id="rId6"/>
    <p:sldId id="2147140443" r:id="rId7"/>
    <p:sldId id="2147140444" r:id="rId8"/>
    <p:sldId id="2147140445" r:id="rId9"/>
    <p:sldId id="2147140446" r:id="rId10"/>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5BA906-B677-4ED9-B365-ED690E2CB720}">
          <p14:sldIdLst>
            <p14:sldId id="2147140441"/>
            <p14:sldId id="2147140442"/>
            <p14:sldId id="2147140443"/>
            <p14:sldId id="2147140444"/>
            <p14:sldId id="2147140445"/>
            <p14:sldId id="214714044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12BB9-A5CF-D335-3301-776C81AF3ABE}" name="Lachlan Vass" initials="LV" userId="S::lachlan.vass@e61.in::3865f71c-c396-40c5-8390-2fc8d944de27" providerId="AD"/>
  <p188:author id="{34CD6AE3-4402-C73C-3D6D-D595530990B9}" name="Jack Buckley" initials="JB" userId="S::jack.buckley@e61.in::28ddcf48-0b29-47ef-8181-0ce27c074e2e" providerId="AD"/>
  <p188:author id="{71CA22F3-774C-2056-8AF6-7BA1CB40250A}" name="Sinn, Joshua" initials="SJ" userId="S::joshua.sinn@accenture.com::611c4376-2cbd-4772-b570-fe288a3c2a7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A7AB"/>
    <a:srgbClr val="004F54"/>
    <a:srgbClr val="2061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CECA5E-FA04-4419-A37C-A43DC4586FC6}" v="28" dt="2026-08-11T23:01:29.3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64" y="15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ron Wong" userId="9b852835-f139-41d1-84ae-d28de71d07d7" providerId="ADAL" clId="{54D47AB3-9660-4F67-B2F8-7AF030C4717F}"/>
    <pc:docChg chg="modSld">
      <pc:chgData name="Aaron Wong" userId="9b852835-f139-41d1-84ae-d28de71d07d7" providerId="ADAL" clId="{54D47AB3-9660-4F67-B2F8-7AF030C4717F}" dt="2026-08-11T23:01:10.840" v="6"/>
      <pc:docMkLst>
        <pc:docMk/>
      </pc:docMkLst>
      <pc:sldChg chg="modSp">
        <pc:chgData name="Aaron Wong" userId="9b852835-f139-41d1-84ae-d28de71d07d7" providerId="ADAL" clId="{54D47AB3-9660-4F67-B2F8-7AF030C4717F}" dt="2026-08-10T07:28:14.815" v="5"/>
        <pc:sldMkLst>
          <pc:docMk/>
          <pc:sldMk cId="2959611009" sldId="2147140441"/>
        </pc:sldMkLst>
        <pc:spChg chg="mod">
          <ac:chgData name="Aaron Wong" userId="9b852835-f139-41d1-84ae-d28de71d07d7" providerId="ADAL" clId="{54D47AB3-9660-4F67-B2F8-7AF030C4717F}" dt="2026-08-10T07:28:14.815" v="5"/>
          <ac:spMkLst>
            <pc:docMk/>
            <pc:sldMk cId="2959611009" sldId="2147140441"/>
            <ac:spMk id="4" creationId="{B3593C42-B351-C0AB-2A05-E91DA90F7B4F}"/>
          </ac:spMkLst>
        </pc:spChg>
        <pc:spChg chg="mod">
          <ac:chgData name="Aaron Wong" userId="9b852835-f139-41d1-84ae-d28de71d07d7" providerId="ADAL" clId="{54D47AB3-9660-4F67-B2F8-7AF030C4717F}" dt="2026-08-10T07:24:23.007" v="4"/>
          <ac:spMkLst>
            <pc:docMk/>
            <pc:sldMk cId="2959611009" sldId="2147140441"/>
            <ac:spMk id="8" creationId="{518BD0B9-B9CC-31A4-4F8F-15597FADFE1D}"/>
          </ac:spMkLst>
        </pc:spChg>
      </pc:sldChg>
      <pc:sldChg chg="modSp">
        <pc:chgData name="Aaron Wong" userId="9b852835-f139-41d1-84ae-d28de71d07d7" providerId="ADAL" clId="{54D47AB3-9660-4F67-B2F8-7AF030C4717F}" dt="2026-08-10T07:06:29.137" v="3"/>
        <pc:sldMkLst>
          <pc:docMk/>
          <pc:sldMk cId="2952283940" sldId="2147140442"/>
        </pc:sldMkLst>
        <pc:spChg chg="mod">
          <ac:chgData name="Aaron Wong" userId="9b852835-f139-41d1-84ae-d28de71d07d7" providerId="ADAL" clId="{54D47AB3-9660-4F67-B2F8-7AF030C4717F}" dt="2026-08-10T07:06:29.137" v="3"/>
          <ac:spMkLst>
            <pc:docMk/>
            <pc:sldMk cId="2952283940" sldId="2147140442"/>
            <ac:spMk id="7" creationId="{DA24D1ED-E4DB-76C4-A0D2-359E4C820BD2}"/>
          </ac:spMkLst>
        </pc:spChg>
      </pc:sldChg>
      <pc:sldChg chg="modSp">
        <pc:chgData name="Aaron Wong" userId="9b852835-f139-41d1-84ae-d28de71d07d7" providerId="ADAL" clId="{54D47AB3-9660-4F67-B2F8-7AF030C4717F}" dt="2026-08-10T07:05:18.972" v="2" actId="21"/>
        <pc:sldMkLst>
          <pc:docMk/>
          <pc:sldMk cId="268583722" sldId="2147140443"/>
        </pc:sldMkLst>
        <pc:graphicFrameChg chg="mod">
          <ac:chgData name="Aaron Wong" userId="9b852835-f139-41d1-84ae-d28de71d07d7" providerId="ADAL" clId="{54D47AB3-9660-4F67-B2F8-7AF030C4717F}" dt="2026-08-10T07:05:18.972" v="2" actId="21"/>
          <ac:graphicFrameMkLst>
            <pc:docMk/>
            <pc:sldMk cId="268583722" sldId="2147140443"/>
            <ac:graphicFrameMk id="5" creationId="{453B59AE-7A8C-8B22-0849-5539834FC0C0}"/>
          </ac:graphicFrameMkLst>
        </pc:graphicFrameChg>
      </pc:sldChg>
      <pc:sldChg chg="modSp">
        <pc:chgData name="Aaron Wong" userId="9b852835-f139-41d1-84ae-d28de71d07d7" providerId="ADAL" clId="{54D47AB3-9660-4F67-B2F8-7AF030C4717F}" dt="2026-08-10T04:09:52.711" v="1"/>
        <pc:sldMkLst>
          <pc:docMk/>
          <pc:sldMk cId="1107105898" sldId="2147140444"/>
        </pc:sldMkLst>
        <pc:spChg chg="mod">
          <ac:chgData name="Aaron Wong" userId="9b852835-f139-41d1-84ae-d28de71d07d7" providerId="ADAL" clId="{54D47AB3-9660-4F67-B2F8-7AF030C4717F}" dt="2026-08-10T04:09:52.711" v="1"/>
          <ac:spMkLst>
            <pc:docMk/>
            <pc:sldMk cId="1107105898" sldId="2147140444"/>
            <ac:spMk id="6" creationId="{E0997B5A-42B2-0A14-F28A-F07BA81A2EB5}"/>
          </ac:spMkLst>
        </pc:spChg>
      </pc:sldChg>
      <pc:sldChg chg="modSp">
        <pc:chgData name="Aaron Wong" userId="9b852835-f139-41d1-84ae-d28de71d07d7" providerId="ADAL" clId="{54D47AB3-9660-4F67-B2F8-7AF030C4717F}" dt="2026-08-11T23:01:10.840" v="6"/>
        <pc:sldMkLst>
          <pc:docMk/>
          <pc:sldMk cId="4233517656" sldId="2147140446"/>
        </pc:sldMkLst>
        <pc:spChg chg="mod">
          <ac:chgData name="Aaron Wong" userId="9b852835-f139-41d1-84ae-d28de71d07d7" providerId="ADAL" clId="{54D47AB3-9660-4F67-B2F8-7AF030C4717F}" dt="2026-08-11T23:01:10.840" v="6"/>
          <ac:spMkLst>
            <pc:docMk/>
            <pc:sldMk cId="4233517656" sldId="2147140446"/>
            <ac:spMk id="6" creationId="{26676666-88DA-C4BA-9853-D0628643EA92}"/>
          </ac:spMkLst>
        </pc:spChg>
      </pc:sldChg>
    </pc:docChg>
  </pc:docChgLst>
  <pc:docChgLst>
    <pc:chgData name="Matt Nolan" userId="a62ef2e7-69e7-438f-a0a1-6155e204b9f1" providerId="ADAL" clId="{16A71CBC-F0C9-40C8-8A77-88CBC989E3DB}"/>
    <pc:docChg chg="custSel addSld modSld sldOrd modSection">
      <pc:chgData name="Matt Nolan" userId="a62ef2e7-69e7-438f-a0a1-6155e204b9f1" providerId="ADAL" clId="{16A71CBC-F0C9-40C8-8A77-88CBC989E3DB}" dt="2026-08-10T10:17:42.033" v="1382" actId="20577"/>
      <pc:docMkLst>
        <pc:docMk/>
      </pc:docMkLst>
      <pc:sldChg chg="modSp mod">
        <pc:chgData name="Matt Nolan" userId="a62ef2e7-69e7-438f-a0a1-6155e204b9f1" providerId="ADAL" clId="{16A71CBC-F0C9-40C8-8A77-88CBC989E3DB}" dt="2026-08-10T08:15:33.089" v="203" actId="33524"/>
        <pc:sldMkLst>
          <pc:docMk/>
          <pc:sldMk cId="2959611009" sldId="2147140441"/>
        </pc:sldMkLst>
        <pc:spChg chg="mod">
          <ac:chgData name="Matt Nolan" userId="a62ef2e7-69e7-438f-a0a1-6155e204b9f1" providerId="ADAL" clId="{16A71CBC-F0C9-40C8-8A77-88CBC989E3DB}" dt="2026-08-10T08:15:33.089" v="203" actId="33524"/>
          <ac:spMkLst>
            <pc:docMk/>
            <pc:sldMk cId="2959611009" sldId="2147140441"/>
            <ac:spMk id="8" creationId="{518BD0B9-B9CC-31A4-4F8F-15597FADFE1D}"/>
          </ac:spMkLst>
        </pc:spChg>
      </pc:sldChg>
      <pc:sldChg chg="modSp mod">
        <pc:chgData name="Matt Nolan" userId="a62ef2e7-69e7-438f-a0a1-6155e204b9f1" providerId="ADAL" clId="{16A71CBC-F0C9-40C8-8A77-88CBC989E3DB}" dt="2026-08-10T08:15:28.574" v="202" actId="20577"/>
        <pc:sldMkLst>
          <pc:docMk/>
          <pc:sldMk cId="1673472154" sldId="2147140445"/>
        </pc:sldMkLst>
        <pc:graphicFrameChg chg="modGraphic">
          <ac:chgData name="Matt Nolan" userId="a62ef2e7-69e7-438f-a0a1-6155e204b9f1" providerId="ADAL" clId="{16A71CBC-F0C9-40C8-8A77-88CBC989E3DB}" dt="2026-08-10T08:15:28.574" v="202" actId="20577"/>
          <ac:graphicFrameMkLst>
            <pc:docMk/>
            <pc:sldMk cId="1673472154" sldId="2147140445"/>
            <ac:graphicFrameMk id="5" creationId="{F007C9D4-5878-6E25-9938-4616E6B01EDE}"/>
          </ac:graphicFrameMkLst>
        </pc:graphicFrameChg>
      </pc:sldChg>
      <pc:sldChg chg="modSp add mod ord">
        <pc:chgData name="Matt Nolan" userId="a62ef2e7-69e7-438f-a0a1-6155e204b9f1" providerId="ADAL" clId="{16A71CBC-F0C9-40C8-8A77-88CBC989E3DB}" dt="2026-08-10T10:17:42.033" v="1382" actId="20577"/>
        <pc:sldMkLst>
          <pc:docMk/>
          <pc:sldMk cId="4233517656" sldId="2147140446"/>
        </pc:sldMkLst>
        <pc:spChg chg="mod">
          <ac:chgData name="Matt Nolan" userId="a62ef2e7-69e7-438f-a0a1-6155e204b9f1" providerId="ADAL" clId="{16A71CBC-F0C9-40C8-8A77-88CBC989E3DB}" dt="2026-08-10T10:04:48.398" v="228" actId="20577"/>
          <ac:spMkLst>
            <pc:docMk/>
            <pc:sldMk cId="4233517656" sldId="2147140446"/>
            <ac:spMk id="3" creationId="{BE41FC26-FB65-A2AC-1B52-CAE626F1A7B0}"/>
          </ac:spMkLst>
        </pc:spChg>
        <pc:spChg chg="mod">
          <ac:chgData name="Matt Nolan" userId="a62ef2e7-69e7-438f-a0a1-6155e204b9f1" providerId="ADAL" clId="{16A71CBC-F0C9-40C8-8A77-88CBC989E3DB}" dt="2026-08-10T10:17:42.033" v="1382" actId="20577"/>
          <ac:spMkLst>
            <pc:docMk/>
            <pc:sldMk cId="4233517656" sldId="2147140446"/>
            <ac:spMk id="6" creationId="{26676666-88DA-C4BA-9853-D0628643EA9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9F452D-FA17-885C-CC89-0DC68658B2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1B9CDAA-6A69-3DFF-BE4E-6602CC25B0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F87968-E7C3-4FA2-86D7-7CFDDCA2896A}" type="datetimeFigureOut">
              <a:rPr lang="en-US" smtClean="0"/>
              <a:t>9/2/2026</a:t>
            </a:fld>
            <a:endParaRPr lang="en-US"/>
          </a:p>
        </p:txBody>
      </p:sp>
      <p:sp>
        <p:nvSpPr>
          <p:cNvPr id="4" name="Footer Placeholder 3">
            <a:extLst>
              <a:ext uri="{FF2B5EF4-FFF2-40B4-BE49-F238E27FC236}">
                <a16:creationId xmlns:a16="http://schemas.microsoft.com/office/drawing/2014/main" id="{A60F01E9-DBAA-1EA2-4D9A-7E77B5DFA5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6DBB76F-B80E-EE0E-9F0D-2AC6378957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08A632-F1EE-40DC-8EB4-831F2F70E759}" type="slidenum">
              <a:rPr lang="en-US" smtClean="0"/>
              <a:t>‹#›</a:t>
            </a:fld>
            <a:endParaRPr lang="en-US"/>
          </a:p>
        </p:txBody>
      </p:sp>
    </p:spTree>
    <p:extLst>
      <p:ext uri="{BB962C8B-B14F-4D97-AF65-F5344CB8AC3E}">
        <p14:creationId xmlns:p14="http://schemas.microsoft.com/office/powerpoint/2010/main" val="34040771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6A7BE-E113-476D-8DE0-A6138461ACE1}" type="datetimeFigureOut">
              <a:rPr lang="en-US" smtClean="0"/>
              <a:t>9/2/2026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3F2214-1F6F-4D6B-854F-093941A8F696}" type="slidenum">
              <a:rPr lang="en-US" smtClean="0"/>
              <a:t>‹#›</a:t>
            </a:fld>
            <a:endParaRPr lang="en-US"/>
          </a:p>
        </p:txBody>
      </p:sp>
    </p:spTree>
    <p:extLst>
      <p:ext uri="{BB962C8B-B14F-4D97-AF65-F5344CB8AC3E}">
        <p14:creationId xmlns:p14="http://schemas.microsoft.com/office/powerpoint/2010/main" val="3308110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5.png"/><Relationship Id="rId4" Type="http://schemas.openxmlformats.org/officeDocument/2006/relationships/image" Target="../media/image4.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cker 1/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835446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cker 2/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46630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cker 3/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49267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cker 4/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127911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cker 5/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3606925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cker App">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1200">
                <a:solidFill>
                  <a:schemeClr val="tx1"/>
                </a:solidFill>
                <a:latin typeface="+mj-lt"/>
                <a:cs typeface="Arial" panose="020B0604020202020204" pitchFamily="34" charset="0"/>
              </a:rPr>
              <a:t>Appendix</a:t>
            </a:r>
            <a:endParaRPr lang="en-AU" sz="1200">
              <a:solidFill>
                <a:schemeClr val="tx1"/>
              </a:solidFill>
              <a:latin typeface="+mj-lt"/>
              <a:cs typeface="Arial" panose="020B0604020202020204" pitchFamily="34" charset="0"/>
            </a:endParaRPr>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34356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3827969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cker Alt 1/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922514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cker Alt 2/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1526356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cker Alt 3/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4079992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cker Alt 4/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483268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cker Alt 5/5">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27566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74556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2756601"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7447676" y="274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974581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cker Alt App">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9" name="Rectangle 8">
            <a:extLst>
              <a:ext uri="{FF2B5EF4-FFF2-40B4-BE49-F238E27FC236}">
                <a16:creationId xmlns:a16="http://schemas.microsoft.com/office/drawing/2014/main" id="{9C9EB9D1-14EF-8CB4-5D66-915D1D663FA7}"/>
              </a:ext>
            </a:extLst>
          </p:cNvPr>
          <p:cNvSpPr/>
          <p:nvPr userDrawn="1"/>
        </p:nvSpPr>
        <p:spPr>
          <a:xfrm>
            <a:off x="5106101"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Appendix</a:t>
            </a:r>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5102139" y="274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1538170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cker 1/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6664510"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1164627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cker 2/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6664510"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36403866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cker 3/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34356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641323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cker 4/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343770"/>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10" name="Rectangle 9">
            <a:extLst>
              <a:ext uri="{FF2B5EF4-FFF2-40B4-BE49-F238E27FC236}">
                <a16:creationId xmlns:a16="http://schemas.microsoft.com/office/drawing/2014/main" id="{97FB1B00-60DD-AE89-42C0-D20DA9257E77}"/>
              </a:ext>
            </a:extLst>
          </p:cNvPr>
          <p:cNvSpPr/>
          <p:nvPr userDrawn="1"/>
        </p:nvSpPr>
        <p:spPr>
          <a:xfrm>
            <a:off x="6672434"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Results</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18931"/>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343565"/>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6" name="Rectangle 15">
            <a:extLst>
              <a:ext uri="{FF2B5EF4-FFF2-40B4-BE49-F238E27FC236}">
                <a16:creationId xmlns:a16="http://schemas.microsoft.com/office/drawing/2014/main" id="{C6503FAF-4D61-241B-6D38-A468ADF7204E}"/>
              </a:ext>
            </a:extLst>
          </p:cNvPr>
          <p:cNvSpPr/>
          <p:nvPr userDrawn="1"/>
        </p:nvSpPr>
        <p:spPr>
          <a:xfrm>
            <a:off x="6664510" y="34356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343562"/>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9181775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cker Alt 1/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2995420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cker Alt 2/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1130912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cker Alt 3/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a:solidFill>
                  <a:schemeClr val="bg1">
                    <a:lumMod val="85000"/>
                  </a:schemeClr>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Tree>
    <p:extLst>
      <p:ext uri="{BB962C8B-B14F-4D97-AF65-F5344CB8AC3E}">
        <p14:creationId xmlns:p14="http://schemas.microsoft.com/office/powerpoint/2010/main" val="768705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cker Alt 4/4">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2" name="Rectangle 1">
            <a:extLst>
              <a:ext uri="{FF2B5EF4-FFF2-40B4-BE49-F238E27FC236}">
                <a16:creationId xmlns:a16="http://schemas.microsoft.com/office/drawing/2014/main" id="{CD4617C1-998F-BABB-B672-58757F8B49B4}"/>
              </a:ext>
            </a:extLst>
          </p:cNvPr>
          <p:cNvSpPr/>
          <p:nvPr userDrawn="1"/>
        </p:nvSpPr>
        <p:spPr>
          <a:xfrm>
            <a:off x="0" y="2949"/>
            <a:ext cx="12192000"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1"/>
          </a:p>
        </p:txBody>
      </p:sp>
      <p:sp>
        <p:nvSpPr>
          <p:cNvPr id="3" name="Rectangle 2">
            <a:extLst>
              <a:ext uri="{FF2B5EF4-FFF2-40B4-BE49-F238E27FC236}">
                <a16:creationId xmlns:a16="http://schemas.microsoft.com/office/drawing/2014/main" id="{FB4E814A-67AD-0376-8018-D396961209F9}"/>
              </a:ext>
            </a:extLst>
          </p:cNvPr>
          <p:cNvSpPr/>
          <p:nvPr userDrawn="1"/>
        </p:nvSpPr>
        <p:spPr>
          <a:xfrm>
            <a:off x="407100"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6" name="Rectangle 5">
            <a:extLst>
              <a:ext uri="{FF2B5EF4-FFF2-40B4-BE49-F238E27FC236}">
                <a16:creationId xmlns:a16="http://schemas.microsoft.com/office/drawing/2014/main" id="{60B0EECD-F4E6-FE01-373F-F6EF721113FE}"/>
              </a:ext>
            </a:extLst>
          </p:cNvPr>
          <p:cNvSpPr/>
          <p:nvPr userDrawn="1"/>
        </p:nvSpPr>
        <p:spPr>
          <a:xfrm>
            <a:off x="407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Introduction</a:t>
            </a:r>
          </a:p>
        </p:txBody>
      </p:sp>
      <p:sp>
        <p:nvSpPr>
          <p:cNvPr id="7" name="Rectangle 6">
            <a:extLst>
              <a:ext uri="{FF2B5EF4-FFF2-40B4-BE49-F238E27FC236}">
                <a16:creationId xmlns:a16="http://schemas.microsoft.com/office/drawing/2014/main" id="{B50D886A-7DD0-384E-66D1-7C73E4B404D2}"/>
              </a:ext>
            </a:extLst>
          </p:cNvPr>
          <p:cNvSpPr/>
          <p:nvPr userDrawn="1"/>
        </p:nvSpPr>
        <p:spPr>
          <a:xfrm>
            <a:off x="3539767"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Data</a:t>
            </a:r>
          </a:p>
        </p:txBody>
      </p:sp>
      <p:sp>
        <p:nvSpPr>
          <p:cNvPr id="9" name="Rectangle 8">
            <a:extLst>
              <a:ext uri="{FF2B5EF4-FFF2-40B4-BE49-F238E27FC236}">
                <a16:creationId xmlns:a16="http://schemas.microsoft.com/office/drawing/2014/main" id="{9C9EB9D1-14EF-8CB4-5D66-915D1D663FA7}"/>
              </a:ext>
            </a:extLst>
          </p:cNvPr>
          <p:cNvSpPr/>
          <p:nvPr userDrawn="1"/>
        </p:nvSpPr>
        <p:spPr>
          <a:xfrm>
            <a:off x="6672434"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bg1">
                    <a:lumMod val="85000"/>
                  </a:schemeClr>
                </a:solidFill>
                <a:latin typeface="+mj-lt"/>
                <a:cs typeface="Arial" panose="020B0604020202020204" pitchFamily="34" charset="0"/>
              </a:rPr>
              <a:t>Methodology</a:t>
            </a:r>
          </a:p>
        </p:txBody>
      </p:sp>
      <p:sp>
        <p:nvSpPr>
          <p:cNvPr id="11" name="Rectangle 10">
            <a:extLst>
              <a:ext uri="{FF2B5EF4-FFF2-40B4-BE49-F238E27FC236}">
                <a16:creationId xmlns:a16="http://schemas.microsoft.com/office/drawing/2014/main" id="{8B1D390B-CE01-6D47-0B58-0D1BA5C82FA5}"/>
              </a:ext>
            </a:extLst>
          </p:cNvPr>
          <p:cNvSpPr/>
          <p:nvPr userDrawn="1"/>
        </p:nvSpPr>
        <p:spPr>
          <a:xfrm>
            <a:off x="9805100" y="68807"/>
            <a:ext cx="1979801" cy="2931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AU" sz="1200">
                <a:solidFill>
                  <a:schemeClr val="tx1"/>
                </a:solidFill>
                <a:latin typeface="+mj-lt"/>
                <a:cs typeface="Arial" panose="020B0604020202020204" pitchFamily="34" charset="0"/>
              </a:rPr>
              <a:t>Conclusion</a:t>
            </a:r>
          </a:p>
        </p:txBody>
      </p:sp>
      <p:sp>
        <p:nvSpPr>
          <p:cNvPr id="13" name="Rectangle 12">
            <a:extLst>
              <a:ext uri="{FF2B5EF4-FFF2-40B4-BE49-F238E27FC236}">
                <a16:creationId xmlns:a16="http://schemas.microsoft.com/office/drawing/2014/main" id="{023BB1E6-BF42-C8B4-4A21-11143FDD27D8}"/>
              </a:ext>
            </a:extLst>
          </p:cNvPr>
          <p:cNvSpPr/>
          <p:nvPr userDrawn="1"/>
        </p:nvSpPr>
        <p:spPr>
          <a:xfrm>
            <a:off x="3535805" y="2744"/>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5" name="Rectangle 14">
            <a:extLst>
              <a:ext uri="{FF2B5EF4-FFF2-40B4-BE49-F238E27FC236}">
                <a16:creationId xmlns:a16="http://schemas.microsoft.com/office/drawing/2014/main" id="{3E295B5C-8C45-B6D5-118C-D92163FD82D9}"/>
              </a:ext>
            </a:extLst>
          </p:cNvPr>
          <p:cNvSpPr/>
          <p:nvPr userDrawn="1"/>
        </p:nvSpPr>
        <p:spPr>
          <a:xfrm>
            <a:off x="6664510" y="2743"/>
            <a:ext cx="1979801" cy="54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7" name="Rectangle 16">
            <a:extLst>
              <a:ext uri="{FF2B5EF4-FFF2-40B4-BE49-F238E27FC236}">
                <a16:creationId xmlns:a16="http://schemas.microsoft.com/office/drawing/2014/main" id="{910F1C8B-5896-88A6-5EDA-164A77B5481A}"/>
              </a:ext>
            </a:extLst>
          </p:cNvPr>
          <p:cNvSpPr/>
          <p:nvPr userDrawn="1"/>
        </p:nvSpPr>
        <p:spPr>
          <a:xfrm>
            <a:off x="9793214" y="2741"/>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Tree>
    <p:extLst>
      <p:ext uri="{BB962C8B-B14F-4D97-AF65-F5344CB8AC3E}">
        <p14:creationId xmlns:p14="http://schemas.microsoft.com/office/powerpoint/2010/main" val="3975366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Top Lef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
        <p:nvSpPr>
          <p:cNvPr id="9" name="Rectangle 8">
            <a:extLst>
              <a:ext uri="{FF2B5EF4-FFF2-40B4-BE49-F238E27FC236}">
                <a16:creationId xmlns:a16="http://schemas.microsoft.com/office/drawing/2014/main" id="{2CCB03E8-089D-0ACD-1D05-C59964D50E2F}"/>
              </a:ext>
            </a:extLst>
          </p:cNvPr>
          <p:cNvSpPr/>
          <p:nvPr userDrawn="1"/>
        </p:nvSpPr>
        <p:spPr>
          <a:xfrm>
            <a:off x="0" y="350761"/>
            <a:ext cx="1979801"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sz="1801"/>
          </a:p>
        </p:txBody>
      </p:sp>
      <p:sp>
        <p:nvSpPr>
          <p:cNvPr id="13" name="Text Placeholder 12">
            <a:extLst>
              <a:ext uri="{FF2B5EF4-FFF2-40B4-BE49-F238E27FC236}">
                <a16:creationId xmlns:a16="http://schemas.microsoft.com/office/drawing/2014/main" id="{42143CB0-80E3-8AB0-053D-E52E19E92F6F}"/>
              </a:ext>
            </a:extLst>
          </p:cNvPr>
          <p:cNvSpPr>
            <a:spLocks noGrp="1"/>
          </p:cNvSpPr>
          <p:nvPr>
            <p:ph type="body" sz="quarter" idx="12" hasCustomPrompt="1"/>
          </p:nvPr>
        </p:nvSpPr>
        <p:spPr>
          <a:xfrm>
            <a:off x="-199" y="26127"/>
            <a:ext cx="1980000" cy="29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200" smtClean="0">
                <a:solidFill>
                  <a:schemeClr val="tx1"/>
                </a:solidFill>
                <a:latin typeface="+mj-lt"/>
                <a:ea typeface="+mn-ea"/>
              </a:defRPr>
            </a:lvl1pPr>
            <a:lvl2pPr>
              <a:defRPr lang="en-US" sz="1800" smtClean="0">
                <a:solidFill>
                  <a:schemeClr val="lt1"/>
                </a:solidFill>
                <a:ea typeface="+mn-ea"/>
                <a:cs typeface="+mn-cs"/>
              </a:defRPr>
            </a:lvl2pPr>
            <a:lvl3pPr>
              <a:defRPr lang="en-US" sz="1800" smtClean="0">
                <a:solidFill>
                  <a:schemeClr val="lt1"/>
                </a:solidFill>
                <a:ea typeface="+mn-ea"/>
                <a:cs typeface="+mn-cs"/>
              </a:defRPr>
            </a:lvl3pPr>
            <a:lvl4pPr>
              <a:defRPr lang="en-US" sz="1800" smtClean="0">
                <a:solidFill>
                  <a:schemeClr val="lt1"/>
                </a:solidFill>
                <a:ea typeface="+mn-ea"/>
                <a:cs typeface="+mn-cs"/>
              </a:defRPr>
            </a:lvl4pPr>
            <a:lvl5pPr>
              <a:defRPr lang="en-AU" sz="1800">
                <a:solidFill>
                  <a:schemeClr val="lt1"/>
                </a:solidFill>
                <a:ea typeface="+mn-ea"/>
                <a:cs typeface="+mn-cs"/>
              </a:defRPr>
            </a:lvl5pPr>
          </a:lstStyle>
          <a:p>
            <a:pPr lvl="0" defTabSz="914400" latinLnBrk="0"/>
            <a:r>
              <a:rPr lang="en-US"/>
              <a:t>Section name here</a:t>
            </a:r>
            <a:endParaRPr lang="en-AU"/>
          </a:p>
        </p:txBody>
      </p:sp>
    </p:spTree>
    <p:extLst>
      <p:ext uri="{BB962C8B-B14F-4D97-AF65-F5344CB8AC3E}">
        <p14:creationId xmlns:p14="http://schemas.microsoft.com/office/powerpoint/2010/main" val="37276686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9027F242-DDAF-B053-93FE-EC12F9D0D99A}"/>
              </a:ext>
            </a:extLst>
          </p:cNvPr>
          <p:cNvGraphicFramePr>
            <a:graphicFrameLocks noChangeAspect="1"/>
          </p:cNvGraphicFramePr>
          <p:nvPr userDrawn="1">
            <p:custDataLst>
              <p:tags r:id="rId1"/>
            </p:custDataLst>
            <p:extLst>
              <p:ext uri="{D42A27DB-BD31-4B8C-83A1-F6EECF244321}">
                <p14:modId xmlns:p14="http://schemas.microsoft.com/office/powerpoint/2010/main" val="29329195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14" name="Object 13" hidden="1">
                        <a:extLst>
                          <a:ext uri="{FF2B5EF4-FFF2-40B4-BE49-F238E27FC236}">
                            <a16:creationId xmlns:a16="http://schemas.microsoft.com/office/drawing/2014/main" id="{9027F242-DDAF-B053-93FE-EC12F9D0D9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C15F1EE6-CC2E-D070-A90B-647278E14569}"/>
              </a:ext>
            </a:extLst>
          </p:cNvPr>
          <p:cNvSpPr>
            <a:spLocks noGrp="1"/>
          </p:cNvSpPr>
          <p:nvPr>
            <p:ph type="sldNum" sz="quarter" idx="10"/>
          </p:nvPr>
        </p:nvSpPr>
        <p:spPr/>
        <p:txBody>
          <a:bodyPr/>
          <a:lstStyle/>
          <a:p>
            <a:fld id="{4F9AC08D-23A9-440E-BCB9-AA1E9877CC38}" type="slidenum">
              <a:rPr lang="en-US" smtClean="0"/>
              <a:pPr/>
              <a:t>‹#›</a:t>
            </a:fld>
            <a:endParaRPr lang="en-US"/>
          </a:p>
        </p:txBody>
      </p:sp>
      <p:sp>
        <p:nvSpPr>
          <p:cNvPr id="5" name="Footer Placeholder 4">
            <a:extLst>
              <a:ext uri="{FF2B5EF4-FFF2-40B4-BE49-F238E27FC236}">
                <a16:creationId xmlns:a16="http://schemas.microsoft.com/office/drawing/2014/main" id="{A449CA66-3B81-6EAF-89CE-191E07E8994A}"/>
              </a:ext>
            </a:extLst>
          </p:cNvPr>
          <p:cNvSpPr>
            <a:spLocks noGrp="1"/>
          </p:cNvSpPr>
          <p:nvPr>
            <p:ph type="ftr" sz="quarter" idx="11"/>
          </p:nvPr>
        </p:nvSpPr>
        <p:spPr/>
        <p:txBody>
          <a:bodyPr/>
          <a:lstStyle/>
          <a:p>
            <a:r>
              <a:rPr lang="en-GB"/>
              <a:t>Source:</a:t>
            </a:r>
          </a:p>
        </p:txBody>
      </p:sp>
      <p:sp>
        <p:nvSpPr>
          <p:cNvPr id="12" name="Title 1">
            <a:extLst>
              <a:ext uri="{FF2B5EF4-FFF2-40B4-BE49-F238E27FC236}">
                <a16:creationId xmlns:a16="http://schemas.microsoft.com/office/drawing/2014/main" id="{F070BEA7-0BC2-CD56-A017-D27D458E7BA3}"/>
              </a:ext>
            </a:extLst>
          </p:cNvPr>
          <p:cNvSpPr>
            <a:spLocks noGrp="1"/>
          </p:cNvSpPr>
          <p:nvPr>
            <p:ph type="title"/>
          </p:nvPr>
        </p:nvSpPr>
        <p:spPr>
          <a:xfrm>
            <a:off x="370417" y="580221"/>
            <a:ext cx="11459365" cy="700597"/>
          </a:xfrm>
          <a:prstGeom prst="rect">
            <a:avLst/>
          </a:prstGeom>
        </p:spPr>
        <p:txBody>
          <a:bodyPr vert="horz"/>
          <a:lstStyle/>
          <a:p>
            <a:r>
              <a:rPr lang="en-US"/>
              <a:t>Click to edit Master title style</a:t>
            </a:r>
          </a:p>
        </p:txBody>
      </p:sp>
    </p:spTree>
    <p:extLst>
      <p:ext uri="{BB962C8B-B14F-4D97-AF65-F5344CB8AC3E}">
        <p14:creationId xmlns:p14="http://schemas.microsoft.com/office/powerpoint/2010/main" val="38426744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EF090DBB-DBAB-499B-B31E-9C5FEBA1D20C}"/>
              </a:ext>
            </a:extLst>
          </p:cNvPr>
          <p:cNvGraphicFramePr>
            <a:graphicFrameLocks noChangeAspect="1"/>
          </p:cNvGraphicFramePr>
          <p:nvPr userDrawn="1">
            <p:custDataLst>
              <p:tags r:id="rId1"/>
            </p:custDataLst>
            <p:extLst>
              <p:ext uri="{D42A27DB-BD31-4B8C-83A1-F6EECF244321}">
                <p14:modId xmlns:p14="http://schemas.microsoft.com/office/powerpoint/2010/main" val="24607693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1" imgH="381" progId="TCLayout.ActiveDocument.1">
                  <p:embed/>
                </p:oleObj>
              </mc:Choice>
              <mc:Fallback>
                <p:oleObj name="think-cell Slide" r:id="rId3" imgW="381" imgH="381" progId="TCLayout.ActiveDocument.1">
                  <p:embed/>
                  <p:pic>
                    <p:nvPicPr>
                      <p:cNvPr id="10" name="Object 9" hidden="1">
                        <a:extLst>
                          <a:ext uri="{FF2B5EF4-FFF2-40B4-BE49-F238E27FC236}">
                            <a16:creationId xmlns:a16="http://schemas.microsoft.com/office/drawing/2014/main" id="{EF090DBB-DBAB-499B-B31E-9C5FEBA1D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9" name="Rectangle 28">
            <a:extLst>
              <a:ext uri="{FF2B5EF4-FFF2-40B4-BE49-F238E27FC236}">
                <a16:creationId xmlns:a16="http://schemas.microsoft.com/office/drawing/2014/main" id="{2AED96BB-361A-4F3E-A7CB-D1560FDE9F21}"/>
              </a:ext>
            </a:extLst>
          </p:cNvPr>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1"/>
          </a:p>
        </p:txBody>
      </p:sp>
      <p:sp>
        <p:nvSpPr>
          <p:cNvPr id="2" name="Title 1">
            <a:extLst>
              <a:ext uri="{FF2B5EF4-FFF2-40B4-BE49-F238E27FC236}">
                <a16:creationId xmlns:a16="http://schemas.microsoft.com/office/drawing/2014/main" id="{8CD3CA51-1D19-4ADC-908F-13F64C03CB28}"/>
              </a:ext>
            </a:extLst>
          </p:cNvPr>
          <p:cNvSpPr>
            <a:spLocks noGrp="1"/>
          </p:cNvSpPr>
          <p:nvPr>
            <p:ph type="ctrTitle" hasCustomPrompt="1"/>
          </p:nvPr>
        </p:nvSpPr>
        <p:spPr>
          <a:xfrm>
            <a:off x="7207417" y="3925156"/>
            <a:ext cx="4698834" cy="1181862"/>
          </a:xfrm>
          <a:prstGeom prst="rect">
            <a:avLst/>
          </a:prstGeom>
        </p:spPr>
        <p:txBody>
          <a:bodyPr vert="horz" wrap="square" lIns="0" tIns="0" rIns="0" bIns="0" anchor="b">
            <a:spAutoFit/>
          </a:bodyPr>
          <a:lstStyle>
            <a:lvl1pPr algn="ctr">
              <a:defRPr sz="3200">
                <a:solidFill>
                  <a:schemeClr val="tx1">
                    <a:lumMod val="50000"/>
                    <a:lumOff val="50000"/>
                  </a:schemeClr>
                </a:solidFill>
              </a:defRPr>
            </a:lvl1pPr>
          </a:lstStyle>
          <a:p>
            <a:r>
              <a:rPr lang="en-US"/>
              <a:t>Place presentation title here in sentence case, max 3 lines </a:t>
            </a:r>
          </a:p>
        </p:txBody>
      </p:sp>
      <p:pic>
        <p:nvPicPr>
          <p:cNvPr id="7" name="Picture 6">
            <a:extLst>
              <a:ext uri="{FF2B5EF4-FFF2-40B4-BE49-F238E27FC236}">
                <a16:creationId xmlns:a16="http://schemas.microsoft.com/office/drawing/2014/main" id="{762FDB2B-16C1-4564-B415-DBBBCF0037B4}"/>
              </a:ext>
            </a:extLst>
          </p:cNvPr>
          <p:cNvPicPr>
            <a:picLocks noChangeAspect="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93811" y="1475802"/>
            <a:ext cx="2726046" cy="1953198"/>
          </a:xfrm>
          <a:prstGeom prst="rect">
            <a:avLst/>
          </a:prstGeom>
        </p:spPr>
      </p:pic>
      <p:sp>
        <p:nvSpPr>
          <p:cNvPr id="26" name="Text Placeholder 25">
            <a:extLst>
              <a:ext uri="{FF2B5EF4-FFF2-40B4-BE49-F238E27FC236}">
                <a16:creationId xmlns:a16="http://schemas.microsoft.com/office/drawing/2014/main" id="{44C01ECE-843C-4618-8C3A-082A62CB3D44}"/>
              </a:ext>
            </a:extLst>
          </p:cNvPr>
          <p:cNvSpPr>
            <a:spLocks noGrp="1"/>
          </p:cNvSpPr>
          <p:nvPr>
            <p:ph type="body" sz="quarter" idx="10" hasCustomPrompt="1"/>
          </p:nvPr>
        </p:nvSpPr>
        <p:spPr>
          <a:xfrm>
            <a:off x="7207417" y="5334153"/>
            <a:ext cx="4698834" cy="307777"/>
          </a:xfrm>
          <a:prstGeom prst="rect">
            <a:avLst/>
          </a:prstGeom>
        </p:spPr>
        <p:txBody>
          <a:bodyPr wrap="square" lIns="0" tIns="0" rIns="0" bIns="0">
            <a:spAutoFit/>
          </a:bodyPr>
          <a:lstStyle>
            <a:lvl1pPr marL="0" indent="0" algn="ctr">
              <a:buNone/>
              <a:defRPr sz="2000">
                <a:solidFill>
                  <a:schemeClr val="tx1">
                    <a:lumMod val="50000"/>
                    <a:lumOff val="50000"/>
                  </a:schemeClr>
                </a:solidFill>
              </a:defRPr>
            </a:lvl1pPr>
            <a:lvl2pPr marL="457206" indent="0">
              <a:buNone/>
              <a:defRPr/>
            </a:lvl2pPr>
            <a:lvl3pPr marL="914411" indent="0">
              <a:buNone/>
              <a:defRPr/>
            </a:lvl3pPr>
            <a:lvl4pPr marL="1371617" indent="0">
              <a:buNone/>
              <a:defRPr/>
            </a:lvl4pPr>
            <a:lvl5pPr marL="1828823" indent="0">
              <a:buNone/>
              <a:defRPr/>
            </a:lvl5pPr>
          </a:lstStyle>
          <a:p>
            <a:pPr lvl="0"/>
            <a:r>
              <a:rPr lang="en-US"/>
              <a:t>Event title – event date</a:t>
            </a:r>
          </a:p>
        </p:txBody>
      </p:sp>
      <p:sp>
        <p:nvSpPr>
          <p:cNvPr id="3" name="Picture Placeholder 7">
            <a:extLst>
              <a:ext uri="{FF2B5EF4-FFF2-40B4-BE49-F238E27FC236}">
                <a16:creationId xmlns:a16="http://schemas.microsoft.com/office/drawing/2014/main" id="{9F417C3A-BBD1-0EAC-6A37-12CE6587C5B9}"/>
              </a:ext>
            </a:extLst>
          </p:cNvPr>
          <p:cNvSpPr>
            <a:spLocks noGrp="1"/>
          </p:cNvSpPr>
          <p:nvPr>
            <p:ph type="pic" sz="quarter" idx="11" hasCustomPrompt="1"/>
          </p:nvPr>
        </p:nvSpPr>
        <p:spPr>
          <a:xfrm>
            <a:off x="1" y="0"/>
            <a:ext cx="6921666" cy="6858000"/>
          </a:xfrm>
          <a:prstGeom prst="rect">
            <a:avLst/>
          </a:prstGeom>
          <a:noFill/>
        </p:spPr>
        <p:txBody>
          <a:bodyPr anchor="ctr"/>
          <a:lstStyle>
            <a:lvl1pPr algn="ctr">
              <a:defRPr sz="3200"/>
            </a:lvl1pPr>
          </a:lstStyle>
          <a:p>
            <a:r>
              <a:rPr lang="en-US"/>
              <a:t>Insert image </a:t>
            </a:r>
          </a:p>
          <a:p>
            <a:r>
              <a:rPr lang="en-US"/>
              <a:t>(try: https://unsplash.com/)</a:t>
            </a:r>
          </a:p>
        </p:txBody>
      </p:sp>
    </p:spTree>
    <p:extLst>
      <p:ext uri="{BB962C8B-B14F-4D97-AF65-F5344CB8AC3E}">
        <p14:creationId xmlns:p14="http://schemas.microsoft.com/office/powerpoint/2010/main" val="2210043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a:prstGeom prst="rect">
            <a:avLst/>
          </a:prstGeom>
        </p:spPr>
        <p:txBody>
          <a:bodyPr/>
          <a:lstStyle>
            <a:lvl1pPr marL="0" indent="0">
              <a:lnSpc>
                <a:spcPct val="90000"/>
              </a:lnSpc>
              <a:buNone/>
              <a:defRPr sz="2400">
                <a:solidFill>
                  <a:schemeClr val="bg2"/>
                </a:solidFill>
                <a:latin typeface="GT Sectra Fine" panose="00000500000000000000" pitchFamily="50" charset="0"/>
              </a:defRPr>
            </a:lvl1pPr>
            <a:lvl2pPr marL="0" indent="0">
              <a:buNone/>
              <a:defRPr sz="1801"/>
            </a:lvl2pPr>
            <a:lvl3pPr marL="228604">
              <a:buFont typeface="Arial" panose="020B0604020202020204" pitchFamily="34" charset="0"/>
              <a:buChar char="•"/>
              <a:defRPr sz="1801"/>
            </a:lvl3pPr>
            <a:lvl4pPr marL="457206">
              <a:buFont typeface="System Font"/>
              <a:buChar char="–"/>
              <a:defRPr sz="1600"/>
            </a:lvl4pPr>
            <a:lvl5pPr marL="685809">
              <a:buFont typeface="Arial" panose="020B0604020202020204" pitchFamily="34" charset="0"/>
              <a:buChar char="•"/>
              <a:defRPr sz="1600"/>
            </a:lvl5pPr>
          </a:lstStyle>
          <a:p>
            <a:pPr lvl="0"/>
            <a:r>
              <a:rPr lang="en-US"/>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2" cy="810399"/>
          </a:xfrm>
          <a:prstGeom prst="rect">
            <a:avLst/>
          </a:prstGeom>
        </p:spPr>
        <p:txBody>
          <a:bodyPr/>
          <a:lstStyle/>
          <a:p>
            <a:r>
              <a:rPr lang="en-GB"/>
              <a:t>Agenda</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3" y="137160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3" y="1976479"/>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3" y="2581356"/>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3" y="3186234"/>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3" y="3791113"/>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3" y="439599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3" y="5000868"/>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3" y="5605747"/>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284358" y="137160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284358" y="1976479"/>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284358" y="2581356"/>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284358" y="3186234"/>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284358" y="3791113"/>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284358" y="439599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284358" y="5000868"/>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284358" y="5605747"/>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a:cxnSpLocks/>
          </p:cNvCxnSpPr>
          <p:nvPr userDrawn="1"/>
        </p:nvCxnSpPr>
        <p:spPr>
          <a:xfrm>
            <a:off x="4045241" y="1371601"/>
            <a:ext cx="0" cy="333274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9"/>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3"/>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8" cy="485340"/>
          </a:xfrm>
          <a:prstGeom prst="rect">
            <a:avLst/>
          </a:prstGeom>
        </p:spPr>
        <p:txBody>
          <a:bodyPr anchor="ctr"/>
          <a:lstStyle>
            <a:lvl1pPr>
              <a:spcAft>
                <a:spcPts val="0"/>
              </a:spcAft>
              <a:defRPr sz="1600"/>
            </a:lvl1pPr>
          </a:lstStyle>
          <a:p>
            <a:pPr lvl="0"/>
            <a:r>
              <a:rPr lang="en-GB"/>
              <a:t>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195094" y="137160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195094" y="1976479"/>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195094" y="2581356"/>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195094" y="3186234"/>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195094" y="3791113"/>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195094" y="4395990"/>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195094" y="5000868"/>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195094" y="5605747"/>
            <a:ext cx="558000" cy="485340"/>
          </a:xfrm>
          <a:prstGeom prst="rect">
            <a:avLst/>
          </a:prstGeom>
        </p:spPr>
        <p:txBody>
          <a:bodyPr anchor="ctr"/>
          <a:lstStyle>
            <a:lvl1pPr marL="0" marR="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sz="1801" b="1">
                <a:solidFill>
                  <a:schemeClr val="accent1"/>
                </a:solidFill>
              </a:defRPr>
            </a:lvl1pPr>
          </a:lstStyle>
          <a:p>
            <a:pPr marL="0" marR="0" lvl="0" indent="0" algn="ctr" defTabSz="228604"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4">
              <a:spcAft>
                <a:spcPts val="1200"/>
              </a:spcAft>
            </a:pPr>
            <a:endParaRPr lang="en-US" sz="1801" noProof="0"/>
          </a:p>
        </p:txBody>
      </p:sp>
    </p:spTree>
    <p:extLst>
      <p:ext uri="{BB962C8B-B14F-4D97-AF65-F5344CB8AC3E}">
        <p14:creationId xmlns:p14="http://schemas.microsoft.com/office/powerpoint/2010/main" val="2758299207"/>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accent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D8A76DE-ECA0-60F4-575C-02C4077408B5}"/>
              </a:ext>
            </a:extLst>
          </p:cNvPr>
          <p:cNvGraphicFramePr>
            <a:graphicFrameLocks noChangeAspect="1"/>
          </p:cNvGraphicFramePr>
          <p:nvPr userDrawn="1">
            <p:custDataLst>
              <p:tags r:id="rId1"/>
            </p:custDataLst>
            <p:extLst>
              <p:ext uri="{D42A27DB-BD31-4B8C-83A1-F6EECF244321}">
                <p14:modId xmlns:p14="http://schemas.microsoft.com/office/powerpoint/2010/main" val="3109254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4" name="Object 3" hidden="1">
                        <a:extLst>
                          <a:ext uri="{FF2B5EF4-FFF2-40B4-BE49-F238E27FC236}">
                            <a16:creationId xmlns:a16="http://schemas.microsoft.com/office/drawing/2014/main" id="{8D8A76DE-ECA0-60F4-575C-02C4077408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F7B9E7BD-B7D1-FF01-F546-0CADB6C2F4CC}"/>
              </a:ext>
            </a:extLst>
          </p:cNvPr>
          <p:cNvSpPr>
            <a:spLocks noGrp="1"/>
          </p:cNvSpPr>
          <p:nvPr>
            <p:ph type="body" sz="quarter" idx="10" hasCustomPrompt="1"/>
          </p:nvPr>
        </p:nvSpPr>
        <p:spPr>
          <a:xfrm>
            <a:off x="1225550" y="2909333"/>
            <a:ext cx="9389031" cy="1039334"/>
          </a:xfrm>
          <a:prstGeom prst="rect">
            <a:avLst/>
          </a:prstGeom>
        </p:spPr>
        <p:txBody>
          <a:bodyPr anchor="ctr"/>
          <a:lstStyle>
            <a:lvl1pPr>
              <a:defRPr sz="3200" b="1"/>
            </a:lvl1pPr>
          </a:lstStyle>
          <a:p>
            <a:pPr lvl="0"/>
            <a:r>
              <a:rPr lang="en-US"/>
              <a:t>## - Place section title here in sentence case, max 2 lines </a:t>
            </a:r>
          </a:p>
        </p:txBody>
      </p:sp>
    </p:spTree>
    <p:extLst>
      <p:ext uri="{BB962C8B-B14F-4D97-AF65-F5344CB8AC3E}">
        <p14:creationId xmlns:p14="http://schemas.microsoft.com/office/powerpoint/2010/main" val="60944569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BCE4D4F-8CCC-404C-840E-8A45E07645C2}"/>
              </a:ext>
            </a:extLst>
          </p:cNvPr>
          <p:cNvGraphicFramePr>
            <a:graphicFrameLocks noChangeAspect="1"/>
          </p:cNvGraphicFramePr>
          <p:nvPr userDrawn="1">
            <p:custDataLst>
              <p:tags r:id="rId27"/>
            </p:custDataLst>
            <p:extLst>
              <p:ext uri="{D42A27DB-BD31-4B8C-83A1-F6EECF244321}">
                <p14:modId xmlns:p14="http://schemas.microsoft.com/office/powerpoint/2010/main" val="105608378"/>
              </p:ext>
            </p:extLst>
          </p:nvPr>
        </p:nvGraphicFramePr>
        <p:xfrm>
          <a:off x="1588" y="1587"/>
          <a:ext cx="1589" cy="1588"/>
        </p:xfrm>
        <a:graphic>
          <a:graphicData uri="http://schemas.openxmlformats.org/presentationml/2006/ole">
            <mc:AlternateContent xmlns:mc="http://schemas.openxmlformats.org/markup-compatibility/2006">
              <mc:Choice xmlns:v="urn:schemas-microsoft-com:vml" Requires="v">
                <p:oleObj name="think-cell Slide" r:id="rId29" imgW="395" imgH="394" progId="TCLayout.ActiveDocument.1">
                  <p:embed/>
                </p:oleObj>
              </mc:Choice>
              <mc:Fallback>
                <p:oleObj name="think-cell Slide" r:id="rId29" imgW="395" imgH="394" progId="TCLayout.ActiveDocument.1">
                  <p:embed/>
                  <p:pic>
                    <p:nvPicPr>
                      <p:cNvPr id="5" name="Object 4" hidden="1">
                        <a:extLst>
                          <a:ext uri="{FF2B5EF4-FFF2-40B4-BE49-F238E27FC236}">
                            <a16:creationId xmlns:a16="http://schemas.microsoft.com/office/drawing/2014/main" id="{DBCE4D4F-8CCC-404C-840E-8A45E07645C2}"/>
                          </a:ext>
                        </a:extLst>
                      </p:cNvPr>
                      <p:cNvPicPr/>
                      <p:nvPr/>
                    </p:nvPicPr>
                    <p:blipFill>
                      <a:blip r:embed="rId30"/>
                      <a:stretch>
                        <a:fillRect/>
                      </a:stretch>
                    </p:blipFill>
                    <p:spPr>
                      <a:xfrm>
                        <a:off x="1588" y="1587"/>
                        <a:ext cx="1589"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DC4AAB9D-85C6-43AB-8696-D55AD6DDE24E}"/>
              </a:ext>
            </a:extLst>
          </p:cNvPr>
          <p:cNvSpPr/>
          <p:nvPr userDrawn="1">
            <p:custDataLst>
              <p:tags r:id="rId28"/>
            </p:custDataLst>
          </p:nvPr>
        </p:nvSpPr>
        <p:spPr>
          <a:xfrm>
            <a:off x="0" y="1"/>
            <a:ext cx="158812" cy="158713"/>
          </a:xfrm>
          <a:prstGeom prst="rect">
            <a:avLst/>
          </a:prstGeom>
          <a:solidFill>
            <a:schemeClr val="accent2"/>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wrap="none" lIns="0" tIns="0" rIns="0" bIns="0" numCol="1" spcCol="0" rtlCol="0" anchor="ctr" anchorCtr="0">
            <a:noAutofit/>
          </a:bodyPr>
          <a:lstStyle/>
          <a:p>
            <a:pPr marL="0" lvl="0" indent="0" algn="ctr"/>
            <a:endParaRPr lang="en-US" sz="3598" b="1" i="0" baseline="0">
              <a:solidFill>
                <a:schemeClr val="bg1"/>
              </a:solidFill>
              <a:latin typeface="Graphik" panose="020B0503030202060203" pitchFamily="34" charset="0"/>
              <a:cs typeface="Arial" panose="020B0604020202020204" pitchFamily="34" charset="0"/>
              <a:sym typeface="Graphik" panose="020B0503030202060203" pitchFamily="34" charset="0"/>
            </a:endParaRPr>
          </a:p>
        </p:txBody>
      </p:sp>
      <p:sp>
        <p:nvSpPr>
          <p:cNvPr id="8" name="Slide Number Placeholder 9">
            <a:extLst>
              <a:ext uri="{FF2B5EF4-FFF2-40B4-BE49-F238E27FC236}">
                <a16:creationId xmlns:a16="http://schemas.microsoft.com/office/drawing/2014/main" id="{E029236F-8D4F-46BA-A33A-11E2F113A78C}"/>
              </a:ext>
            </a:extLst>
          </p:cNvPr>
          <p:cNvSpPr>
            <a:spLocks noGrp="1"/>
          </p:cNvSpPr>
          <p:nvPr>
            <p:ph type="sldNum" sz="quarter" idx="4"/>
          </p:nvPr>
        </p:nvSpPr>
        <p:spPr>
          <a:xfrm flipH="1">
            <a:off x="10946922" y="6401006"/>
            <a:ext cx="561476" cy="273402"/>
          </a:xfrm>
          <a:prstGeom prst="rect">
            <a:avLst/>
          </a:prstGeom>
        </p:spPr>
        <p:txBody>
          <a:bodyPr tIns="0" bIns="0" anchor="b"/>
          <a:lstStyle>
            <a:lvl1pPr algn="l">
              <a:defRPr sz="1001" b="0">
                <a:solidFill>
                  <a:schemeClr val="tx1"/>
                </a:solidFill>
                <a:latin typeface="+mj-lt"/>
              </a:defRPr>
            </a:lvl1pPr>
          </a:lstStyle>
          <a:p>
            <a:fld id="{4F9AC08D-23A9-440E-BCB9-AA1E9877CC38}" type="slidenum">
              <a:rPr lang="en-US" smtClean="0"/>
              <a:pPr/>
              <a:t>‹#›</a:t>
            </a:fld>
            <a:endParaRPr lang="en-US"/>
          </a:p>
        </p:txBody>
      </p:sp>
      <p:sp>
        <p:nvSpPr>
          <p:cNvPr id="10" name="Footer Placeholder 6">
            <a:extLst>
              <a:ext uri="{FF2B5EF4-FFF2-40B4-BE49-F238E27FC236}">
                <a16:creationId xmlns:a16="http://schemas.microsoft.com/office/drawing/2014/main" id="{37E62055-3E0F-4EBB-A962-F9600119E4DA}"/>
              </a:ext>
            </a:extLst>
          </p:cNvPr>
          <p:cNvSpPr>
            <a:spLocks noGrp="1"/>
          </p:cNvSpPr>
          <p:nvPr>
            <p:ph type="ftr" sz="quarter" idx="3"/>
          </p:nvPr>
        </p:nvSpPr>
        <p:spPr>
          <a:xfrm>
            <a:off x="355739" y="6402651"/>
            <a:ext cx="3733634" cy="270112"/>
          </a:xfrm>
          <a:prstGeom prst="rect">
            <a:avLst/>
          </a:prstGeom>
        </p:spPr>
        <p:txBody>
          <a:bodyPr tIns="0" bIns="0" anchor="ctr"/>
          <a:lstStyle>
            <a:lvl1pPr algn="l">
              <a:defRPr sz="800">
                <a:solidFill>
                  <a:schemeClr val="tx1">
                    <a:alpha val="50000"/>
                  </a:schemeClr>
                </a:solidFill>
                <a:latin typeface="+mn-lt"/>
              </a:defRPr>
            </a:lvl1pPr>
          </a:lstStyle>
          <a:p>
            <a:r>
              <a:rPr lang="en-GB"/>
              <a:t>Source:</a:t>
            </a:r>
          </a:p>
        </p:txBody>
      </p:sp>
      <p:pic>
        <p:nvPicPr>
          <p:cNvPr id="9" name="Picture 8" descr="Logo&#10;&#10;Description automatically generated">
            <a:extLst>
              <a:ext uri="{FF2B5EF4-FFF2-40B4-BE49-F238E27FC236}">
                <a16:creationId xmlns:a16="http://schemas.microsoft.com/office/drawing/2014/main" id="{A66CE9E3-35BA-4A0B-8098-8A65954FE472}"/>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11478897" y="6393635"/>
            <a:ext cx="350924" cy="288147"/>
          </a:xfrm>
          <a:prstGeom prst="rect">
            <a:avLst/>
          </a:prstGeom>
        </p:spPr>
      </p:pic>
    </p:spTree>
    <p:extLst>
      <p:ext uri="{BB962C8B-B14F-4D97-AF65-F5344CB8AC3E}">
        <p14:creationId xmlns:p14="http://schemas.microsoft.com/office/powerpoint/2010/main" val="417098438"/>
      </p:ext>
    </p:extLst>
  </p:cSld>
  <p:clrMap bg1="lt1" tx1="dk1" bg2="lt2" tx2="dk2" accent1="accent1" accent2="accent2" accent3="accent3" accent4="accent4" accent5="accent5" accent6="accent6" hlink="hlink" folHlink="folHlink"/>
  <p:sldLayoutIdLst>
    <p:sldLayoutId id="2147483713" r:id="rId1"/>
    <p:sldLayoutId id="2147483720" r:id="rId2"/>
    <p:sldLayoutId id="2147483721" r:id="rId3"/>
    <p:sldLayoutId id="2147483722" r:id="rId4"/>
    <p:sldLayoutId id="2147483726" r:id="rId5"/>
    <p:sldLayoutId id="2147483740" r:id="rId6"/>
    <p:sldLayoutId id="2147483725" r:id="rId7"/>
    <p:sldLayoutId id="2147483727" r:id="rId8"/>
    <p:sldLayoutId id="2147483728" r:id="rId9"/>
    <p:sldLayoutId id="2147483729" r:id="rId10"/>
    <p:sldLayoutId id="2147483730" r:id="rId11"/>
    <p:sldLayoutId id="2147483739" r:id="rId12"/>
    <p:sldLayoutId id="2147483735" r:id="rId13"/>
    <p:sldLayoutId id="2147483736" r:id="rId14"/>
    <p:sldLayoutId id="2147483737" r:id="rId15"/>
    <p:sldLayoutId id="2147483738" r:id="rId16"/>
    <p:sldLayoutId id="2147483731" r:id="rId17"/>
    <p:sldLayoutId id="2147483732" r:id="rId18"/>
    <p:sldLayoutId id="2147483733" r:id="rId19"/>
    <p:sldLayoutId id="2147483734" r:id="rId20"/>
    <p:sldLayoutId id="2147483710" r:id="rId21"/>
    <p:sldLayoutId id="2147483719" r:id="rId22"/>
    <p:sldLayoutId id="2147483706" r:id="rId23"/>
    <p:sldLayoutId id="2147483707" r:id="rId24"/>
    <p:sldLayoutId id="2147483708" r:id="rId25"/>
  </p:sldLayoutIdLst>
  <p:hf hdr="0" ftr="0" dt="0"/>
  <p:txStyles>
    <p:titleStyle>
      <a:lvl1pPr algn="l" rtl="0" eaLnBrk="1" fontAlgn="base" hangingPunct="1">
        <a:lnSpc>
          <a:spcPct val="80000"/>
        </a:lnSpc>
        <a:spcBef>
          <a:spcPct val="0"/>
        </a:spcBef>
        <a:spcAft>
          <a:spcPct val="0"/>
        </a:spcAft>
        <a:buFont typeface="Arial" charset="0"/>
        <a:defRPr lang="en-AU" sz="2800" b="1" i="0" kern="1200" cap="none" spc="-149" baseline="0" dirty="0" smtClean="0">
          <a:solidFill>
            <a:schemeClr val="tx1"/>
          </a:solidFill>
          <a:latin typeface="+mj-lt"/>
          <a:ea typeface="Roboto Black" panose="02000000000000000000" pitchFamily="2" charset="0"/>
          <a:cs typeface="Arial" panose="020B0604020202020204" pitchFamily="34" charset="0"/>
        </a:defRPr>
      </a:lvl1pPr>
      <a:lvl2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2pPr>
      <a:lvl3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3pPr>
      <a:lvl4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4pPr>
      <a:lvl5pPr algn="l" rtl="0" eaLnBrk="1" fontAlgn="base" hangingPunct="1">
        <a:lnSpc>
          <a:spcPts val="3465"/>
        </a:lnSpc>
        <a:spcBef>
          <a:spcPct val="0"/>
        </a:spcBef>
        <a:spcAft>
          <a:spcPct val="0"/>
        </a:spcAft>
        <a:buFont typeface="Arial" charset="0"/>
        <a:defRPr sz="3198">
          <a:solidFill>
            <a:schemeClr val="tx1"/>
          </a:solidFill>
          <a:latin typeface="Arial" pitchFamily="-105" charset="-52"/>
          <a:ea typeface="Arial" pitchFamily="-105" charset="-52"/>
          <a:cs typeface="Arial" pitchFamily="-105" charset="-52"/>
        </a:defRPr>
      </a:lvl5pPr>
      <a:lvl6pPr marL="609329"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6pPr>
      <a:lvl7pPr marL="1218657"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7pPr>
      <a:lvl8pPr marL="1827986"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8pPr>
      <a:lvl9pPr marL="2437314" algn="l" rtl="0" eaLnBrk="1" fontAlgn="base" hangingPunct="1">
        <a:spcBef>
          <a:spcPct val="0"/>
        </a:spcBef>
        <a:spcAft>
          <a:spcPct val="0"/>
        </a:spcAft>
        <a:buFont typeface="Arial" pitchFamily="-105" charset="-52"/>
        <a:defRPr sz="3499">
          <a:solidFill>
            <a:schemeClr val="tx1"/>
          </a:solidFill>
          <a:latin typeface="Arial" pitchFamily="-105" charset="-52"/>
          <a:ea typeface="Arial" pitchFamily="-105" charset="-52"/>
          <a:cs typeface="Arial" pitchFamily="-105" charset="-52"/>
        </a:defRPr>
      </a:lvl9pPr>
    </p:titleStyle>
    <p:bodyStyle>
      <a:lvl1pPr marL="0" indent="0" algn="l" rtl="0" eaLnBrk="1" fontAlgn="base" hangingPunct="1">
        <a:lnSpc>
          <a:spcPct val="100000"/>
        </a:lnSpc>
        <a:spcBef>
          <a:spcPts val="601"/>
        </a:spcBef>
        <a:spcAft>
          <a:spcPct val="0"/>
        </a:spcAft>
        <a:buFont typeface="Arial" pitchFamily="34" charset="0"/>
        <a:buNone/>
        <a:defRPr sz="1801" b="0" i="0" kern="1200">
          <a:solidFill>
            <a:schemeClr val="tx1"/>
          </a:solidFill>
          <a:latin typeface="+mn-lt"/>
          <a:ea typeface="Roboto" panose="02000000000000000000" pitchFamily="2" charset="0"/>
          <a:cs typeface="Arial" panose="020B0604020202020204" pitchFamily="34" charset="0"/>
        </a:defRPr>
      </a:lvl1pPr>
      <a:lvl2pPr marL="215960" indent="-215960" algn="l" rtl="0" eaLnBrk="1" fontAlgn="base" hangingPunct="1">
        <a:lnSpc>
          <a:spcPct val="100000"/>
        </a:lnSpc>
        <a:spcBef>
          <a:spcPts val="601"/>
        </a:spcBef>
        <a:spcAft>
          <a:spcPct val="0"/>
        </a:spcAft>
        <a:buFont typeface="Arial" pitchFamily="34" charset="0"/>
        <a:buChar char="•"/>
        <a:defRPr sz="1801" b="0" i="0" kern="1200">
          <a:solidFill>
            <a:schemeClr val="tx1"/>
          </a:solidFill>
          <a:latin typeface="+mn-lt"/>
          <a:ea typeface="Roboto" panose="02000000000000000000" pitchFamily="2" charset="0"/>
          <a:cs typeface="Arial" panose="020B0604020202020204" pitchFamily="34" charset="0"/>
        </a:defRPr>
      </a:lvl2pPr>
      <a:lvl3pPr marL="431920" indent="-215960" algn="l" rtl="0" eaLnBrk="1" fontAlgn="base" hangingPunct="1">
        <a:lnSpc>
          <a:spcPct val="100000"/>
        </a:lnSpc>
        <a:spcBef>
          <a:spcPts val="601"/>
        </a:spcBef>
        <a:spcAft>
          <a:spcPct val="0"/>
        </a:spcAft>
        <a:buFont typeface="Arial" pitchFamily="34" charset="0"/>
        <a:buChar char="‒"/>
        <a:tabLst/>
        <a:defRPr sz="1801" b="0" i="0" kern="1200">
          <a:solidFill>
            <a:schemeClr val="tx1"/>
          </a:solidFill>
          <a:latin typeface="+mn-lt"/>
          <a:ea typeface="Roboto" panose="02000000000000000000" pitchFamily="2" charset="0"/>
          <a:cs typeface="Arial" panose="020B0604020202020204" pitchFamily="34" charset="0"/>
        </a:defRPr>
      </a:lvl3pPr>
      <a:lvl4pPr marL="611885" indent="-215960" algn="l" rtl="0" eaLnBrk="1" fontAlgn="base" hangingPunct="1">
        <a:lnSpc>
          <a:spcPct val="100000"/>
        </a:lnSpc>
        <a:spcBef>
          <a:spcPts val="601"/>
        </a:spcBef>
        <a:spcAft>
          <a:spcPct val="0"/>
        </a:spcAft>
        <a:buFont typeface="Arial" pitchFamily="34" charset="0"/>
        <a:buChar char="•"/>
        <a:defRPr sz="1801" b="0" i="0" kern="1200">
          <a:solidFill>
            <a:schemeClr val="tx1"/>
          </a:solidFill>
          <a:latin typeface="+mn-lt"/>
          <a:ea typeface="Roboto" panose="02000000000000000000" pitchFamily="2" charset="0"/>
          <a:cs typeface="Arial" panose="020B0604020202020204" pitchFamily="34" charset="0"/>
        </a:defRPr>
      </a:lvl4pPr>
      <a:lvl5pPr marL="863838" indent="-215960" algn="l" rtl="0" eaLnBrk="1" fontAlgn="base" hangingPunct="1">
        <a:lnSpc>
          <a:spcPct val="100000"/>
        </a:lnSpc>
        <a:spcBef>
          <a:spcPts val="601"/>
        </a:spcBef>
        <a:spcAft>
          <a:spcPct val="0"/>
        </a:spcAft>
        <a:buFont typeface="Arial" pitchFamily="34" charset="0"/>
        <a:buChar char="‒"/>
        <a:defRPr sz="1801" b="0" i="0" kern="1200">
          <a:solidFill>
            <a:schemeClr val="tx1"/>
          </a:solidFill>
          <a:latin typeface="+mn-lt"/>
          <a:ea typeface="Roboto" panose="02000000000000000000" pitchFamily="2" charset="0"/>
          <a:cs typeface="Arial" panose="020B0604020202020204" pitchFamily="34" charset="0"/>
        </a:defRPr>
      </a:lvl5pPr>
      <a:lvl6pPr marL="3351304"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6pPr>
      <a:lvl7pPr marL="3960634"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7pPr>
      <a:lvl8pPr marL="4569963"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8pPr>
      <a:lvl9pPr marL="5179290" indent="-304665" algn="l" defTabSz="1218657" rtl="0" eaLnBrk="1" latinLnBrk="0" hangingPunct="1">
        <a:spcBef>
          <a:spcPct val="20000"/>
        </a:spcBef>
        <a:buFont typeface="Arial" pitchFamily="34" charset="0"/>
        <a:buChar char="•"/>
        <a:defRPr sz="2699" kern="1200">
          <a:solidFill>
            <a:schemeClr val="tx1"/>
          </a:solidFill>
          <a:latin typeface="+mn-lt"/>
          <a:ea typeface="+mn-ea"/>
          <a:cs typeface="+mn-cs"/>
        </a:defRPr>
      </a:lvl9pPr>
    </p:bodyStyle>
    <p:otherStyle>
      <a:defPPr>
        <a:defRPr lang="en-US"/>
      </a:defPPr>
      <a:lvl1pPr marL="0" algn="l" defTabSz="1218657" rtl="0" eaLnBrk="1" latinLnBrk="0" hangingPunct="1">
        <a:defRPr sz="2400" kern="1200">
          <a:solidFill>
            <a:schemeClr val="tx1"/>
          </a:solidFill>
          <a:latin typeface="+mn-lt"/>
          <a:ea typeface="+mn-ea"/>
          <a:cs typeface="+mn-cs"/>
        </a:defRPr>
      </a:lvl1pPr>
      <a:lvl2pPr marL="609329" algn="l" defTabSz="1218657" rtl="0" eaLnBrk="1" latinLnBrk="0" hangingPunct="1">
        <a:defRPr sz="2400" kern="1200">
          <a:solidFill>
            <a:schemeClr val="tx1"/>
          </a:solidFill>
          <a:latin typeface="+mn-lt"/>
          <a:ea typeface="+mn-ea"/>
          <a:cs typeface="+mn-cs"/>
        </a:defRPr>
      </a:lvl2pPr>
      <a:lvl3pPr marL="1218657" algn="l" defTabSz="1218657" rtl="0" eaLnBrk="1" latinLnBrk="0" hangingPunct="1">
        <a:defRPr sz="2400" kern="1200">
          <a:solidFill>
            <a:schemeClr val="tx1"/>
          </a:solidFill>
          <a:latin typeface="+mn-lt"/>
          <a:ea typeface="+mn-ea"/>
          <a:cs typeface="+mn-cs"/>
        </a:defRPr>
      </a:lvl3pPr>
      <a:lvl4pPr marL="1827986" algn="l" defTabSz="1218657" rtl="0" eaLnBrk="1" latinLnBrk="0" hangingPunct="1">
        <a:defRPr sz="2400" kern="1200">
          <a:solidFill>
            <a:schemeClr val="tx1"/>
          </a:solidFill>
          <a:latin typeface="+mn-lt"/>
          <a:ea typeface="+mn-ea"/>
          <a:cs typeface="+mn-cs"/>
        </a:defRPr>
      </a:lvl4pPr>
      <a:lvl5pPr marL="2437314" algn="l" defTabSz="1218657" rtl="0" eaLnBrk="1" latinLnBrk="0" hangingPunct="1">
        <a:defRPr sz="2400" kern="1200">
          <a:solidFill>
            <a:schemeClr val="tx1"/>
          </a:solidFill>
          <a:latin typeface="+mn-lt"/>
          <a:ea typeface="+mn-ea"/>
          <a:cs typeface="+mn-cs"/>
        </a:defRPr>
      </a:lvl5pPr>
      <a:lvl6pPr marL="3046643" algn="l" defTabSz="1218657" rtl="0" eaLnBrk="1" latinLnBrk="0" hangingPunct="1">
        <a:defRPr sz="2400" kern="1200">
          <a:solidFill>
            <a:schemeClr val="tx1"/>
          </a:solidFill>
          <a:latin typeface="+mn-lt"/>
          <a:ea typeface="+mn-ea"/>
          <a:cs typeface="+mn-cs"/>
        </a:defRPr>
      </a:lvl6pPr>
      <a:lvl7pPr marL="3655971" algn="l" defTabSz="1218657" rtl="0" eaLnBrk="1" latinLnBrk="0" hangingPunct="1">
        <a:defRPr sz="2400" kern="1200">
          <a:solidFill>
            <a:schemeClr val="tx1"/>
          </a:solidFill>
          <a:latin typeface="+mn-lt"/>
          <a:ea typeface="+mn-ea"/>
          <a:cs typeface="+mn-cs"/>
        </a:defRPr>
      </a:lvl7pPr>
      <a:lvl8pPr marL="4265298" algn="l" defTabSz="1218657" rtl="0" eaLnBrk="1" latinLnBrk="0" hangingPunct="1">
        <a:defRPr sz="2400" kern="1200">
          <a:solidFill>
            <a:schemeClr val="tx1"/>
          </a:solidFill>
          <a:latin typeface="+mn-lt"/>
          <a:ea typeface="+mn-ea"/>
          <a:cs typeface="+mn-cs"/>
        </a:defRPr>
      </a:lvl8pPr>
      <a:lvl9pPr marL="4874626" algn="l" defTabSz="121865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19" userDrawn="1">
          <p15:clr>
            <a:srgbClr val="F26B43"/>
          </p15:clr>
        </p15:guide>
        <p15:guide id="2" pos="226" userDrawn="1">
          <p15:clr>
            <a:srgbClr val="F26B43"/>
          </p15:clr>
        </p15:guide>
        <p15:guide id="3" pos="7452" userDrawn="1">
          <p15:clr>
            <a:srgbClr val="F26B43"/>
          </p15:clr>
        </p15:guide>
        <p15:guide id="4" pos="1276" userDrawn="1">
          <p15:clr>
            <a:srgbClr val="F26B43"/>
          </p15:clr>
        </p15:guide>
        <p15:guide id="5" pos="1460" userDrawn="1">
          <p15:clr>
            <a:srgbClr val="F26B43"/>
          </p15:clr>
        </p15:guide>
        <p15:guide id="6" pos="2514" userDrawn="1">
          <p15:clr>
            <a:srgbClr val="F26B43"/>
          </p15:clr>
        </p15:guide>
        <p15:guide id="7" pos="2697" userDrawn="1">
          <p15:clr>
            <a:srgbClr val="F26B43"/>
          </p15:clr>
        </p15:guide>
        <p15:guide id="8" pos="3929" userDrawn="1">
          <p15:clr>
            <a:srgbClr val="F26B43"/>
          </p15:clr>
        </p15:guide>
        <p15:guide id="9" pos="3748" userDrawn="1">
          <p15:clr>
            <a:srgbClr val="F26B43"/>
          </p15:clr>
        </p15:guide>
        <p15:guide id="10" pos="4981" userDrawn="1">
          <p15:clr>
            <a:srgbClr val="F26B43"/>
          </p15:clr>
        </p15:guide>
        <p15:guide id="11" pos="5163" userDrawn="1">
          <p15:clr>
            <a:srgbClr val="F26B43"/>
          </p15:clr>
        </p15:guide>
        <p15:guide id="12" pos="6219" userDrawn="1">
          <p15:clr>
            <a:srgbClr val="F26B43"/>
          </p15:clr>
        </p15:guide>
        <p15:guide id="13" pos="6398" userDrawn="1">
          <p15:clr>
            <a:srgbClr val="F26B43"/>
          </p15:clr>
        </p15:guide>
        <p15:guide id="14" orient="horz" pos="807" userDrawn="1">
          <p15:clr>
            <a:srgbClr val="F26B43"/>
          </p15:clr>
        </p15:guide>
        <p15:guide id="15" orient="horz" pos="876" userDrawn="1">
          <p15:clr>
            <a:srgbClr val="F26B43"/>
          </p15:clr>
        </p15:guide>
        <p15:guide id="16" orient="horz" pos="4031" userDrawn="1">
          <p15:clr>
            <a:srgbClr val="F26B43"/>
          </p15:clr>
        </p15:guide>
        <p15:guide id="17" orient="horz" pos="597" userDrawn="1">
          <p15:clr>
            <a:srgbClr val="F26B43"/>
          </p15:clr>
        </p15:guide>
        <p15:guide id="18" orient="horz" pos="2435" userDrawn="1">
          <p15:clr>
            <a:srgbClr val="F26B43"/>
          </p15:clr>
        </p15:guide>
        <p15:guide id="19" orient="horz" pos="3756" userDrawn="1">
          <p15:clr>
            <a:srgbClr val="F26B43"/>
          </p15:clr>
        </p15:guide>
        <p15:guide id="20" orient="horz" pos="419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hyperlink" Target="https://www.rba.gov.au/publications/bulletin/2023/sep/financial-health-and-employment-in-the-business-sector-a-non-linear-relationship.html" TargetMode="Externa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5B4AA0-A03C-D260-492E-37538AD70CCC}"/>
              </a:ext>
            </a:extLst>
          </p:cNvPr>
          <p:cNvSpPr>
            <a:spLocks noGrp="1"/>
          </p:cNvSpPr>
          <p:nvPr>
            <p:ph type="sldNum" sz="quarter" idx="10"/>
          </p:nvPr>
        </p:nvSpPr>
        <p:spPr/>
        <p:txBody>
          <a:bodyPr/>
          <a:lstStyle/>
          <a:p>
            <a:fld id="{4F9AC08D-23A9-440E-BCB9-AA1E9877CC38}" type="slidenum">
              <a:rPr lang="en-US" smtClean="0"/>
              <a:pPr/>
              <a:t>1</a:t>
            </a:fld>
            <a:endParaRPr lang="en-US"/>
          </a:p>
        </p:txBody>
      </p:sp>
      <p:sp>
        <p:nvSpPr>
          <p:cNvPr id="4" name="Title 3">
            <a:extLst>
              <a:ext uri="{FF2B5EF4-FFF2-40B4-BE49-F238E27FC236}">
                <a16:creationId xmlns:a16="http://schemas.microsoft.com/office/drawing/2014/main" id="{B3593C42-B351-C0AB-2A05-E91DA90F7B4F}"/>
              </a:ext>
            </a:extLst>
          </p:cNvPr>
          <p:cNvSpPr>
            <a:spLocks noGrp="1"/>
          </p:cNvSpPr>
          <p:nvPr>
            <p:ph type="title"/>
          </p:nvPr>
        </p:nvSpPr>
        <p:spPr/>
        <p:txBody>
          <a:bodyPr/>
          <a:lstStyle/>
          <a:p>
            <a:r>
              <a:rPr lang="en-AU" kern="100">
                <a:solidFill>
                  <a:srgbClr val="000000"/>
                </a:solidFill>
                <a:ea typeface="Aptos" panose="020B0004020202020204" pitchFamily="34" charset="0"/>
                <a:cs typeface="Times New Roman" panose="02020603050405020304" pitchFamily="18" charset="0"/>
              </a:rPr>
              <a:t>Project: The implications of replacing corporate tax with a cash flow tax</a:t>
            </a:r>
            <a:endParaRPr lang="en-AU"/>
          </a:p>
        </p:txBody>
      </p:sp>
      <p:sp>
        <p:nvSpPr>
          <p:cNvPr id="8" name="TextBox 7">
            <a:extLst>
              <a:ext uri="{FF2B5EF4-FFF2-40B4-BE49-F238E27FC236}">
                <a16:creationId xmlns:a16="http://schemas.microsoft.com/office/drawing/2014/main" id="{518BD0B9-B9CC-31A4-4F8F-15597FADFE1D}"/>
              </a:ext>
            </a:extLst>
          </p:cNvPr>
          <p:cNvSpPr txBox="1"/>
          <p:nvPr/>
        </p:nvSpPr>
        <p:spPr>
          <a:xfrm>
            <a:off x="370417" y="1646705"/>
            <a:ext cx="8453543" cy="4636590"/>
          </a:xfrm>
          <a:prstGeom prst="rect">
            <a:avLst/>
          </a:prstGeom>
          <a:noFill/>
        </p:spPr>
        <p:txBody>
          <a:bodyPr wrap="square">
            <a:spAutoFit/>
          </a:bodyPr>
          <a:lstStyle/>
          <a:p>
            <a:pPr>
              <a:lnSpc>
                <a:spcPct val="107000"/>
              </a:lnSpc>
              <a:spcAft>
                <a:spcPts val="800"/>
              </a:spcAft>
              <a:buNone/>
            </a:pPr>
            <a:r>
              <a:rPr lang="en-AU" b="1" kern="100">
                <a:solidFill>
                  <a:srgbClr val="000000"/>
                </a:solidFill>
                <a:effectLst/>
                <a:latin typeface="+mj-lt"/>
                <a:ea typeface="Aptos" panose="020B0004020202020204" pitchFamily="34" charset="0"/>
                <a:cs typeface="Times New Roman" panose="02020603050405020304" pitchFamily="18" charset="0"/>
              </a:rPr>
              <a:t>Alignment with e61 USP</a:t>
            </a:r>
          </a:p>
          <a:p>
            <a:pPr marL="171450" indent="-171450">
              <a:lnSpc>
                <a:spcPct val="107000"/>
              </a:lnSpc>
              <a:spcAft>
                <a:spcPts val="800"/>
              </a:spcAft>
              <a:buFont typeface="Arial" panose="020B0604020202020204" pitchFamily="34" charset="0"/>
              <a:buChar char="•"/>
            </a:pPr>
            <a:r>
              <a:rPr lang="en-AU" kern="100">
                <a:solidFill>
                  <a:srgbClr val="000000"/>
                </a:solidFill>
                <a:latin typeface="+mj-lt"/>
                <a:ea typeface="Aptos" panose="020B0004020202020204" pitchFamily="34" charset="0"/>
                <a:cs typeface="Times New Roman" panose="02020603050405020304" pitchFamily="18" charset="0"/>
              </a:rPr>
              <a:t>Opportunity to improve and empower the debate on a live policy question using high-quality research.</a:t>
            </a:r>
          </a:p>
          <a:p>
            <a:pPr marL="171450" indent="-171450">
              <a:lnSpc>
                <a:spcPct val="107000"/>
              </a:lnSpc>
              <a:spcAft>
                <a:spcPts val="800"/>
              </a:spcAft>
              <a:buFont typeface="Arial" panose="020B0604020202020204" pitchFamily="34" charset="0"/>
              <a:buChar char="•"/>
            </a:pPr>
            <a:r>
              <a:rPr lang="en-AU" kern="100">
                <a:solidFill>
                  <a:srgbClr val="000000"/>
                </a:solidFill>
                <a:effectLst/>
                <a:latin typeface="+mj-lt"/>
                <a:ea typeface="Aptos" panose="020B0004020202020204" pitchFamily="34" charset="0"/>
                <a:cs typeface="Times New Roman" panose="02020603050405020304" pitchFamily="18" charset="0"/>
              </a:rPr>
              <a:t>Policy area is economically large and is an active area of research.</a:t>
            </a:r>
          </a:p>
          <a:p>
            <a:pPr marL="171450" indent="-171450">
              <a:lnSpc>
                <a:spcPct val="107000"/>
              </a:lnSpc>
              <a:spcAft>
                <a:spcPts val="800"/>
              </a:spcAft>
              <a:buFont typeface="Arial" panose="020B0604020202020204" pitchFamily="34" charset="0"/>
              <a:buChar char="•"/>
            </a:pPr>
            <a:r>
              <a:rPr lang="en-AU" kern="100">
                <a:solidFill>
                  <a:srgbClr val="000000"/>
                </a:solidFill>
                <a:latin typeface="+mj-lt"/>
                <a:ea typeface="Aptos" panose="020B0004020202020204" pitchFamily="34" charset="0"/>
                <a:cs typeface="Times New Roman" panose="02020603050405020304" pitchFamily="18" charset="0"/>
              </a:rPr>
              <a:t>Existing microdata insights are limited, so we can make a large and unique contribution to the debate using microdata.</a:t>
            </a:r>
            <a:endParaRPr lang="en-AU" kern="100">
              <a:solidFill>
                <a:srgbClr val="000000"/>
              </a:solidFill>
              <a:effectLst/>
              <a:latin typeface="+mj-lt"/>
              <a:ea typeface="Aptos" panose="020B0004020202020204" pitchFamily="34" charset="0"/>
              <a:cs typeface="Times New Roman" panose="02020603050405020304" pitchFamily="18" charset="0"/>
            </a:endParaRPr>
          </a:p>
          <a:p>
            <a:pPr>
              <a:lnSpc>
                <a:spcPct val="107000"/>
              </a:lnSpc>
              <a:spcAft>
                <a:spcPts val="800"/>
              </a:spcAft>
              <a:buNone/>
            </a:pPr>
            <a:r>
              <a:rPr lang="en-AU" b="1" kern="100">
                <a:solidFill>
                  <a:srgbClr val="000000"/>
                </a:solidFill>
                <a:latin typeface="+mj-lt"/>
                <a:ea typeface="Aptos" panose="020B0004020202020204" pitchFamily="34" charset="0"/>
                <a:cs typeface="Times New Roman" panose="02020603050405020304" pitchFamily="18" charset="0"/>
              </a:rPr>
              <a:t>Will we learn something meaningful?</a:t>
            </a:r>
            <a:r>
              <a:rPr lang="en-AU" kern="100">
                <a:solidFill>
                  <a:srgbClr val="000000"/>
                </a:solidFill>
                <a:latin typeface="+mj-lt"/>
                <a:ea typeface="Aptos" panose="020B0004020202020204" pitchFamily="34" charset="0"/>
                <a:cs typeface="Times New Roman" panose="02020603050405020304" pitchFamily="18" charset="0"/>
              </a:rPr>
              <a:t> </a:t>
            </a:r>
            <a:endParaRPr lang="en-AU" i="1" kern="100">
              <a:solidFill>
                <a:srgbClr val="000000"/>
              </a:solidFill>
              <a:latin typeface="+mj-lt"/>
              <a:ea typeface="Aptos" panose="020B0004020202020204" pitchFamily="34" charset="0"/>
              <a:cs typeface="Times New Roman" panose="02020603050405020304" pitchFamily="18" charset="0"/>
            </a:endParaRPr>
          </a:p>
          <a:p>
            <a:pPr marL="171450" indent="-171450">
              <a:lnSpc>
                <a:spcPct val="107000"/>
              </a:lnSpc>
              <a:spcAft>
                <a:spcPts val="800"/>
              </a:spcAft>
              <a:buFont typeface="Arial" panose="020B0604020202020204" pitchFamily="34" charset="0"/>
              <a:buChar char="•"/>
            </a:pPr>
            <a:r>
              <a:rPr lang="en-AU" kern="100">
                <a:solidFill>
                  <a:srgbClr val="000000"/>
                </a:solidFill>
                <a:latin typeface="+mj-lt"/>
                <a:ea typeface="Aptos" panose="020B0004020202020204" pitchFamily="34" charset="0"/>
                <a:cs typeface="Times New Roman" panose="02020603050405020304" pitchFamily="18" charset="0"/>
              </a:rPr>
              <a:t>Yes, the project will close a knowledge gap around the economic outcomes of corporate taxation, and the relative economic benefits of a cash-flow tax reform. </a:t>
            </a:r>
          </a:p>
          <a:p>
            <a:pPr marL="171450" indent="-171450">
              <a:lnSpc>
                <a:spcPct val="107000"/>
              </a:lnSpc>
              <a:spcAft>
                <a:spcPts val="800"/>
              </a:spcAft>
              <a:buFont typeface="Arial" panose="020B0604020202020204" pitchFamily="34" charset="0"/>
              <a:buChar char="•"/>
            </a:pPr>
            <a:r>
              <a:rPr lang="en-AU" kern="100">
                <a:solidFill>
                  <a:srgbClr val="000000"/>
                </a:solidFill>
                <a:latin typeface="+mj-lt"/>
                <a:ea typeface="Aptos" panose="020B0004020202020204" pitchFamily="34" charset="0"/>
                <a:cs typeface="Times New Roman" panose="02020603050405020304" pitchFamily="18" charset="0"/>
              </a:rPr>
              <a:t>Using microdata allows us to better understand the </a:t>
            </a:r>
            <a:r>
              <a:rPr lang="en-AU" i="1" kern="100">
                <a:solidFill>
                  <a:srgbClr val="000000"/>
                </a:solidFill>
                <a:latin typeface="+mj-lt"/>
                <a:ea typeface="Aptos" panose="020B0004020202020204" pitchFamily="34" charset="0"/>
                <a:cs typeface="Times New Roman" panose="02020603050405020304" pitchFamily="18" charset="0"/>
              </a:rPr>
              <a:t>heterogeneity</a:t>
            </a:r>
            <a:r>
              <a:rPr lang="en-AU" kern="100">
                <a:solidFill>
                  <a:srgbClr val="000000"/>
                </a:solidFill>
                <a:latin typeface="+mj-lt"/>
                <a:ea typeface="Aptos" panose="020B0004020202020204" pitchFamily="34" charset="0"/>
                <a:cs typeface="Times New Roman" panose="02020603050405020304" pitchFamily="18" charset="0"/>
              </a:rPr>
              <a:t> of any reform and explore first order </a:t>
            </a:r>
            <a:r>
              <a:rPr lang="en-AU" i="1" kern="100">
                <a:solidFill>
                  <a:srgbClr val="000000"/>
                </a:solidFill>
                <a:latin typeface="+mj-lt"/>
                <a:ea typeface="Aptos" panose="020B0004020202020204" pitchFamily="34" charset="0"/>
                <a:cs typeface="Times New Roman" panose="02020603050405020304" pitchFamily="18" charset="0"/>
              </a:rPr>
              <a:t>transitional</a:t>
            </a:r>
            <a:r>
              <a:rPr lang="en-AU" kern="100">
                <a:solidFill>
                  <a:srgbClr val="000000"/>
                </a:solidFill>
                <a:latin typeface="+mj-lt"/>
                <a:ea typeface="Aptos" panose="020B0004020202020204" pitchFamily="34" charset="0"/>
                <a:cs typeface="Times New Roman" panose="02020603050405020304" pitchFamily="18" charset="0"/>
              </a:rPr>
              <a:t> questions that CGE models struggle with.</a:t>
            </a:r>
          </a:p>
          <a:p>
            <a:pPr marL="171450" indent="-171450">
              <a:lnSpc>
                <a:spcPct val="107000"/>
              </a:lnSpc>
              <a:spcAft>
                <a:spcPts val="800"/>
              </a:spcAft>
              <a:buFont typeface="Arial" panose="020B0604020202020204" pitchFamily="34" charset="0"/>
              <a:buChar char="•"/>
            </a:pPr>
            <a:endParaRPr lang="en-AU" kern="100">
              <a:solidFill>
                <a:srgbClr val="000000"/>
              </a:solidFill>
              <a:effectLst/>
              <a:latin typeface="+mj-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59611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E36377-C348-2F01-5FD5-D65C0FCD7294}"/>
              </a:ext>
            </a:extLst>
          </p:cNvPr>
          <p:cNvSpPr>
            <a:spLocks noGrp="1"/>
          </p:cNvSpPr>
          <p:nvPr>
            <p:ph type="sldNum" sz="quarter" idx="10"/>
          </p:nvPr>
        </p:nvSpPr>
        <p:spPr/>
        <p:txBody>
          <a:bodyPr/>
          <a:lstStyle/>
          <a:p>
            <a:fld id="{4F9AC08D-23A9-440E-BCB9-AA1E9877CC38}" type="slidenum">
              <a:rPr lang="en-US" smtClean="0"/>
              <a:pPr/>
              <a:t>2</a:t>
            </a:fld>
            <a:endParaRPr lang="en-US"/>
          </a:p>
        </p:txBody>
      </p:sp>
      <p:sp>
        <p:nvSpPr>
          <p:cNvPr id="3" name="Title 2">
            <a:extLst>
              <a:ext uri="{FF2B5EF4-FFF2-40B4-BE49-F238E27FC236}">
                <a16:creationId xmlns:a16="http://schemas.microsoft.com/office/drawing/2014/main" id="{88A43844-9D09-267B-7C02-9EC21CE0470A}"/>
              </a:ext>
            </a:extLst>
          </p:cNvPr>
          <p:cNvSpPr>
            <a:spLocks noGrp="1"/>
          </p:cNvSpPr>
          <p:nvPr>
            <p:ph type="title"/>
          </p:nvPr>
        </p:nvSpPr>
        <p:spPr/>
        <p:txBody>
          <a:bodyPr/>
          <a:lstStyle/>
          <a:p>
            <a:r>
              <a:rPr lang="en-AU"/>
              <a:t>Policy questions answered by the project</a:t>
            </a:r>
          </a:p>
        </p:txBody>
      </p:sp>
      <p:sp>
        <p:nvSpPr>
          <p:cNvPr id="7" name="TextBox 6">
            <a:extLst>
              <a:ext uri="{FF2B5EF4-FFF2-40B4-BE49-F238E27FC236}">
                <a16:creationId xmlns:a16="http://schemas.microsoft.com/office/drawing/2014/main" id="{DA24D1ED-E4DB-76C4-A0D2-359E4C820BD2}"/>
              </a:ext>
            </a:extLst>
          </p:cNvPr>
          <p:cNvSpPr txBox="1"/>
          <p:nvPr/>
        </p:nvSpPr>
        <p:spPr>
          <a:xfrm>
            <a:off x="370416" y="1280818"/>
            <a:ext cx="9907439" cy="4533998"/>
          </a:xfrm>
          <a:prstGeom prst="rect">
            <a:avLst/>
          </a:prstGeom>
          <a:noFill/>
        </p:spPr>
        <p:txBody>
          <a:bodyPr wrap="square">
            <a:spAutoFit/>
          </a:bodyPr>
          <a:lstStyle/>
          <a:p>
            <a:pPr>
              <a:lnSpc>
                <a:spcPct val="107000"/>
              </a:lnSpc>
              <a:spcAft>
                <a:spcPts val="800"/>
              </a:spcAft>
            </a:pPr>
            <a:r>
              <a:rPr lang="en-AU" b="1" kern="100">
                <a:solidFill>
                  <a:srgbClr val="000000"/>
                </a:solidFill>
                <a:ea typeface="Aptos" panose="020B0004020202020204" pitchFamily="34" charset="0"/>
                <a:cs typeface="Times New Roman" panose="02020603050405020304" pitchFamily="18" charset="0"/>
              </a:rPr>
              <a:t>Question: </a:t>
            </a:r>
            <a:r>
              <a:rPr lang="en-AU" i="1" kern="100">
                <a:solidFill>
                  <a:srgbClr val="000000"/>
                </a:solidFill>
                <a:ea typeface="Aptos" panose="020B0004020202020204" pitchFamily="34" charset="0"/>
                <a:cs typeface="Times New Roman" panose="02020603050405020304" pitchFamily="18" charset="0"/>
              </a:rPr>
              <a:t>What would be the implications of replacing the corporate tax with cash flow tax in Australia?</a:t>
            </a:r>
            <a:endParaRPr lang="en-AU" kern="100">
              <a:ea typeface="Aptos" panose="020B0004020202020204" pitchFamily="34" charset="0"/>
              <a:cs typeface="Times New Roman" panose="02020603050405020304" pitchFamily="18" charset="0"/>
            </a:endParaRPr>
          </a:p>
          <a:p>
            <a:pPr>
              <a:lnSpc>
                <a:spcPct val="107000"/>
              </a:lnSpc>
              <a:spcAft>
                <a:spcPts val="800"/>
              </a:spcAft>
              <a:buNone/>
            </a:pPr>
            <a:r>
              <a:rPr lang="en-AU" b="1" kern="100">
                <a:solidFill>
                  <a:srgbClr val="000000"/>
                </a:solidFill>
                <a:latin typeface="+mj-lt"/>
                <a:ea typeface="Aptos" panose="020B0004020202020204" pitchFamily="34" charset="0"/>
                <a:cs typeface="Times New Roman" panose="02020603050405020304" pitchFamily="18" charset="0"/>
              </a:rPr>
              <a:t>Why do we care?</a:t>
            </a:r>
          </a:p>
          <a:p>
            <a:pPr marL="285750" indent="-285750">
              <a:lnSpc>
                <a:spcPct val="107000"/>
              </a:lnSpc>
              <a:spcAft>
                <a:spcPts val="800"/>
              </a:spcAft>
              <a:buFont typeface="Arial" panose="020B0604020202020204" pitchFamily="34" charset="0"/>
              <a:buChar char="•"/>
            </a:pPr>
            <a:r>
              <a:rPr lang="en-AU" kern="100">
                <a:solidFill>
                  <a:srgbClr val="000000"/>
                </a:solidFill>
                <a:effectLst/>
                <a:latin typeface="+mj-lt"/>
                <a:ea typeface="Aptos" panose="020B0004020202020204" pitchFamily="34" charset="0"/>
                <a:cs typeface="Times New Roman" panose="02020603050405020304" pitchFamily="18" charset="0"/>
              </a:rPr>
              <a:t>Significant slowdown in productivity growth in Australia, </a:t>
            </a:r>
            <a:r>
              <a:rPr lang="en-AU" kern="100">
                <a:solidFill>
                  <a:srgbClr val="000000"/>
                </a:solidFill>
                <a:latin typeface="+mj-lt"/>
                <a:ea typeface="Aptos" panose="020B0004020202020204" pitchFamily="34" charset="0"/>
                <a:cs typeface="Times New Roman" panose="02020603050405020304" pitchFamily="18" charset="0"/>
              </a:rPr>
              <a:t>with concerns the </a:t>
            </a:r>
            <a:r>
              <a:rPr lang="en-AU" kern="100">
                <a:solidFill>
                  <a:srgbClr val="000000"/>
                </a:solidFill>
                <a:effectLst/>
                <a:latin typeface="+mj-lt"/>
                <a:ea typeface="Aptos" panose="020B0004020202020204" pitchFamily="34" charset="0"/>
                <a:cs typeface="Times New Roman" panose="02020603050405020304" pitchFamily="18" charset="0"/>
              </a:rPr>
              <a:t>tax system is contributing to this slowdown.</a:t>
            </a:r>
          </a:p>
          <a:p>
            <a:pPr marL="742950" lvl="1" indent="-285750">
              <a:lnSpc>
                <a:spcPct val="107000"/>
              </a:lnSpc>
              <a:spcAft>
                <a:spcPts val="800"/>
              </a:spcAft>
              <a:buFont typeface="Arial" panose="020B0604020202020204" pitchFamily="34" charset="0"/>
              <a:buChar char="•"/>
            </a:pPr>
            <a:r>
              <a:rPr lang="en-AU" kern="100">
                <a:solidFill>
                  <a:srgbClr val="000000"/>
                </a:solidFill>
                <a:latin typeface="+mj-lt"/>
                <a:ea typeface="Aptos" panose="020B0004020202020204" pitchFamily="34" charset="0"/>
                <a:cs typeface="Times New Roman" panose="02020603050405020304" pitchFamily="18" charset="0"/>
              </a:rPr>
              <a:t>Tax may not be the main driver, but the </a:t>
            </a:r>
            <a:r>
              <a:rPr lang="en-AU" kern="100">
                <a:solidFill>
                  <a:srgbClr val="000000"/>
                </a:solidFill>
                <a:effectLst/>
                <a:latin typeface="+mj-lt"/>
                <a:ea typeface="Aptos" panose="020B0004020202020204" pitchFamily="34" charset="0"/>
                <a:cs typeface="Times New Roman" panose="02020603050405020304" pitchFamily="18" charset="0"/>
              </a:rPr>
              <a:t>relative taxation of corporations affects investment decisions and entry into the Australian market.</a:t>
            </a:r>
          </a:p>
          <a:p>
            <a:pPr marL="285750" indent="-285750">
              <a:lnSpc>
                <a:spcPct val="107000"/>
              </a:lnSpc>
              <a:spcAft>
                <a:spcPts val="800"/>
              </a:spcAft>
              <a:buFont typeface="Arial" panose="020B0604020202020204" pitchFamily="34" charset="0"/>
              <a:buChar char="•"/>
            </a:pPr>
            <a:r>
              <a:rPr lang="en-AU" kern="100">
                <a:solidFill>
                  <a:srgbClr val="000000"/>
                </a:solidFill>
                <a:effectLst/>
                <a:latin typeface="+mj-lt"/>
                <a:ea typeface="Aptos" panose="020B0004020202020204" pitchFamily="34" charset="0"/>
                <a:cs typeface="Times New Roman" panose="02020603050405020304" pitchFamily="18" charset="0"/>
              </a:rPr>
              <a:t>Replacing the corporate tax system with a cash flow tax has been well canvassed by economists and regularly recommended for nearly 30 years. </a:t>
            </a:r>
          </a:p>
          <a:p>
            <a:pPr marL="742950" lvl="1" indent="-285750">
              <a:lnSpc>
                <a:spcPct val="107000"/>
              </a:lnSpc>
              <a:spcAft>
                <a:spcPts val="800"/>
              </a:spcAft>
              <a:buFont typeface="Arial" panose="020B0604020202020204" pitchFamily="34" charset="0"/>
              <a:buChar char="•"/>
            </a:pPr>
            <a:r>
              <a:rPr lang="en-AU" kern="100">
                <a:solidFill>
                  <a:srgbClr val="000000"/>
                </a:solidFill>
                <a:effectLst/>
                <a:latin typeface="+mj-lt"/>
                <a:ea typeface="Aptos" panose="020B0004020202020204" pitchFamily="34" charset="0"/>
                <a:cs typeface="Times New Roman" panose="02020603050405020304" pitchFamily="18" charset="0"/>
              </a:rPr>
              <a:t>But it has failed to get much play in public – due to unclear communication of the issues, and weak empirical evidence. </a:t>
            </a:r>
          </a:p>
          <a:p>
            <a:pPr marL="285750" indent="-285750">
              <a:lnSpc>
                <a:spcPct val="107000"/>
              </a:lnSpc>
              <a:spcAft>
                <a:spcPts val="800"/>
              </a:spcAft>
              <a:buFont typeface="Arial" panose="020B0604020202020204" pitchFamily="34" charset="0"/>
              <a:buChar char="•"/>
            </a:pPr>
            <a:r>
              <a:rPr lang="en-AU" kern="100">
                <a:solidFill>
                  <a:srgbClr val="000000"/>
                </a:solidFill>
                <a:effectLst/>
                <a:latin typeface="+mj-lt"/>
                <a:ea typeface="Aptos" panose="020B0004020202020204" pitchFamily="34" charset="0"/>
                <a:cs typeface="Times New Roman" panose="02020603050405020304" pitchFamily="18" charset="0"/>
              </a:rPr>
              <a:t>This project will be focused on adding to the evidence around such a reform using microdata, and then cleanly communicating the results to support appropriate reform.</a:t>
            </a:r>
            <a:endParaRPr lang="en-AU" kern="100">
              <a:effectLst/>
              <a:latin typeface="+mj-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952283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E67FA6-235F-4AF8-807E-0673EB11B4E1}"/>
              </a:ext>
            </a:extLst>
          </p:cNvPr>
          <p:cNvSpPr>
            <a:spLocks noGrp="1"/>
          </p:cNvSpPr>
          <p:nvPr>
            <p:ph type="sldNum" sz="quarter" idx="10"/>
          </p:nvPr>
        </p:nvSpPr>
        <p:spPr/>
        <p:txBody>
          <a:bodyPr/>
          <a:lstStyle/>
          <a:p>
            <a:fld id="{4F9AC08D-23A9-440E-BCB9-AA1E9877CC38}" type="slidenum">
              <a:rPr lang="en-US" smtClean="0"/>
              <a:pPr/>
              <a:t>3</a:t>
            </a:fld>
            <a:endParaRPr lang="en-US"/>
          </a:p>
        </p:txBody>
      </p:sp>
      <p:sp>
        <p:nvSpPr>
          <p:cNvPr id="3" name="Title 2">
            <a:extLst>
              <a:ext uri="{FF2B5EF4-FFF2-40B4-BE49-F238E27FC236}">
                <a16:creationId xmlns:a16="http://schemas.microsoft.com/office/drawing/2014/main" id="{5C90303D-F16C-59EE-B57C-B9371D7B5D5C}"/>
              </a:ext>
            </a:extLst>
          </p:cNvPr>
          <p:cNvSpPr>
            <a:spLocks noGrp="1"/>
          </p:cNvSpPr>
          <p:nvPr>
            <p:ph type="title"/>
          </p:nvPr>
        </p:nvSpPr>
        <p:spPr/>
        <p:txBody>
          <a:bodyPr/>
          <a:lstStyle/>
          <a:p>
            <a:r>
              <a:rPr lang="en-AU"/>
              <a:t>Research questions</a:t>
            </a:r>
          </a:p>
        </p:txBody>
      </p:sp>
      <p:sp>
        <p:nvSpPr>
          <p:cNvPr id="7" name="TextBox 6">
            <a:extLst>
              <a:ext uri="{FF2B5EF4-FFF2-40B4-BE49-F238E27FC236}">
                <a16:creationId xmlns:a16="http://schemas.microsoft.com/office/drawing/2014/main" id="{20A44814-A366-693A-D17B-7DB0BD710147}"/>
              </a:ext>
            </a:extLst>
          </p:cNvPr>
          <p:cNvSpPr txBox="1"/>
          <p:nvPr/>
        </p:nvSpPr>
        <p:spPr>
          <a:xfrm>
            <a:off x="370416" y="1505204"/>
            <a:ext cx="9148487" cy="3661067"/>
          </a:xfrm>
          <a:prstGeom prst="rect">
            <a:avLst/>
          </a:prstGeom>
          <a:noFill/>
        </p:spPr>
        <p:txBody>
          <a:bodyPr wrap="square">
            <a:spAutoFit/>
          </a:bodyPr>
          <a:lstStyle/>
          <a:p>
            <a:pPr>
              <a:lnSpc>
                <a:spcPct val="107000"/>
              </a:lnSpc>
              <a:spcAft>
                <a:spcPts val="800"/>
              </a:spcAft>
              <a:buNone/>
            </a:pPr>
            <a:r>
              <a:rPr lang="en-AU" kern="100">
                <a:solidFill>
                  <a:srgbClr val="000000"/>
                </a:solidFill>
                <a:effectLst/>
                <a:latin typeface="+mj-lt"/>
                <a:ea typeface="Aptos" panose="020B0004020202020204" pitchFamily="34" charset="0"/>
                <a:cs typeface="Times New Roman" panose="02020603050405020304" pitchFamily="18" charset="0"/>
              </a:rPr>
              <a:t>There are three key areas where evidence on a cash-flow tax is scant:</a:t>
            </a:r>
            <a:endParaRPr lang="en-AU" kern="100">
              <a:effectLst/>
              <a:latin typeface="+mj-lt"/>
              <a:ea typeface="Aptos" panose="020B0004020202020204" pitchFamily="34" charset="0"/>
              <a:cs typeface="Times New Roman" panose="02020603050405020304" pitchFamily="18" charset="0"/>
            </a:endParaRPr>
          </a:p>
          <a:p>
            <a:pPr marL="342900" lvl="0" indent="-342900">
              <a:lnSpc>
                <a:spcPct val="115000"/>
              </a:lnSpc>
              <a:buFont typeface="+mj-lt"/>
              <a:buAutoNum type="arabicParenR"/>
            </a:pPr>
            <a:r>
              <a:rPr lang="en-AU" kern="100">
                <a:solidFill>
                  <a:srgbClr val="000000"/>
                </a:solidFill>
                <a:effectLst/>
                <a:latin typeface="+mj-lt"/>
                <a:ea typeface="Aptos" panose="020B0004020202020204" pitchFamily="34" charset="0"/>
                <a:cs typeface="Times New Roman" panose="02020603050405020304" pitchFamily="18" charset="0"/>
              </a:rPr>
              <a:t>How would a </a:t>
            </a:r>
            <a:r>
              <a:rPr lang="en-AU" i="1" kern="100">
                <a:solidFill>
                  <a:srgbClr val="000000"/>
                </a:solidFill>
                <a:effectLst/>
                <a:latin typeface="+mj-lt"/>
                <a:ea typeface="Aptos" panose="020B0004020202020204" pitchFamily="34" charset="0"/>
                <a:cs typeface="Times New Roman" panose="02020603050405020304" pitchFamily="18" charset="0"/>
              </a:rPr>
              <a:t>revenue-neutral</a:t>
            </a:r>
            <a:r>
              <a:rPr lang="en-AU" kern="100">
                <a:solidFill>
                  <a:srgbClr val="000000"/>
                </a:solidFill>
                <a:effectLst/>
                <a:latin typeface="+mj-lt"/>
                <a:ea typeface="Aptos" panose="020B0004020202020204" pitchFamily="34" charset="0"/>
                <a:cs typeface="Times New Roman" panose="02020603050405020304" pitchFamily="18" charset="0"/>
              </a:rPr>
              <a:t> cash-flow tax change the tax treatment of different types of firms in Australia? How does this treatment interact with </a:t>
            </a:r>
            <a:r>
              <a:rPr lang="en-AU" i="1" kern="100">
                <a:solidFill>
                  <a:srgbClr val="000000"/>
                </a:solidFill>
                <a:effectLst/>
                <a:latin typeface="+mj-lt"/>
                <a:ea typeface="Aptos" panose="020B0004020202020204" pitchFamily="34" charset="0"/>
                <a:cs typeface="Times New Roman" panose="02020603050405020304" pitchFamily="18" charset="0"/>
              </a:rPr>
              <a:t>imputation</a:t>
            </a:r>
            <a:r>
              <a:rPr lang="en-AU" kern="100">
                <a:solidFill>
                  <a:srgbClr val="000000"/>
                </a:solidFill>
                <a:effectLst/>
                <a:latin typeface="+mj-lt"/>
                <a:ea typeface="Aptos" panose="020B0004020202020204" pitchFamily="34" charset="0"/>
                <a:cs typeface="Times New Roman" panose="02020603050405020304" pitchFamily="18" charset="0"/>
              </a:rPr>
              <a:t> (i.e. would this involve the end of franking credits)?</a:t>
            </a:r>
          </a:p>
          <a:p>
            <a:pPr marL="342900" lvl="0" indent="-342900">
              <a:lnSpc>
                <a:spcPct val="115000"/>
              </a:lnSpc>
              <a:buFont typeface="+mj-lt"/>
              <a:buAutoNum type="arabicParenR"/>
            </a:pPr>
            <a:endParaRPr lang="en-AU" kern="100">
              <a:effectLst/>
              <a:latin typeface="+mj-lt"/>
              <a:ea typeface="Aptos" panose="020B0004020202020204" pitchFamily="34" charset="0"/>
              <a:cs typeface="Times New Roman" panose="02020603050405020304" pitchFamily="18" charset="0"/>
            </a:endParaRPr>
          </a:p>
          <a:p>
            <a:pPr marL="342900" lvl="0" indent="-342900">
              <a:lnSpc>
                <a:spcPct val="115000"/>
              </a:lnSpc>
              <a:buFont typeface="+mj-lt"/>
              <a:buAutoNum type="arabicParenR"/>
            </a:pPr>
            <a:r>
              <a:rPr lang="en-AU" kern="100">
                <a:solidFill>
                  <a:srgbClr val="000000"/>
                </a:solidFill>
                <a:effectLst/>
                <a:latin typeface="+mj-lt"/>
                <a:ea typeface="Aptos" panose="020B0004020202020204" pitchFamily="34" charset="0"/>
                <a:cs typeface="Times New Roman" panose="02020603050405020304" pitchFamily="18" charset="0"/>
              </a:rPr>
              <a:t>What would be the overall, and distribution of, investment responses to the introduction of a cash flow tax? How would this change the estimate of the </a:t>
            </a:r>
            <a:r>
              <a:rPr lang="en-AU" i="1" kern="100">
                <a:solidFill>
                  <a:srgbClr val="000000"/>
                </a:solidFill>
                <a:effectLst/>
                <a:latin typeface="+mj-lt"/>
                <a:ea typeface="Aptos" panose="020B0004020202020204" pitchFamily="34" charset="0"/>
                <a:cs typeface="Times New Roman" panose="02020603050405020304" pitchFamily="18" charset="0"/>
              </a:rPr>
              <a:t>revenue-neutral tax rate</a:t>
            </a:r>
            <a:r>
              <a:rPr lang="en-AU" kern="100">
                <a:solidFill>
                  <a:srgbClr val="000000"/>
                </a:solidFill>
                <a:effectLst/>
                <a:latin typeface="+mj-lt"/>
                <a:ea typeface="Aptos" panose="020B0004020202020204" pitchFamily="34" charset="0"/>
                <a:cs typeface="Times New Roman" panose="02020603050405020304" pitchFamily="18" charset="0"/>
              </a:rPr>
              <a:t> needed in the long-run?</a:t>
            </a:r>
          </a:p>
          <a:p>
            <a:pPr marL="342900" lvl="0" indent="-342900">
              <a:lnSpc>
                <a:spcPct val="115000"/>
              </a:lnSpc>
              <a:buFont typeface="+mj-lt"/>
              <a:buAutoNum type="arabicParenR"/>
            </a:pPr>
            <a:endParaRPr lang="en-AU" kern="100">
              <a:effectLst/>
              <a:latin typeface="+mj-lt"/>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arenR"/>
            </a:pPr>
            <a:r>
              <a:rPr lang="en-AU" kern="100">
                <a:solidFill>
                  <a:srgbClr val="000000"/>
                </a:solidFill>
                <a:effectLst/>
                <a:latin typeface="+mj-lt"/>
                <a:ea typeface="Aptos" panose="020B0004020202020204" pitchFamily="34" charset="0"/>
                <a:cs typeface="Times New Roman" panose="02020603050405020304" pitchFamily="18" charset="0"/>
              </a:rPr>
              <a:t>How would different </a:t>
            </a:r>
            <a:r>
              <a:rPr lang="en-AU" i="1" kern="100">
                <a:solidFill>
                  <a:srgbClr val="000000"/>
                </a:solidFill>
                <a:effectLst/>
                <a:latin typeface="+mj-lt"/>
                <a:ea typeface="Aptos" panose="020B0004020202020204" pitchFamily="34" charset="0"/>
                <a:cs typeface="Times New Roman" panose="02020603050405020304" pitchFamily="18" charset="0"/>
              </a:rPr>
              <a:t>transitional arrangements</a:t>
            </a:r>
            <a:r>
              <a:rPr lang="en-AU" kern="100">
                <a:solidFill>
                  <a:srgbClr val="000000"/>
                </a:solidFill>
                <a:effectLst/>
                <a:latin typeface="+mj-lt"/>
                <a:ea typeface="Aptos" panose="020B0004020202020204" pitchFamily="34" charset="0"/>
                <a:cs typeface="Times New Roman" panose="02020603050405020304" pitchFamily="18" charset="0"/>
              </a:rPr>
              <a:t> impact on different firms and influence the governments bottom-line during the transition.</a:t>
            </a:r>
            <a:endParaRPr lang="en-AU" kern="100">
              <a:effectLst/>
              <a:latin typeface="+mj-l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68583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2C8EFA-8EDC-B3B9-4549-C0F7CE39D65E}"/>
              </a:ext>
            </a:extLst>
          </p:cNvPr>
          <p:cNvSpPr>
            <a:spLocks noGrp="1"/>
          </p:cNvSpPr>
          <p:nvPr>
            <p:ph type="sldNum" sz="quarter" idx="10"/>
          </p:nvPr>
        </p:nvSpPr>
        <p:spPr/>
        <p:txBody>
          <a:bodyPr/>
          <a:lstStyle/>
          <a:p>
            <a:fld id="{4F9AC08D-23A9-440E-BCB9-AA1E9877CC38}" type="slidenum">
              <a:rPr lang="en-US" smtClean="0"/>
              <a:pPr/>
              <a:t>4</a:t>
            </a:fld>
            <a:endParaRPr lang="en-US"/>
          </a:p>
        </p:txBody>
      </p:sp>
      <p:sp>
        <p:nvSpPr>
          <p:cNvPr id="3" name="Title 2">
            <a:extLst>
              <a:ext uri="{FF2B5EF4-FFF2-40B4-BE49-F238E27FC236}">
                <a16:creationId xmlns:a16="http://schemas.microsoft.com/office/drawing/2014/main" id="{E570BFC9-0D57-03E6-3EDC-F19D291DE08C}"/>
              </a:ext>
            </a:extLst>
          </p:cNvPr>
          <p:cNvSpPr>
            <a:spLocks noGrp="1"/>
          </p:cNvSpPr>
          <p:nvPr>
            <p:ph type="title"/>
          </p:nvPr>
        </p:nvSpPr>
        <p:spPr/>
        <p:txBody>
          <a:bodyPr/>
          <a:lstStyle/>
          <a:p>
            <a:r>
              <a:rPr lang="en-AU"/>
              <a:t>Project details</a:t>
            </a:r>
          </a:p>
        </p:txBody>
      </p:sp>
      <p:sp>
        <p:nvSpPr>
          <p:cNvPr id="6" name="Rectangle 5">
            <a:extLst>
              <a:ext uri="{FF2B5EF4-FFF2-40B4-BE49-F238E27FC236}">
                <a16:creationId xmlns:a16="http://schemas.microsoft.com/office/drawing/2014/main" id="{E0997B5A-42B2-0A14-F28A-F07BA81A2EB5}"/>
              </a:ext>
            </a:extLst>
          </p:cNvPr>
          <p:cNvSpPr/>
          <p:nvPr/>
        </p:nvSpPr>
        <p:spPr>
          <a:xfrm>
            <a:off x="484632" y="1408176"/>
            <a:ext cx="11345150" cy="4663440"/>
          </a:xfrm>
          <a:prstGeom prst="rect">
            <a:avLst/>
          </a:prstGeom>
          <a:solidFill>
            <a:schemeClr val="bg1"/>
          </a:solidFill>
          <a:ln w="19050">
            <a:solidFill>
              <a:schemeClr val="bg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numCol="2" rtlCol="0" anchor="ctr"/>
          <a:lstStyle/>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Project team (names and FTE): </a:t>
            </a:r>
            <a:r>
              <a:rPr lang="en-AU" kern="100">
                <a:solidFill>
                  <a:srgbClr val="000000"/>
                </a:solidFill>
                <a:latin typeface="+mj-lt"/>
                <a:ea typeface="Aptos" panose="020B0004020202020204" pitchFamily="34" charset="0"/>
                <a:cs typeface="Times New Roman" panose="02020603050405020304" pitchFamily="18" charset="0"/>
              </a:rPr>
              <a:t>TBC. </a:t>
            </a:r>
            <a:br>
              <a:rPr lang="en-AU" kern="100">
                <a:latin typeface="+mj-lt"/>
                <a:ea typeface="Aptos" panose="020B0004020202020204" pitchFamily="34" charset="0"/>
                <a:cs typeface="Times New Roman" panose="02020603050405020304" pitchFamily="18" charset="0"/>
              </a:rPr>
            </a:br>
            <a:r>
              <a:rPr lang="en-AU" kern="100">
                <a:solidFill>
                  <a:srgbClr val="000000"/>
                </a:solidFill>
                <a:latin typeface="+mj-lt"/>
                <a:ea typeface="Aptos" panose="020B0004020202020204" pitchFamily="34" charset="0"/>
                <a:cs typeface="Times New Roman" panose="02020603050405020304" pitchFamily="18" charset="0"/>
              </a:rPr>
              <a:t>Initial scoping team is: Aaron Wong (X days/week), Matt Nolan (X days/week), Ewan Rankin (oversight, no time requirement), and Lachlan Vass (oversight, no time requirement).</a:t>
            </a:r>
            <a:br>
              <a:rPr lang="en-AU" kern="100">
                <a:solidFill>
                  <a:srgbClr val="000000"/>
                </a:solidFill>
                <a:latin typeface="+mj-lt"/>
                <a:ea typeface="Aptos" panose="020B0004020202020204" pitchFamily="34" charset="0"/>
                <a:cs typeface="Times New Roman" panose="02020603050405020304" pitchFamily="18" charset="0"/>
              </a:rPr>
            </a:br>
            <a:br>
              <a:rPr lang="en-AU" kern="100">
                <a:solidFill>
                  <a:srgbClr val="000000"/>
                </a:solidFill>
                <a:latin typeface="+mj-lt"/>
                <a:ea typeface="Aptos" panose="020B0004020202020204" pitchFamily="34" charset="0"/>
                <a:cs typeface="Times New Roman" panose="02020603050405020304" pitchFamily="18" charset="0"/>
              </a:rPr>
            </a:br>
            <a:r>
              <a:rPr lang="en-AU" kern="100">
                <a:solidFill>
                  <a:srgbClr val="000000"/>
                </a:solidFill>
                <a:latin typeface="+mj-lt"/>
                <a:ea typeface="Aptos" panose="020B0004020202020204" pitchFamily="34" charset="0"/>
                <a:cs typeface="Times New Roman" panose="02020603050405020304" pitchFamily="18" charset="0"/>
              </a:rPr>
              <a:t>If we move past the initial stylised facts into broader modelling, additional people may be required. Especially if McKinnon prioritises this direction in their own tax work.</a:t>
            </a:r>
          </a:p>
          <a:p>
            <a:pPr marL="285750" indent="-285750">
              <a:buFont typeface="Arial" panose="020B0604020202020204" pitchFamily="34" charset="0"/>
              <a:buChar char="•"/>
            </a:pPr>
            <a:endParaRPr lang="en-AU" kern="100">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External collaborators</a:t>
            </a:r>
            <a:r>
              <a:rPr lang="en-AU" kern="100">
                <a:solidFill>
                  <a:srgbClr val="000000"/>
                </a:solidFill>
                <a:latin typeface="+mj-lt"/>
                <a:ea typeface="Aptos" panose="020B0004020202020204" pitchFamily="34" charset="0"/>
                <a:cs typeface="Times New Roman" panose="02020603050405020304" pitchFamily="18" charset="0"/>
              </a:rPr>
              <a:t>: Early in the project will reach out to the Treasury Tax Frameworks Unit. Also keen to discuss the project with Petr Sedlacek (UNSW) and TTPI given their work in this space. </a:t>
            </a:r>
            <a:br>
              <a:rPr lang="en-AU" kern="100">
                <a:solidFill>
                  <a:srgbClr val="000000"/>
                </a:solidFill>
                <a:latin typeface="+mj-lt"/>
                <a:ea typeface="Aptos" panose="020B0004020202020204" pitchFamily="34" charset="0"/>
                <a:cs typeface="Times New Roman" panose="02020603050405020304" pitchFamily="18" charset="0"/>
              </a:rPr>
            </a:br>
            <a:br>
              <a:rPr lang="en-AU" kern="100">
                <a:solidFill>
                  <a:srgbClr val="000000"/>
                </a:solidFill>
                <a:latin typeface="+mj-lt"/>
                <a:ea typeface="Aptos" panose="020B0004020202020204" pitchFamily="34" charset="0"/>
                <a:cs typeface="Times New Roman" panose="02020603050405020304" pitchFamily="18" charset="0"/>
              </a:rPr>
            </a:br>
            <a:r>
              <a:rPr lang="en-AU" kern="100">
                <a:solidFill>
                  <a:srgbClr val="000000"/>
                </a:solidFill>
                <a:latin typeface="+mj-lt"/>
                <a:ea typeface="Aptos" panose="020B0004020202020204" pitchFamily="34" charset="0"/>
                <a:cs typeface="Times New Roman" panose="02020603050405020304" pitchFamily="18" charset="0"/>
              </a:rPr>
              <a:t>Have already discussed with Chris Murphy (Murphy Economics) who has been responsible for most CGE modelling on the issue – and has offered us free use of his model for this project. Also discussed this with Viva Hammer with regards to the 2017 US tax reforms.</a:t>
            </a:r>
          </a:p>
          <a:p>
            <a:pPr marL="285750" indent="-285750">
              <a:buFont typeface="Arial" panose="020B0604020202020204" pitchFamily="34" charset="0"/>
              <a:buChar char="•"/>
            </a:pPr>
            <a:endParaRPr lang="en-AU" b="1" kern="100">
              <a:solidFill>
                <a:srgbClr val="000000"/>
              </a:solidFill>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Start date: </a:t>
            </a:r>
            <a:r>
              <a:rPr lang="en-AU" kern="100">
                <a:solidFill>
                  <a:srgbClr val="000000"/>
                </a:solidFill>
                <a:latin typeface="+mj-lt"/>
                <a:ea typeface="Aptos" panose="020B0004020202020204" pitchFamily="34" charset="0"/>
                <a:cs typeface="Times New Roman" panose="02020603050405020304" pitchFamily="18" charset="0"/>
              </a:rPr>
              <a:t>10/8/2026</a:t>
            </a: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End date: </a:t>
            </a:r>
            <a:r>
              <a:rPr lang="en-AU" kern="100">
                <a:solidFill>
                  <a:srgbClr val="000000"/>
                </a:solidFill>
                <a:latin typeface="+mj-lt"/>
                <a:ea typeface="Aptos" panose="020B0004020202020204" pitchFamily="34" charset="0"/>
                <a:cs typeface="Times New Roman" panose="02020603050405020304" pitchFamily="18" charset="0"/>
              </a:rPr>
              <a:t>15/2/2028 (if the project continues through to policy reporting)</a:t>
            </a:r>
            <a:endParaRPr lang="en-AU" kern="100">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endParaRPr lang="en-AU" kern="100">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endParaRPr lang="en-AU" kern="100">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endParaRPr lang="en-AU" b="1">
              <a:solidFill>
                <a:schemeClr val="bg1"/>
              </a:solidFill>
              <a:latin typeface="+mj-lt"/>
            </a:endParaRPr>
          </a:p>
        </p:txBody>
      </p:sp>
    </p:spTree>
    <p:extLst>
      <p:ext uri="{BB962C8B-B14F-4D97-AF65-F5344CB8AC3E}">
        <p14:creationId xmlns:p14="http://schemas.microsoft.com/office/powerpoint/2010/main" val="1107105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3AA469-7E85-ABD9-0EBC-04CD3B195E3E}"/>
              </a:ext>
            </a:extLst>
          </p:cNvPr>
          <p:cNvSpPr>
            <a:spLocks noGrp="1"/>
          </p:cNvSpPr>
          <p:nvPr>
            <p:ph type="sldNum" sz="quarter" idx="10"/>
          </p:nvPr>
        </p:nvSpPr>
        <p:spPr/>
        <p:txBody>
          <a:bodyPr/>
          <a:lstStyle/>
          <a:p>
            <a:fld id="{4F9AC08D-23A9-440E-BCB9-AA1E9877CC38}" type="slidenum">
              <a:rPr lang="en-US" smtClean="0"/>
              <a:pPr/>
              <a:t>5</a:t>
            </a:fld>
            <a:endParaRPr lang="en-US"/>
          </a:p>
        </p:txBody>
      </p:sp>
      <p:sp>
        <p:nvSpPr>
          <p:cNvPr id="3" name="Title 2">
            <a:extLst>
              <a:ext uri="{FF2B5EF4-FFF2-40B4-BE49-F238E27FC236}">
                <a16:creationId xmlns:a16="http://schemas.microsoft.com/office/drawing/2014/main" id="{7FC6082C-C117-87B7-7DCF-D7EF97DB4E23}"/>
              </a:ext>
            </a:extLst>
          </p:cNvPr>
          <p:cNvSpPr>
            <a:spLocks noGrp="1"/>
          </p:cNvSpPr>
          <p:nvPr>
            <p:ph type="title"/>
          </p:nvPr>
        </p:nvSpPr>
        <p:spPr/>
        <p:txBody>
          <a:bodyPr/>
          <a:lstStyle/>
          <a:p>
            <a:r>
              <a:rPr lang="en-AU"/>
              <a:t>Potential outputs</a:t>
            </a:r>
          </a:p>
        </p:txBody>
      </p:sp>
      <p:graphicFrame>
        <p:nvGraphicFramePr>
          <p:cNvPr id="5" name="Table 4">
            <a:extLst>
              <a:ext uri="{FF2B5EF4-FFF2-40B4-BE49-F238E27FC236}">
                <a16:creationId xmlns:a16="http://schemas.microsoft.com/office/drawing/2014/main" id="{F007C9D4-5878-6E25-9938-4616E6B01EDE}"/>
              </a:ext>
            </a:extLst>
          </p:cNvPr>
          <p:cNvGraphicFramePr>
            <a:graphicFrameLocks noGrp="1"/>
          </p:cNvGraphicFramePr>
          <p:nvPr>
            <p:extLst>
              <p:ext uri="{D42A27DB-BD31-4B8C-83A1-F6EECF244321}">
                <p14:modId xmlns:p14="http://schemas.microsoft.com/office/powerpoint/2010/main" val="3929532453"/>
              </p:ext>
            </p:extLst>
          </p:nvPr>
        </p:nvGraphicFramePr>
        <p:xfrm>
          <a:off x="731520" y="1363114"/>
          <a:ext cx="10341863" cy="5546665"/>
        </p:xfrm>
        <a:graphic>
          <a:graphicData uri="http://schemas.openxmlformats.org/drawingml/2006/table">
            <a:tbl>
              <a:tblPr firstRow="1" firstCol="1" bandRow="1">
                <a:tableStyleId>{0E3FDE45-AF77-4B5C-9715-49D594BDF05E}</a:tableStyleId>
              </a:tblPr>
              <a:tblGrid>
                <a:gridCol w="4375221">
                  <a:extLst>
                    <a:ext uri="{9D8B030D-6E8A-4147-A177-3AD203B41FA5}">
                      <a16:colId xmlns:a16="http://schemas.microsoft.com/office/drawing/2014/main" val="581246923"/>
                    </a:ext>
                  </a:extLst>
                </a:gridCol>
                <a:gridCol w="1559445">
                  <a:extLst>
                    <a:ext uri="{9D8B030D-6E8A-4147-A177-3AD203B41FA5}">
                      <a16:colId xmlns:a16="http://schemas.microsoft.com/office/drawing/2014/main" val="3147176019"/>
                    </a:ext>
                  </a:extLst>
                </a:gridCol>
                <a:gridCol w="4407197">
                  <a:extLst>
                    <a:ext uri="{9D8B030D-6E8A-4147-A177-3AD203B41FA5}">
                      <a16:colId xmlns:a16="http://schemas.microsoft.com/office/drawing/2014/main" val="2575102629"/>
                    </a:ext>
                  </a:extLst>
                </a:gridCol>
              </a:tblGrid>
              <a:tr h="328028">
                <a:tc gridSpan="3">
                  <a:txBody>
                    <a:bodyPr/>
                    <a:lstStyle/>
                    <a:p>
                      <a:pPr>
                        <a:lnSpc>
                          <a:spcPct val="107000"/>
                        </a:lnSpc>
                        <a:spcAft>
                          <a:spcPts val="800"/>
                        </a:spcAft>
                        <a:buNone/>
                      </a:pPr>
                      <a:r>
                        <a:rPr lang="en-AU" sz="1800" b="0" kern="100">
                          <a:solidFill>
                            <a:srgbClr val="000000"/>
                          </a:solidFill>
                          <a:effectLst/>
                          <a:latin typeface="+mj-lt"/>
                        </a:rPr>
                        <a:t>Outputs: Only high-level outputs are noted – micronotes and engagement kept separate.</a:t>
                      </a:r>
                      <a:endParaRPr lang="en-AU" sz="1800" b="0" kern="100">
                        <a:effectLst/>
                        <a:latin typeface="+mj-lt"/>
                        <a:cs typeface="Times New Roman" panose="02020603050405020304" pitchFamily="18" charset="0"/>
                      </a:endParaRPr>
                    </a:p>
                  </a:txBody>
                  <a:tcPr/>
                </a:tc>
                <a:tc hMerge="1">
                  <a:txBody>
                    <a:bodyPr/>
                    <a:lstStyle/>
                    <a:p>
                      <a:endParaRPr/>
                    </a:p>
                  </a:txBody>
                  <a:tcPr marL="25478" marR="25478" marT="12739" marB="12739"/>
                </a:tc>
                <a:tc hMerge="1">
                  <a:txBody>
                    <a:bodyPr/>
                    <a:lstStyle/>
                    <a:p>
                      <a:endParaRPr lang="en-AU" sz="1600">
                        <a:latin typeface="+mj-lt"/>
                      </a:endParaRPr>
                    </a:p>
                  </a:txBody>
                  <a:tcPr marL="25478" marR="25478" marT="12739" marB="12739"/>
                </a:tc>
                <a:extLst>
                  <a:ext uri="{0D108BD9-81ED-4DB2-BD59-A6C34878D82A}">
                    <a16:rowId xmlns:a16="http://schemas.microsoft.com/office/drawing/2014/main" val="2438516656"/>
                  </a:ext>
                </a:extLst>
              </a:tr>
              <a:tr h="328028">
                <a:tc>
                  <a:txBody>
                    <a:bodyPr/>
                    <a:lstStyle/>
                    <a:p>
                      <a:pPr>
                        <a:lnSpc>
                          <a:spcPct val="107000"/>
                        </a:lnSpc>
                        <a:spcAft>
                          <a:spcPts val="800"/>
                        </a:spcAft>
                        <a:buNone/>
                      </a:pPr>
                      <a:r>
                        <a:rPr lang="en-AU" sz="1800" b="1" kern="100">
                          <a:effectLst/>
                          <a:latin typeface="+mj-lt"/>
                        </a:rPr>
                        <a:t>Output</a:t>
                      </a:r>
                      <a:endParaRPr lang="en-AU" sz="1800"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b="1" kern="100">
                          <a:effectLst/>
                          <a:latin typeface="+mj-lt"/>
                        </a:rPr>
                        <a:t>Date</a:t>
                      </a:r>
                      <a:endParaRPr lang="en-AU" sz="1800"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b="1" kern="100">
                          <a:effectLst/>
                          <a:latin typeface="+mj-lt"/>
                        </a:rPr>
                        <a:t>Notes</a:t>
                      </a:r>
                      <a:endParaRPr lang="en-AU" sz="1800" kern="100">
                        <a:effectLst/>
                        <a:latin typeface="+mj-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2378680093"/>
                  </a:ext>
                </a:extLst>
              </a:tr>
              <a:tr h="598075">
                <a:tc>
                  <a:txBody>
                    <a:bodyPr/>
                    <a:lstStyle/>
                    <a:p>
                      <a:pPr>
                        <a:lnSpc>
                          <a:spcPct val="107000"/>
                        </a:lnSpc>
                        <a:spcAft>
                          <a:spcPts val="800"/>
                        </a:spcAft>
                        <a:buNone/>
                      </a:pPr>
                      <a:r>
                        <a:rPr lang="en-AU" sz="1800" b="1" kern="100">
                          <a:effectLst/>
                          <a:latin typeface="+mj-lt"/>
                        </a:rPr>
                        <a:t>Research Note 1: Forward looking corporate tax rates and cash flow tax</a:t>
                      </a:r>
                      <a:endParaRPr lang="en-AU" sz="1800" b="1"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~Dec 2026</a:t>
                      </a:r>
                      <a:endParaRPr lang="en-AU" sz="1800"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Use microdata and a tax model in datalab to calculate tax rates, and the cash flow tax counterfactual.</a:t>
                      </a:r>
                      <a:endParaRPr lang="en-AU" sz="1800" kern="100">
                        <a:effectLst/>
                        <a:latin typeface="+mj-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2136951318"/>
                  </a:ext>
                </a:extLst>
              </a:tr>
              <a:tr h="448127">
                <a:tc>
                  <a:txBody>
                    <a:bodyPr/>
                    <a:lstStyle/>
                    <a:p>
                      <a:pPr>
                        <a:lnSpc>
                          <a:spcPct val="107000"/>
                        </a:lnSpc>
                        <a:spcAft>
                          <a:spcPts val="800"/>
                        </a:spcAft>
                        <a:buNone/>
                      </a:pPr>
                      <a:r>
                        <a:rPr lang="en-AU" sz="1800" b="1" kern="100">
                          <a:effectLst/>
                          <a:latin typeface="+mj-lt"/>
                        </a:rPr>
                        <a:t>Research Note 2: Transitional effects of a cash flow tax</a:t>
                      </a:r>
                      <a:endParaRPr lang="en-AU" sz="1800" b="1"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~Jan 2027</a:t>
                      </a:r>
                      <a:endParaRPr lang="en-AU" sz="1800"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Use microdata to talk about different cash flow tax rules, their impact on revenue, and their impact on firms</a:t>
                      </a:r>
                      <a:endParaRPr lang="en-AU" sz="1800" kern="100">
                        <a:effectLst/>
                        <a:latin typeface="+mj-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3838237779"/>
                  </a:ext>
                </a:extLst>
              </a:tr>
              <a:tr h="448127">
                <a:tc>
                  <a:txBody>
                    <a:bodyPr/>
                    <a:lstStyle/>
                    <a:p>
                      <a:pPr>
                        <a:lnSpc>
                          <a:spcPct val="107000"/>
                        </a:lnSpc>
                        <a:spcAft>
                          <a:spcPts val="800"/>
                        </a:spcAft>
                        <a:buNone/>
                      </a:pPr>
                      <a:r>
                        <a:rPr lang="en-AU" sz="1800" b="1" kern="100">
                          <a:effectLst/>
                          <a:latin typeface="+mj-lt"/>
                        </a:rPr>
                        <a:t>Research Note 3: Investment effects of a cash flow tax</a:t>
                      </a:r>
                      <a:endParaRPr lang="en-AU" sz="1800" b="1"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~June 2027</a:t>
                      </a:r>
                      <a:endParaRPr lang="en-AU" sz="1800"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Estimated investment response to the change in the UCC from a cash flow tax – discuss different imputation rules.</a:t>
                      </a:r>
                      <a:endParaRPr lang="en-AU" sz="1800" kern="100">
                        <a:effectLst/>
                        <a:latin typeface="+mj-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386500364"/>
                  </a:ext>
                </a:extLst>
              </a:tr>
              <a:tr h="328028">
                <a:tc>
                  <a:txBody>
                    <a:bodyPr/>
                    <a:lstStyle/>
                    <a:p>
                      <a:pPr>
                        <a:lnSpc>
                          <a:spcPct val="107000"/>
                        </a:lnSpc>
                        <a:spcAft>
                          <a:spcPts val="800"/>
                        </a:spcAft>
                        <a:buNone/>
                      </a:pPr>
                      <a:r>
                        <a:rPr lang="en-AU" sz="1800" b="1" kern="100">
                          <a:effectLst/>
                          <a:latin typeface="+mj-lt"/>
                        </a:rPr>
                        <a:t>Tool: Corporate tax calculator</a:t>
                      </a:r>
                      <a:endParaRPr lang="en-AU" sz="1800" b="1"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~Sep 2027</a:t>
                      </a:r>
                      <a:endParaRPr lang="en-AU" sz="1800"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Online tool to illustrate forward looking ETRs</a:t>
                      </a:r>
                      <a:endParaRPr lang="en-AU" sz="1800" kern="100">
                        <a:effectLst/>
                        <a:latin typeface="+mj-lt"/>
                        <a:ea typeface="Aptos" panose="020B0004020202020204" pitchFamily="34" charset="0"/>
                        <a:cs typeface="Times New Roman" panose="02020603050405020304" pitchFamily="18" charset="0"/>
                      </a:endParaRPr>
                    </a:p>
                  </a:txBody>
                  <a:tcPr/>
                </a:tc>
                <a:extLst>
                  <a:ext uri="{0D108BD9-81ED-4DB2-BD59-A6C34878D82A}">
                    <a16:rowId xmlns:a16="http://schemas.microsoft.com/office/drawing/2014/main" val="3567459824"/>
                  </a:ext>
                </a:extLst>
              </a:tr>
              <a:tr h="598075">
                <a:tc>
                  <a:txBody>
                    <a:bodyPr/>
                    <a:lstStyle/>
                    <a:p>
                      <a:pPr>
                        <a:lnSpc>
                          <a:spcPct val="107000"/>
                        </a:lnSpc>
                        <a:spcAft>
                          <a:spcPts val="800"/>
                        </a:spcAft>
                        <a:buNone/>
                      </a:pPr>
                      <a:r>
                        <a:rPr lang="en-AU" sz="1800" b="1" kern="100">
                          <a:effectLst/>
                          <a:latin typeface="+mj-lt"/>
                        </a:rPr>
                        <a:t>Policy report: The case for corporate tax reform – a cash flow tax?</a:t>
                      </a:r>
                      <a:endParaRPr lang="en-AU" sz="1800" b="1"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~Feb 2028</a:t>
                      </a:r>
                      <a:endParaRPr lang="en-AU" sz="1800" kern="100">
                        <a:effectLst/>
                        <a:latin typeface="+mj-lt"/>
                        <a:ea typeface="Aptos" panose="020B0004020202020204" pitchFamily="34" charset="0"/>
                        <a:cs typeface="Times New Roman" panose="02020603050405020304" pitchFamily="18" charset="0"/>
                      </a:endParaRPr>
                    </a:p>
                  </a:txBody>
                  <a:tcPr/>
                </a:tc>
                <a:tc>
                  <a:txBody>
                    <a:bodyPr/>
                    <a:lstStyle/>
                    <a:p>
                      <a:pPr>
                        <a:lnSpc>
                          <a:spcPct val="107000"/>
                        </a:lnSpc>
                        <a:spcAft>
                          <a:spcPts val="800"/>
                        </a:spcAft>
                        <a:buNone/>
                      </a:pPr>
                      <a:r>
                        <a:rPr lang="en-AU" sz="1800" kern="100">
                          <a:effectLst/>
                          <a:latin typeface="+mj-lt"/>
                        </a:rPr>
                        <a:t>Policy report summarising results and literature, with assessment of potential reform.</a:t>
                      </a:r>
                    </a:p>
                    <a:p>
                      <a:pPr>
                        <a:lnSpc>
                          <a:spcPct val="107000"/>
                        </a:lnSpc>
                        <a:buNone/>
                      </a:pPr>
                      <a:r>
                        <a:rPr lang="en-AU" sz="1800" kern="100">
                          <a:effectLst/>
                          <a:latin typeface="+mj-lt"/>
                        </a:rPr>
                        <a:t>    </a:t>
                      </a:r>
                    </a:p>
                  </a:txBody>
                  <a:tcPr/>
                </a:tc>
                <a:extLst>
                  <a:ext uri="{0D108BD9-81ED-4DB2-BD59-A6C34878D82A}">
                    <a16:rowId xmlns:a16="http://schemas.microsoft.com/office/drawing/2014/main" val="3064569724"/>
                  </a:ext>
                </a:extLst>
              </a:tr>
            </a:tbl>
          </a:graphicData>
        </a:graphic>
      </p:graphicFrame>
    </p:spTree>
    <p:extLst>
      <p:ext uri="{BB962C8B-B14F-4D97-AF65-F5344CB8AC3E}">
        <p14:creationId xmlns:p14="http://schemas.microsoft.com/office/powerpoint/2010/main" val="1673472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5A7F0-B4FF-5C50-E24E-3749512E45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D684E6-615D-7EAD-B06D-BC05FEF15142}"/>
              </a:ext>
            </a:extLst>
          </p:cNvPr>
          <p:cNvSpPr>
            <a:spLocks noGrp="1"/>
          </p:cNvSpPr>
          <p:nvPr>
            <p:ph type="sldNum" sz="quarter" idx="10"/>
          </p:nvPr>
        </p:nvSpPr>
        <p:spPr/>
        <p:txBody>
          <a:bodyPr/>
          <a:lstStyle/>
          <a:p>
            <a:fld id="{4F9AC08D-23A9-440E-BCB9-AA1E9877CC38}" type="slidenum">
              <a:rPr lang="en-US" smtClean="0"/>
              <a:pPr/>
              <a:t>6</a:t>
            </a:fld>
            <a:endParaRPr lang="en-US"/>
          </a:p>
        </p:txBody>
      </p:sp>
      <p:sp>
        <p:nvSpPr>
          <p:cNvPr id="3" name="Title 2">
            <a:extLst>
              <a:ext uri="{FF2B5EF4-FFF2-40B4-BE49-F238E27FC236}">
                <a16:creationId xmlns:a16="http://schemas.microsoft.com/office/drawing/2014/main" id="{BE41FC26-FB65-A2AC-1B52-CAE626F1A7B0}"/>
              </a:ext>
            </a:extLst>
          </p:cNvPr>
          <p:cNvSpPr>
            <a:spLocks noGrp="1"/>
          </p:cNvSpPr>
          <p:nvPr>
            <p:ph type="title"/>
          </p:nvPr>
        </p:nvSpPr>
        <p:spPr/>
        <p:txBody>
          <a:bodyPr/>
          <a:lstStyle/>
          <a:p>
            <a:r>
              <a:rPr lang="en-AU"/>
              <a:t>Work to first stop-go</a:t>
            </a:r>
          </a:p>
        </p:txBody>
      </p:sp>
      <p:sp>
        <p:nvSpPr>
          <p:cNvPr id="6" name="Rectangle 5">
            <a:extLst>
              <a:ext uri="{FF2B5EF4-FFF2-40B4-BE49-F238E27FC236}">
                <a16:creationId xmlns:a16="http://schemas.microsoft.com/office/drawing/2014/main" id="{26676666-88DA-C4BA-9853-D0628643EA92}"/>
              </a:ext>
            </a:extLst>
          </p:cNvPr>
          <p:cNvSpPr/>
          <p:nvPr/>
        </p:nvSpPr>
        <p:spPr>
          <a:xfrm>
            <a:off x="484632" y="1395707"/>
            <a:ext cx="11345150" cy="4663440"/>
          </a:xfrm>
          <a:prstGeom prst="rect">
            <a:avLst/>
          </a:prstGeom>
          <a:solidFill>
            <a:schemeClr val="bg1"/>
          </a:solidFill>
          <a:ln w="19050">
            <a:solidFill>
              <a:schemeClr val="bg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numCol="2" rtlCol="0" anchor="ctr"/>
          <a:lstStyle/>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Internal policy document on cash flow taxation (underway)</a:t>
            </a:r>
            <a:r>
              <a:rPr lang="en-AU" kern="100">
                <a:solidFill>
                  <a:srgbClr val="000000"/>
                </a:solidFill>
                <a:latin typeface="+mj-lt"/>
                <a:ea typeface="Aptos" panose="020B0004020202020204" pitchFamily="34" charset="0"/>
                <a:cs typeface="Times New Roman" panose="02020603050405020304" pitchFamily="18" charset="0"/>
              </a:rPr>
              <a:t>: The purpose of this document is to describe the rationale and purpose of a cash flow tax, and outline the existing literature.</a:t>
            </a:r>
          </a:p>
          <a:p>
            <a:pPr marL="285750" indent="-285750">
              <a:buFont typeface="Arial" panose="020B0604020202020204" pitchFamily="34" charset="0"/>
              <a:buChar char="•"/>
            </a:pPr>
            <a:endParaRPr lang="en-AU" kern="100">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External consultation on cash flow tax (underway)</a:t>
            </a:r>
          </a:p>
          <a:p>
            <a:pPr marL="285750" indent="-285750">
              <a:buFont typeface="Arial" panose="020B0604020202020204" pitchFamily="34" charset="0"/>
              <a:buChar char="•"/>
            </a:pPr>
            <a:endParaRPr lang="en-AU" b="1" kern="100">
              <a:solidFill>
                <a:srgbClr val="000000"/>
              </a:solidFill>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Internal presentation</a:t>
            </a:r>
            <a:r>
              <a:rPr lang="en-AU" kern="100">
                <a:solidFill>
                  <a:srgbClr val="000000"/>
                </a:solidFill>
                <a:latin typeface="+mj-lt"/>
                <a:ea typeface="Aptos" panose="020B0004020202020204" pitchFamily="34" charset="0"/>
                <a:cs typeface="Times New Roman" panose="02020603050405020304" pitchFamily="18" charset="0"/>
              </a:rPr>
              <a:t>: Facts about cash-flow and liquidity constraints for Australian firms – combine microdata work with a summary of (largely RBA) papers.</a:t>
            </a:r>
          </a:p>
          <a:p>
            <a:pPr marL="285750" indent="-285750">
              <a:buFont typeface="Arial" panose="020B0604020202020204" pitchFamily="34" charset="0"/>
              <a:buChar char="•"/>
            </a:pPr>
            <a:endParaRPr lang="en-AU" b="1" kern="100">
              <a:solidFill>
                <a:srgbClr val="000000"/>
              </a:solidFill>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endParaRPr lang="en-AU" b="1" kern="100">
              <a:solidFill>
                <a:srgbClr val="000000"/>
              </a:solidFill>
              <a:latin typeface="+mj-lt"/>
              <a:ea typeface="Aptos" panose="020B0004020202020204" pitchFamily="34" charset="0"/>
              <a:cs typeface="Times New Roman" panose="02020603050405020304" pitchFamily="18" charset="0"/>
            </a:endParaRPr>
          </a:p>
          <a:p>
            <a:endParaRPr lang="en-AU" b="1" kern="100">
              <a:solidFill>
                <a:srgbClr val="000000"/>
              </a:solidFill>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Micronote “The characteristics of business cash-flow”</a:t>
            </a:r>
            <a:r>
              <a:rPr lang="en-AU" kern="100">
                <a:solidFill>
                  <a:srgbClr val="000000"/>
                </a:solidFill>
                <a:latin typeface="+mj-lt"/>
                <a:ea typeface="Aptos" panose="020B0004020202020204" pitchFamily="34" charset="0"/>
                <a:cs typeface="Times New Roman" panose="02020603050405020304" pitchFamily="18" charset="0"/>
              </a:rPr>
              <a:t>: Replicate </a:t>
            </a:r>
            <a:r>
              <a:rPr lang="en-AU" kern="100" err="1">
                <a:solidFill>
                  <a:srgbClr val="000000"/>
                </a:solidFill>
                <a:latin typeface="+mj-lt"/>
                <a:ea typeface="Aptos" panose="020B0004020202020204" pitchFamily="34" charset="0"/>
                <a:cs typeface="Times New Roman" panose="02020603050405020304" pitchFamily="18" charset="0"/>
                <a:hlinkClick r:id="rId2"/>
              </a:rPr>
              <a:t>Grozinger</a:t>
            </a:r>
            <a:r>
              <a:rPr lang="en-AU" kern="100">
                <a:solidFill>
                  <a:srgbClr val="000000"/>
                </a:solidFill>
                <a:latin typeface="+mj-lt"/>
                <a:ea typeface="Aptos" panose="020B0004020202020204" pitchFamily="34" charset="0"/>
                <a:cs typeface="Times New Roman" panose="02020603050405020304" pitchFamily="18" charset="0"/>
                <a:hlinkClick r:id="rId2"/>
              </a:rPr>
              <a:t> (2023)</a:t>
            </a:r>
            <a:r>
              <a:rPr lang="en-AU" kern="100">
                <a:solidFill>
                  <a:srgbClr val="000000"/>
                </a:solidFill>
                <a:latin typeface="+mj-lt"/>
                <a:ea typeface="Aptos" panose="020B0004020202020204" pitchFamily="34" charset="0"/>
                <a:cs typeface="Times New Roman" panose="02020603050405020304" pitchFamily="18" charset="0"/>
              </a:rPr>
              <a:t> and evaluate the cash surplus figure as a cash-flow measure. Describe the longitudinal properties of this data, and the characteristics of firms with large cash flow (and conversely large depreciation expenses).</a:t>
            </a:r>
          </a:p>
          <a:p>
            <a:pPr marL="285750" indent="-285750">
              <a:buFont typeface="Arial" panose="020B0604020202020204" pitchFamily="34" charset="0"/>
              <a:buChar char="•"/>
            </a:pPr>
            <a:endParaRPr lang="en-AU" kern="100">
              <a:solidFill>
                <a:srgbClr val="000000"/>
              </a:solidFill>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plus61</a:t>
            </a:r>
            <a:r>
              <a:rPr lang="en-AU" kern="100">
                <a:solidFill>
                  <a:srgbClr val="000000"/>
                </a:solidFill>
                <a:latin typeface="+mj-lt"/>
                <a:ea typeface="Aptos" panose="020B0004020202020204" pitchFamily="34" charset="0"/>
                <a:cs typeface="Times New Roman" panose="02020603050405020304" pitchFamily="18" charset="0"/>
              </a:rPr>
              <a:t>: </a:t>
            </a:r>
            <a:r>
              <a:rPr lang="en-AU" b="1" kern="100">
                <a:solidFill>
                  <a:srgbClr val="000000"/>
                </a:solidFill>
                <a:latin typeface="+mj-lt"/>
                <a:ea typeface="Aptos" panose="020B0004020202020204" pitchFamily="34" charset="0"/>
                <a:cs typeface="Times New Roman" panose="02020603050405020304" pitchFamily="18" charset="0"/>
              </a:rPr>
              <a:t>(TBD based on insights) </a:t>
            </a:r>
          </a:p>
          <a:p>
            <a:pPr marL="285750" indent="-285750">
              <a:buFont typeface="Arial" panose="020B0604020202020204" pitchFamily="34" charset="0"/>
              <a:buChar char="•"/>
            </a:pPr>
            <a:endParaRPr lang="en-AU" b="1" kern="100">
              <a:solidFill>
                <a:srgbClr val="000000"/>
              </a:solidFill>
              <a:latin typeface="+mj-lt"/>
              <a:ea typeface="Aptos" panose="020B0004020202020204" pitchFamily="34" charset="0"/>
              <a:cs typeface="Times New Roman" panose="02020603050405020304" pitchFamily="18" charset="0"/>
            </a:endParaRPr>
          </a:p>
          <a:p>
            <a:pPr marL="285750" indent="-285750">
              <a:buFont typeface="Arial" panose="020B0604020202020204" pitchFamily="34" charset="0"/>
              <a:buChar char="•"/>
            </a:pPr>
            <a:r>
              <a:rPr lang="en-AU" b="1" kern="100">
                <a:solidFill>
                  <a:srgbClr val="000000"/>
                </a:solidFill>
                <a:latin typeface="+mj-lt"/>
                <a:ea typeface="Aptos" panose="020B0004020202020204" pitchFamily="34" charset="0"/>
                <a:cs typeface="Times New Roman" panose="02020603050405020304" pitchFamily="18" charset="0"/>
              </a:rPr>
              <a:t>At this stop-go there is no work on cash-flow tax yet. </a:t>
            </a:r>
            <a:r>
              <a:rPr lang="en-AU" kern="100">
                <a:solidFill>
                  <a:srgbClr val="000000"/>
                </a:solidFill>
                <a:latin typeface="+mj-lt"/>
                <a:ea typeface="Aptos" panose="020B0004020202020204" pitchFamily="34" charset="0"/>
                <a:cs typeface="Times New Roman" panose="02020603050405020304" pitchFamily="18" charset="0"/>
              </a:rPr>
              <a:t>At this stage determine whether we want to </a:t>
            </a:r>
            <a:r>
              <a:rPr lang="en-AU" b="1" kern="100">
                <a:solidFill>
                  <a:srgbClr val="000000"/>
                </a:solidFill>
                <a:latin typeface="+mj-lt"/>
                <a:ea typeface="Aptos" panose="020B0004020202020204" pitchFamily="34" charset="0"/>
                <a:cs typeface="Times New Roman" panose="02020603050405020304" pitchFamily="18" charset="0"/>
              </a:rPr>
              <a:t>build a tax calculator for corporate tax</a:t>
            </a:r>
            <a:r>
              <a:rPr lang="en-AU" kern="100">
                <a:solidFill>
                  <a:srgbClr val="000000"/>
                </a:solidFill>
                <a:latin typeface="+mj-lt"/>
                <a:ea typeface="Aptos" panose="020B0004020202020204" pitchFamily="34" charset="0"/>
                <a:cs typeface="Times New Roman" panose="02020603050405020304" pitchFamily="18" charset="0"/>
              </a:rPr>
              <a:t> in </a:t>
            </a:r>
            <a:r>
              <a:rPr lang="en-AU" kern="100" err="1">
                <a:solidFill>
                  <a:srgbClr val="000000"/>
                </a:solidFill>
                <a:latin typeface="+mj-lt"/>
                <a:ea typeface="Aptos" panose="020B0004020202020204" pitchFamily="34" charset="0"/>
                <a:cs typeface="Times New Roman" panose="02020603050405020304" pitchFamily="18" charset="0"/>
              </a:rPr>
              <a:t>datalab</a:t>
            </a:r>
            <a:r>
              <a:rPr lang="en-AU" kern="100">
                <a:solidFill>
                  <a:srgbClr val="000000"/>
                </a:solidFill>
                <a:latin typeface="+mj-lt"/>
                <a:ea typeface="Aptos" panose="020B0004020202020204" pitchFamily="34" charset="0"/>
                <a:cs typeface="Times New Roman" panose="02020603050405020304" pitchFamily="18" charset="0"/>
              </a:rPr>
              <a:t>.</a:t>
            </a:r>
          </a:p>
          <a:p>
            <a:pPr marL="742950" lvl="1" indent="-285750">
              <a:buFont typeface="Arial" panose="020B0604020202020204" pitchFamily="34" charset="0"/>
              <a:buChar char="•"/>
            </a:pPr>
            <a:r>
              <a:rPr lang="en-AU" kern="100">
                <a:solidFill>
                  <a:srgbClr val="000000"/>
                </a:solidFill>
                <a:latin typeface="+mj-lt"/>
                <a:ea typeface="Aptos" panose="020B0004020202020204" pitchFamily="34" charset="0"/>
                <a:cs typeface="Times New Roman" panose="02020603050405020304" pitchFamily="18" charset="0"/>
              </a:rPr>
              <a:t>If yes move to progressing the first research note. If no, pause project.</a:t>
            </a:r>
            <a:endParaRPr lang="en-AU" b="1">
              <a:solidFill>
                <a:schemeClr val="bg1"/>
              </a:solidFill>
              <a:latin typeface="+mj-lt"/>
            </a:endParaRPr>
          </a:p>
        </p:txBody>
      </p:sp>
    </p:spTree>
    <p:extLst>
      <p:ext uri="{BB962C8B-B14F-4D97-AF65-F5344CB8AC3E}">
        <p14:creationId xmlns:p14="http://schemas.microsoft.com/office/powerpoint/2010/main" val="42335176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946&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YOJRKMSIZCicbhc4bAXGX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61 slide master">
  <a:themeElements>
    <a:clrScheme name="e61 theme">
      <a:dk1>
        <a:sysClr val="windowText" lastClr="000000"/>
      </a:dk1>
      <a:lt1>
        <a:sysClr val="window" lastClr="FFFFFF"/>
      </a:lt1>
      <a:dk2>
        <a:srgbClr val="44546A"/>
      </a:dk2>
      <a:lt2>
        <a:srgbClr val="E7E6E6"/>
      </a:lt2>
      <a:accent1>
        <a:srgbClr val="004F54"/>
      </a:accent1>
      <a:accent2>
        <a:srgbClr val="008080"/>
      </a:accent2>
      <a:accent3>
        <a:srgbClr val="33A7AB"/>
      </a:accent3>
      <a:accent4>
        <a:srgbClr val="FFA557"/>
      </a:accent4>
      <a:accent5>
        <a:srgbClr val="F88379"/>
      </a:accent5>
      <a:accent6>
        <a:srgbClr val="B40000"/>
      </a:accent6>
      <a:hlink>
        <a:srgbClr val="0563C1"/>
      </a:hlink>
      <a:folHlink>
        <a:srgbClr val="954F72"/>
      </a:folHlink>
    </a:clrScheme>
    <a:fontScheme name="Custom 2">
      <a:majorFont>
        <a:latin typeface="Proxima Nova Rg"/>
        <a:ea typeface=""/>
        <a:cs typeface=""/>
      </a:majorFont>
      <a:minorFont>
        <a:latin typeface="Proxima Nova Rg"/>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19050">
          <a:noFill/>
          <a:prstDash val="sysDot"/>
          <a:headEnd type="none" w="med" len="med"/>
          <a:tailEnd type="none" w="med" len="med"/>
        </a:ln>
      </a:spPr>
      <a:bodyPr rtlCol="0" anchor="ctr"/>
      <a:lstStyle>
        <a:defPPr algn="ctr">
          <a:defRPr b="1" dirty="0" smtClean="0">
            <a:solidFill>
              <a:schemeClr val="bg1"/>
            </a:solidFill>
            <a:latin typeface="Graphik" panose="020B0503030202060203" pitchFamily="34" charset="77"/>
          </a:defRPr>
        </a:defPPr>
      </a:lstStyle>
      <a:style>
        <a:lnRef idx="1">
          <a:schemeClr val="accent1"/>
        </a:lnRef>
        <a:fillRef idx="0">
          <a:schemeClr val="accent1"/>
        </a:fillRef>
        <a:effectRef idx="0">
          <a:schemeClr val="accent1"/>
        </a:effectRef>
        <a:fontRef idx="minor">
          <a:schemeClr val="tx1"/>
        </a:fontRef>
      </a:style>
    </a:spDef>
    <a:lnDef>
      <a:spPr>
        <a:ln w="19050">
          <a:solidFill>
            <a:schemeClr val="tx1"/>
          </a:solidFill>
          <a:prstDash val="soli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a:defPPr>
      </a:lstStyle>
    </a:txDef>
  </a:objectDefaults>
  <a:extraClrSchemeLst/>
  <a:extLst>
    <a:ext uri="{05A4C25C-085E-4340-85A3-A5531E510DB2}">
      <thm15:themeFamily xmlns:thm15="http://schemas.microsoft.com/office/thememl/2012/main" name="Project launch.potx" id="{96B0715E-E69A-4329-A580-1CC36624B63A}" vid="{8337EB57-CE73-4251-8527-50481AEFFD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38A1619F266734FBC2B48FB95398739" ma:contentTypeVersion="19" ma:contentTypeDescription="Create a new document." ma:contentTypeScope="" ma:versionID="4848dd9a50024c17a02688cd4311ebe2">
  <xsd:schema xmlns:xsd="http://www.w3.org/2001/XMLSchema" xmlns:xs="http://www.w3.org/2001/XMLSchema" xmlns:p="http://schemas.microsoft.com/office/2006/metadata/properties" xmlns:ns2="aa802c90-64f7-4260-a678-c5c09559402a" xmlns:ns3="d4025935-85eb-43e8-ab32-734675053e7f" targetNamespace="http://schemas.microsoft.com/office/2006/metadata/properties" ma:root="true" ma:fieldsID="0ad8c098b16b46db123b628150ecfe9f" ns2:_="" ns3:_="">
    <xsd:import namespace="aa802c90-64f7-4260-a678-c5c09559402a"/>
    <xsd:import namespace="d4025935-85eb-43e8-ab32-734675053e7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3:SharedWithUsers" minOccurs="0"/>
                <xsd:element ref="ns3:SharedWithDetails" minOccurs="0"/>
                <xsd:element ref="ns2:lcf76f155ced4ddcb4097134ff3c332f" minOccurs="0"/>
                <xsd:element ref="ns3:TaxCatchAll" minOccurs="0"/>
                <xsd:element ref="ns2:MediaServiceLocation"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802c90-64f7-4260-a678-c5c09559402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bce0e04-9c7f-4626-8cb4-29f8b9ace21f" ma:termSetId="09814cd3-568e-fe90-9814-8d621ff8fb84" ma:anchorId="fba54fb3-c3e1-fe81-a776-ca4b69148c4d" ma:open="true" ma:isKeyword="false">
      <xsd:complexType>
        <xsd:sequence>
          <xsd:element ref="pc:Terms" minOccurs="0" maxOccurs="1"/>
        </xsd:sequence>
      </xsd:complexType>
    </xsd:element>
    <xsd:element name="MediaServiceLocation" ma:index="22" nillable="true" ma:displayName="Location" ma:indexed="true" ma:internalName="MediaServiceLocatio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4025935-85eb-43e8-ab32-734675053e7f"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d7d9116-efc1-484d-8b57-8af332a5bfd6}" ma:internalName="TaxCatchAll" ma:showField="CatchAllData" ma:web="d4025935-85eb-43e8-ab32-734675053e7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4025935-85eb-43e8-ab32-734675053e7f" xsi:nil="true"/>
    <lcf76f155ced4ddcb4097134ff3c332f xmlns="aa802c90-64f7-4260-a678-c5c09559402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29E81E1-445C-4E91-8E35-C5BD736A3B77}">
  <ds:schemaRefs>
    <ds:schemaRef ds:uri="http://schemas.microsoft.com/sharepoint/v3/contenttype/forms"/>
  </ds:schemaRefs>
</ds:datastoreItem>
</file>

<file path=customXml/itemProps2.xml><?xml version="1.0" encoding="utf-8"?>
<ds:datastoreItem xmlns:ds="http://schemas.openxmlformats.org/officeDocument/2006/customXml" ds:itemID="{64AC8705-90DE-4586-8261-2FBB99C00A9B}">
  <ds:schemaRefs>
    <ds:schemaRef ds:uri="aa802c90-64f7-4260-a678-c5c09559402a"/>
    <ds:schemaRef ds:uri="d4025935-85eb-43e8-ab32-734675053e7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E36B762-179B-48EA-90B2-E74079BA15DE}">
  <ds:schemaRefs>
    <ds:schemaRef ds:uri="http://www.w3.org/XML/1998/namespace"/>
    <ds:schemaRef ds:uri="http://purl.org/dc/dcmitype/"/>
    <ds:schemaRef ds:uri="d4025935-85eb-43e8-ab32-734675053e7f"/>
    <ds:schemaRef ds:uri="http://schemas.microsoft.com/office/2006/metadata/properties"/>
    <ds:schemaRef ds:uri="http://purl.org/dc/terms/"/>
    <ds:schemaRef ds:uri="http://purl.org/dc/elements/1.1/"/>
    <ds:schemaRef ds:uri="http://schemas.microsoft.com/office/2006/documentManagement/types"/>
    <ds:schemaRef ds:uri="aa802c90-64f7-4260-a678-c5c09559402a"/>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0</TotalTime>
  <Words>928</Words>
  <Application>Microsoft Office PowerPoint</Application>
  <PresentationFormat>Widescreen</PresentationFormat>
  <Paragraphs>73</Paragraphs>
  <Slides>6</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5" baseType="lpstr">
      <vt:lpstr>Aptos</vt:lpstr>
      <vt:lpstr>Arial</vt:lpstr>
      <vt:lpstr>Calibri</vt:lpstr>
      <vt:lpstr>Graphik</vt:lpstr>
      <vt:lpstr>GT Sectra Fine</vt:lpstr>
      <vt:lpstr>Proxima Nova Rg</vt:lpstr>
      <vt:lpstr>System Font</vt:lpstr>
      <vt:lpstr>e61 slide master</vt:lpstr>
      <vt:lpstr>think-cell Slide</vt:lpstr>
      <vt:lpstr>Project: The implications of replacing corporate tax with a cash flow tax</vt:lpstr>
      <vt:lpstr>Policy questions answered by the project</vt:lpstr>
      <vt:lpstr>Research questions</vt:lpstr>
      <vt:lpstr>Project details</vt:lpstr>
      <vt:lpstr>Potential outputs</vt:lpstr>
      <vt:lpstr>Work to first stop-go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Jack Buckley</dc:creator>
  <cp:lastModifiedBy>Matt Nolan</cp:lastModifiedBy>
  <cp:revision>1</cp:revision>
  <dcterms:created xsi:type="dcterms:W3CDTF">2022-09-20T23:20:20Z</dcterms:created>
  <dcterms:modified xsi:type="dcterms:W3CDTF">2026-09-01T23:21:19Z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0x010100E38A1619F266734FBC2B48FB95398739</vt:lpwstr>
  </property>
  <property fmtid="{D5CDD505-2E9C-101B-9397-08002B2CF9AE}" pid="3" name="MediaServiceImageTags">
    <vt:lpwstr/>
  </property>
</Properties>
</file>